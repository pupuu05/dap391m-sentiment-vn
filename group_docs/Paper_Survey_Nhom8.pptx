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Lst>
  <p:sldSz cx="1218882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17520"/>
            <a:ext cx="64008" cy="7315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438912"/>
            <a:ext cx="2560320" cy="365760"/>
          </a:xfrm>
          <a:prstGeom prst="rect">
            <a:avLst/>
          </a:prstGeom>
          <a:solidFill>
            <a:srgbClr val="122438"/>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0352" y="475488"/>
            <a:ext cx="2468880" cy="320040"/>
          </a:xfrm>
          <a:prstGeom prst="rect">
            <a:avLst/>
          </a:prstGeom>
          <a:noFill/>
        </p:spPr>
        <p:txBody>
          <a:bodyPr wrap="square">
            <a:spAutoFit/>
          </a:bodyPr>
          <a:lstStyle/>
          <a:p>
            <a:pPr algn="l"/>
            <a:r>
              <a:rPr sz="900" b="1" i="0">
                <a:solidFill>
                  <a:srgbClr val="00B4D8"/>
                </a:solidFill>
              </a:rPr>
              <a:t>DAP391m  |  Literature Review</a:t>
            </a:r>
            <a:endParaRPr sz="900" b="1" i="0">
              <a:solidFill>
                <a:srgbClr val="00B4D8"/>
              </a:solidFill>
            </a:endParaRPr>
          </a:p>
        </p:txBody>
      </p:sp>
      <p:sp>
        <p:nvSpPr>
          <p:cNvPr id="6" name="TextBox 5"/>
          <p:cNvSpPr txBox="1"/>
          <p:nvPr/>
        </p:nvSpPr>
        <p:spPr>
          <a:xfrm>
            <a:off x="457200" y="1874519"/>
            <a:ext cx="11274552" cy="777240"/>
          </a:xfrm>
          <a:prstGeom prst="rect">
            <a:avLst/>
          </a:prstGeom>
          <a:noFill/>
        </p:spPr>
        <p:txBody>
          <a:bodyPr wrap="square">
            <a:spAutoFit/>
          </a:bodyPr>
          <a:lstStyle/>
          <a:p>
            <a:pPr algn="l"/>
            <a:r>
              <a:rPr sz="3800" b="1" i="0">
                <a:solidFill>
                  <a:srgbClr val="FFFFFF"/>
                </a:solidFill>
              </a:rPr>
              <a:t>Paper Survey:</a:t>
            </a:r>
            <a:endParaRPr sz="3800" b="1" i="0">
              <a:solidFill>
                <a:srgbClr val="FFFFFF"/>
              </a:solidFill>
            </a:endParaRPr>
          </a:p>
        </p:txBody>
      </p:sp>
      <p:sp>
        <p:nvSpPr>
          <p:cNvPr id="7" name="TextBox 6"/>
          <p:cNvSpPr txBox="1"/>
          <p:nvPr/>
        </p:nvSpPr>
        <p:spPr>
          <a:xfrm>
            <a:off x="457200" y="2633472"/>
            <a:ext cx="11274552" cy="914400"/>
          </a:xfrm>
          <a:prstGeom prst="rect">
            <a:avLst/>
          </a:prstGeom>
          <a:noFill/>
        </p:spPr>
        <p:txBody>
          <a:bodyPr wrap="square">
            <a:spAutoFit/>
          </a:bodyPr>
          <a:lstStyle/>
          <a:p>
            <a:pPr algn="l"/>
            <a:r>
              <a:rPr sz="3000" b="0" i="0">
                <a:solidFill>
                  <a:srgbClr val="00B4D8"/>
                </a:solidFill>
              </a:rPr>
              <a:t>Vietnamese Fine-grained Emotion Detection</a:t>
            </a:r>
            <a:endParaRPr sz="3000" b="0" i="0">
              <a:solidFill>
                <a:srgbClr val="00B4D8"/>
              </a:solidFill>
            </a:endParaRPr>
          </a:p>
        </p:txBody>
      </p:sp>
      <p:sp>
        <p:nvSpPr>
          <p:cNvPr id="8" name="Rectangle 7"/>
          <p:cNvSpPr/>
          <p:nvPr/>
        </p:nvSpPr>
        <p:spPr>
          <a:xfrm>
            <a:off x="457200" y="3794760"/>
            <a:ext cx="4114800" cy="36576"/>
          </a:xfrm>
          <a:prstGeom prst="rect">
            <a:avLst/>
          </a:prstGeom>
          <a:solidFill>
            <a:srgbClr val="008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3931920"/>
            <a:ext cx="11274552" cy="384048"/>
          </a:xfrm>
          <a:prstGeom prst="rect">
            <a:avLst/>
          </a:prstGeom>
          <a:noFill/>
        </p:spPr>
        <p:txBody>
          <a:bodyPr wrap="square">
            <a:spAutoFit/>
          </a:bodyPr>
          <a:lstStyle/>
          <a:p>
            <a:pPr algn="l"/>
            <a:r>
              <a:rPr sz="1300" b="0" i="0">
                <a:solidFill>
                  <a:srgbClr val="B0C4D8"/>
                </a:solidFill>
              </a:rPr>
              <a:t>Tong hop 11 cong bo khoa hoc trong 5 nhom chu de</a:t>
            </a:r>
            <a:endParaRPr sz="1300" b="0" i="0">
              <a:solidFill>
                <a:srgbClr val="B0C4D8"/>
              </a:solidFill>
            </a:endParaRPr>
          </a:p>
        </p:txBody>
      </p:sp>
      <p:sp>
        <p:nvSpPr>
          <p:cNvPr id="10" name="TextBox 9"/>
          <p:cNvSpPr txBox="1"/>
          <p:nvPr/>
        </p:nvSpPr>
        <p:spPr>
          <a:xfrm>
            <a:off x="457200" y="6217920"/>
            <a:ext cx="11274552" cy="411480"/>
          </a:xfrm>
          <a:prstGeom prst="rect">
            <a:avLst/>
          </a:prstGeom>
          <a:noFill/>
        </p:spPr>
        <p:txBody>
          <a:bodyPr wrap="square">
            <a:spAutoFit/>
          </a:bodyPr>
          <a:lstStyle/>
          <a:p>
            <a:pPr algn="l"/>
            <a:r>
              <a:rPr sz="1000" b="0" i="0">
                <a:solidFill>
                  <a:srgbClr val="6B7C93"/>
                </a:solidFill>
              </a:rPr>
              <a:t>Nhom 8: Gia Phuc  /  Khoa  /  Quy    |    DAP391m FA26    |    Sep 2026</a:t>
            </a:r>
            <a:endParaRPr sz="1000" b="0" i="0">
              <a:solidFill>
                <a:srgbClr val="6B7C93"/>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74320"/>
            <a:ext cx="11091672" cy="292608"/>
          </a:xfrm>
          <a:prstGeom prst="rect">
            <a:avLst/>
          </a:prstGeom>
          <a:noFill/>
        </p:spPr>
        <p:txBody>
          <a:bodyPr wrap="square">
            <a:spAutoFit/>
          </a:bodyPr>
          <a:lstStyle/>
          <a:p>
            <a:pPr algn="l"/>
            <a:r>
              <a:rPr sz="850" b="1" i="0">
                <a:solidFill>
                  <a:srgbClr val="00B4D8"/>
                </a:solidFill>
              </a:rPr>
              <a:t>TONG QUAN KHAO SAT</a:t>
            </a:r>
            <a:endParaRPr sz="850" b="1" i="0">
              <a:solidFill>
                <a:srgbClr val="00B4D8"/>
              </a:solidFill>
            </a:endParaRPr>
          </a:p>
        </p:txBody>
      </p:sp>
      <p:sp>
        <p:nvSpPr>
          <p:cNvPr id="3" name="TextBox 2"/>
          <p:cNvSpPr txBox="1"/>
          <p:nvPr/>
        </p:nvSpPr>
        <p:spPr>
          <a:xfrm>
            <a:off x="548640" y="576072"/>
            <a:ext cx="11091672" cy="491490"/>
          </a:xfrm>
          <a:prstGeom prst="rect">
            <a:avLst/>
          </a:prstGeom>
          <a:noFill/>
        </p:spPr>
        <p:txBody>
          <a:bodyPr wrap="square">
            <a:spAutoFit/>
          </a:bodyPr>
          <a:lstStyle/>
          <a:p>
            <a:pPr algn="l"/>
            <a:r>
              <a:rPr sz="2600" b="1" i="0">
                <a:solidFill>
                  <a:srgbClr val="1A2430"/>
                </a:solidFill>
              </a:rPr>
              <a:t>11 </a:t>
            </a:r>
            <a:r>
              <a:rPr lang="en-US" sz="2600" b="1" i="0">
                <a:solidFill>
                  <a:srgbClr val="1A2430"/>
                </a:solidFill>
              </a:rPr>
              <a:t>Công bố khoa học trong 5 nhóm chủ đề</a:t>
            </a:r>
            <a:endParaRPr lang="en-US" sz="2600" b="1" i="0">
              <a:solidFill>
                <a:srgbClr val="1A2430"/>
              </a:solidFill>
            </a:endParaRPr>
          </a:p>
        </p:txBody>
      </p:sp>
      <p:sp>
        <p:nvSpPr>
          <p:cNvPr id="4" name="Rectangle 3"/>
          <p:cNvSpPr/>
          <p:nvPr/>
        </p:nvSpPr>
        <p:spPr>
          <a:xfrm>
            <a:off x="457200" y="1572768"/>
            <a:ext cx="3657600" cy="1874519"/>
          </a:xfrm>
          <a:prstGeom prst="rect">
            <a:avLst/>
          </a:prstGeom>
          <a:solidFill>
            <a:srgbClr val="F0F4F8"/>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572768"/>
            <a:ext cx="3657600"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1709928"/>
            <a:ext cx="3328416" cy="347472"/>
          </a:xfrm>
          <a:prstGeom prst="rect">
            <a:avLst/>
          </a:prstGeom>
          <a:noFill/>
        </p:spPr>
        <p:txBody>
          <a:bodyPr wrap="square">
            <a:spAutoFit/>
          </a:bodyPr>
          <a:lstStyle/>
          <a:p>
            <a:pPr algn="l"/>
            <a:r>
              <a:rPr sz="1050" b="1" i="0">
                <a:solidFill>
                  <a:srgbClr val="00B4D8"/>
                </a:solidFill>
              </a:rPr>
              <a:t>Nhom 1: Dataset &amp; Annotation</a:t>
            </a:r>
            <a:endParaRPr sz="1050" b="1" i="0">
              <a:solidFill>
                <a:srgbClr val="00B4D8"/>
              </a:solidFill>
            </a:endParaRPr>
          </a:p>
        </p:txBody>
      </p:sp>
      <p:sp>
        <p:nvSpPr>
          <p:cNvPr id="7" name="TextBox 6"/>
          <p:cNvSpPr txBox="1"/>
          <p:nvPr/>
        </p:nvSpPr>
        <p:spPr>
          <a:xfrm>
            <a:off x="621792" y="2121408"/>
            <a:ext cx="3328416" cy="365760"/>
          </a:xfrm>
          <a:prstGeom prst="rect">
            <a:avLst/>
          </a:prstGeom>
          <a:noFill/>
        </p:spPr>
        <p:txBody>
          <a:bodyPr wrap="square">
            <a:spAutoFit/>
          </a:bodyPr>
          <a:lstStyle/>
          <a:p>
            <a:pPr algn="l"/>
            <a:r>
              <a:rPr sz="900" b="0" i="0">
                <a:solidFill>
                  <a:srgbClr val="1A2430"/>
                </a:solidFill>
              </a:rPr>
              <a:t>• ViGoEmotions (EACL 2026)</a:t>
            </a:r>
            <a:endParaRPr sz="900" b="0" i="0">
              <a:solidFill>
                <a:srgbClr val="1A2430"/>
              </a:solidFill>
            </a:endParaRPr>
          </a:p>
        </p:txBody>
      </p:sp>
      <p:sp>
        <p:nvSpPr>
          <p:cNvPr id="8" name="TextBox 7"/>
          <p:cNvSpPr txBox="1"/>
          <p:nvPr/>
        </p:nvSpPr>
        <p:spPr>
          <a:xfrm>
            <a:off x="621792" y="2505456"/>
            <a:ext cx="3328416" cy="365760"/>
          </a:xfrm>
          <a:prstGeom prst="rect">
            <a:avLst/>
          </a:prstGeom>
          <a:noFill/>
        </p:spPr>
        <p:txBody>
          <a:bodyPr wrap="square">
            <a:spAutoFit/>
          </a:bodyPr>
          <a:lstStyle/>
          <a:p>
            <a:pPr algn="l"/>
            <a:r>
              <a:rPr sz="900" b="0" i="0">
                <a:solidFill>
                  <a:srgbClr val="1A2430"/>
                </a:solidFill>
              </a:rPr>
              <a:t>• GoEmotions (ACL 2020)</a:t>
            </a:r>
            <a:endParaRPr sz="900" b="0" i="0">
              <a:solidFill>
                <a:srgbClr val="1A2430"/>
              </a:solidFill>
            </a:endParaRPr>
          </a:p>
        </p:txBody>
      </p:sp>
      <p:sp>
        <p:nvSpPr>
          <p:cNvPr id="9" name="TextBox 8"/>
          <p:cNvSpPr txBox="1"/>
          <p:nvPr/>
        </p:nvSpPr>
        <p:spPr>
          <a:xfrm>
            <a:off x="621792" y="2889504"/>
            <a:ext cx="3328416" cy="365760"/>
          </a:xfrm>
          <a:prstGeom prst="rect">
            <a:avLst/>
          </a:prstGeom>
          <a:noFill/>
        </p:spPr>
        <p:txBody>
          <a:bodyPr wrap="square">
            <a:spAutoFit/>
          </a:bodyPr>
          <a:lstStyle/>
          <a:p>
            <a:pPr algn="l"/>
            <a:r>
              <a:rPr sz="900" b="0" i="0">
                <a:solidFill>
                  <a:srgbClr val="1A2430"/>
                </a:solidFill>
              </a:rPr>
              <a:t>• ViTOED (arXiv 2026)</a:t>
            </a:r>
            <a:endParaRPr sz="900" b="0" i="0">
              <a:solidFill>
                <a:srgbClr val="1A2430"/>
              </a:solidFill>
            </a:endParaRPr>
          </a:p>
        </p:txBody>
      </p:sp>
      <p:sp>
        <p:nvSpPr>
          <p:cNvPr id="10" name="Rectangle 9"/>
          <p:cNvSpPr/>
          <p:nvPr/>
        </p:nvSpPr>
        <p:spPr>
          <a:xfrm>
            <a:off x="4265676" y="1572768"/>
            <a:ext cx="3657600" cy="1874519"/>
          </a:xfrm>
          <a:prstGeom prst="rect">
            <a:avLst/>
          </a:prstGeom>
          <a:solidFill>
            <a:srgbClr val="F0F4F8"/>
          </a:solidFill>
          <a:ln w="19050">
            <a:solidFill>
              <a:srgbClr val="007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65676" y="1572768"/>
            <a:ext cx="3657600" cy="73152"/>
          </a:xfrm>
          <a:prstGeom prst="rect">
            <a:avLst/>
          </a:prstGeom>
          <a:solidFill>
            <a:srgbClr val="007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0268" y="1709928"/>
            <a:ext cx="3328416" cy="347472"/>
          </a:xfrm>
          <a:prstGeom prst="rect">
            <a:avLst/>
          </a:prstGeom>
          <a:noFill/>
        </p:spPr>
        <p:txBody>
          <a:bodyPr wrap="square">
            <a:spAutoFit/>
          </a:bodyPr>
          <a:lstStyle/>
          <a:p>
            <a:pPr algn="l"/>
            <a:r>
              <a:rPr sz="1050" b="1" i="0">
                <a:solidFill>
                  <a:srgbClr val="0078C8"/>
                </a:solidFill>
              </a:rPr>
              <a:t>Nhom 2: Vietnamese PLM</a:t>
            </a:r>
            <a:endParaRPr sz="1050" b="1" i="0">
              <a:solidFill>
                <a:srgbClr val="0078C8"/>
              </a:solidFill>
            </a:endParaRPr>
          </a:p>
        </p:txBody>
      </p:sp>
      <p:sp>
        <p:nvSpPr>
          <p:cNvPr id="13" name="TextBox 12"/>
          <p:cNvSpPr txBox="1"/>
          <p:nvPr/>
        </p:nvSpPr>
        <p:spPr>
          <a:xfrm>
            <a:off x="4430268" y="2121408"/>
            <a:ext cx="3328416" cy="365760"/>
          </a:xfrm>
          <a:prstGeom prst="rect">
            <a:avLst/>
          </a:prstGeom>
          <a:noFill/>
        </p:spPr>
        <p:txBody>
          <a:bodyPr wrap="square">
            <a:spAutoFit/>
          </a:bodyPr>
          <a:lstStyle/>
          <a:p>
            <a:pPr algn="l"/>
            <a:r>
              <a:rPr sz="900" b="0" i="0">
                <a:solidFill>
                  <a:srgbClr val="1A2430"/>
                </a:solidFill>
              </a:rPr>
              <a:t>• ViSoBERT (EMNLP 2023)</a:t>
            </a:r>
            <a:endParaRPr sz="900" b="0" i="0">
              <a:solidFill>
                <a:srgbClr val="1A2430"/>
              </a:solidFill>
            </a:endParaRPr>
          </a:p>
        </p:txBody>
      </p:sp>
      <p:sp>
        <p:nvSpPr>
          <p:cNvPr id="14" name="TextBox 13"/>
          <p:cNvSpPr txBox="1"/>
          <p:nvPr/>
        </p:nvSpPr>
        <p:spPr>
          <a:xfrm>
            <a:off x="4430268" y="2505456"/>
            <a:ext cx="3328416" cy="365760"/>
          </a:xfrm>
          <a:prstGeom prst="rect">
            <a:avLst/>
          </a:prstGeom>
          <a:noFill/>
        </p:spPr>
        <p:txBody>
          <a:bodyPr wrap="square">
            <a:spAutoFit/>
          </a:bodyPr>
          <a:lstStyle/>
          <a:p>
            <a:pPr algn="l"/>
            <a:r>
              <a:rPr sz="900" b="0" i="0">
                <a:solidFill>
                  <a:srgbClr val="1A2430"/>
                </a:solidFill>
              </a:rPr>
              <a:t>• PhoBERT (EMNLP 2020)</a:t>
            </a:r>
            <a:endParaRPr sz="900" b="0" i="0">
              <a:solidFill>
                <a:srgbClr val="1A2430"/>
              </a:solidFill>
            </a:endParaRPr>
          </a:p>
        </p:txBody>
      </p:sp>
      <p:sp>
        <p:nvSpPr>
          <p:cNvPr id="15" name="TextBox 14"/>
          <p:cNvSpPr txBox="1"/>
          <p:nvPr/>
        </p:nvSpPr>
        <p:spPr>
          <a:xfrm>
            <a:off x="4430268" y="2889504"/>
            <a:ext cx="3328416" cy="365760"/>
          </a:xfrm>
          <a:prstGeom prst="rect">
            <a:avLst/>
          </a:prstGeom>
          <a:noFill/>
        </p:spPr>
        <p:txBody>
          <a:bodyPr wrap="square">
            <a:spAutoFit/>
          </a:bodyPr>
          <a:lstStyle/>
          <a:p>
            <a:pPr algn="l"/>
            <a:r>
              <a:rPr sz="900" b="0" i="0">
                <a:solidFill>
                  <a:srgbClr val="1A2430"/>
                </a:solidFill>
              </a:rPr>
              <a:t>• BamiBERT (arXiv 2023)</a:t>
            </a:r>
            <a:endParaRPr sz="900" b="0" i="0">
              <a:solidFill>
                <a:srgbClr val="1A2430"/>
              </a:solidFill>
            </a:endParaRPr>
          </a:p>
        </p:txBody>
      </p:sp>
      <p:sp>
        <p:nvSpPr>
          <p:cNvPr id="16" name="Rectangle 15"/>
          <p:cNvSpPr/>
          <p:nvPr/>
        </p:nvSpPr>
        <p:spPr>
          <a:xfrm>
            <a:off x="8074152" y="1572768"/>
            <a:ext cx="3657600" cy="1874519"/>
          </a:xfrm>
          <a:prstGeom prst="rect">
            <a:avLst/>
          </a:prstGeom>
          <a:solidFill>
            <a:srgbClr val="F0F4F8"/>
          </a:solidFill>
          <a:ln w="19050">
            <a:solidFill>
              <a:srgbClr val="00B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4152" y="1572768"/>
            <a:ext cx="3657600" cy="73152"/>
          </a:xfrm>
          <a:prstGeom prst="rect">
            <a:avLst/>
          </a:prstGeom>
          <a:solidFill>
            <a:srgbClr val="00B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8744" y="1709928"/>
            <a:ext cx="3328416" cy="347472"/>
          </a:xfrm>
          <a:prstGeom prst="rect">
            <a:avLst/>
          </a:prstGeom>
          <a:noFill/>
        </p:spPr>
        <p:txBody>
          <a:bodyPr wrap="square">
            <a:spAutoFit/>
          </a:bodyPr>
          <a:lstStyle/>
          <a:p>
            <a:pPr algn="l"/>
            <a:r>
              <a:rPr sz="1050" b="1" i="0">
                <a:solidFill>
                  <a:srgbClr val="00B878"/>
                </a:solidFill>
              </a:rPr>
              <a:t>Nhom 3: Multi-label &amp; Imbalanced</a:t>
            </a:r>
            <a:endParaRPr sz="1050" b="1" i="0">
              <a:solidFill>
                <a:srgbClr val="00B878"/>
              </a:solidFill>
            </a:endParaRPr>
          </a:p>
        </p:txBody>
      </p:sp>
      <p:sp>
        <p:nvSpPr>
          <p:cNvPr id="19" name="TextBox 18"/>
          <p:cNvSpPr txBox="1"/>
          <p:nvPr/>
        </p:nvSpPr>
        <p:spPr>
          <a:xfrm>
            <a:off x="8238744" y="2121408"/>
            <a:ext cx="3328416" cy="365760"/>
          </a:xfrm>
          <a:prstGeom prst="rect">
            <a:avLst/>
          </a:prstGeom>
          <a:noFill/>
        </p:spPr>
        <p:txBody>
          <a:bodyPr wrap="square">
            <a:spAutoFit/>
          </a:bodyPr>
          <a:lstStyle/>
          <a:p>
            <a:pPr algn="l"/>
            <a:r>
              <a:rPr sz="900" b="0" i="0">
                <a:solidFill>
                  <a:srgbClr val="1A2430"/>
                </a:solidFill>
              </a:rPr>
              <a:t>• BERT + ASL (2025)</a:t>
            </a:r>
            <a:endParaRPr sz="900" b="0" i="0">
              <a:solidFill>
                <a:srgbClr val="1A2430"/>
              </a:solidFill>
            </a:endParaRPr>
          </a:p>
        </p:txBody>
      </p:sp>
      <p:sp>
        <p:nvSpPr>
          <p:cNvPr id="20" name="TextBox 19"/>
          <p:cNvSpPr txBox="1"/>
          <p:nvPr/>
        </p:nvSpPr>
        <p:spPr>
          <a:xfrm>
            <a:off x="8238744" y="2505456"/>
            <a:ext cx="3328416" cy="365760"/>
          </a:xfrm>
          <a:prstGeom prst="rect">
            <a:avLst/>
          </a:prstGeom>
          <a:noFill/>
        </p:spPr>
        <p:txBody>
          <a:bodyPr wrap="square">
            <a:spAutoFit/>
          </a:bodyPr>
          <a:lstStyle/>
          <a:p>
            <a:pPr algn="l"/>
            <a:r>
              <a:rPr sz="900" b="0" i="0">
                <a:solidFill>
                  <a:srgbClr val="1A2430"/>
                </a:solidFill>
              </a:rPr>
              <a:t>• Emo Pillars (ACL 2025)</a:t>
            </a:r>
            <a:endParaRPr sz="900" b="0" i="0">
              <a:solidFill>
                <a:srgbClr val="1A2430"/>
              </a:solidFill>
            </a:endParaRPr>
          </a:p>
        </p:txBody>
      </p:sp>
      <p:sp>
        <p:nvSpPr>
          <p:cNvPr id="21" name="TextBox 20"/>
          <p:cNvSpPr txBox="1"/>
          <p:nvPr/>
        </p:nvSpPr>
        <p:spPr>
          <a:xfrm>
            <a:off x="8238744" y="2889504"/>
            <a:ext cx="3328416" cy="365760"/>
          </a:xfrm>
          <a:prstGeom prst="rect">
            <a:avLst/>
          </a:prstGeom>
          <a:noFill/>
        </p:spPr>
        <p:txBody>
          <a:bodyPr wrap="square">
            <a:spAutoFit/>
          </a:bodyPr>
          <a:lstStyle/>
          <a:p>
            <a:pPr algn="l"/>
            <a:r>
              <a:rPr sz="900" b="0" i="0">
                <a:solidFill>
                  <a:srgbClr val="1A2430"/>
                </a:solidFill>
              </a:rPr>
              <a:t>• LLMs Multi-label (EMNLP 2025)</a:t>
            </a:r>
            <a:endParaRPr sz="900" b="0" i="0">
              <a:solidFill>
                <a:srgbClr val="1A2430"/>
              </a:solidFill>
            </a:endParaRPr>
          </a:p>
        </p:txBody>
      </p:sp>
      <p:sp>
        <p:nvSpPr>
          <p:cNvPr id="22" name="Rectangle 21"/>
          <p:cNvSpPr/>
          <p:nvPr/>
        </p:nvSpPr>
        <p:spPr>
          <a:xfrm>
            <a:off x="457200" y="3648455"/>
            <a:ext cx="5605272" cy="1874519"/>
          </a:xfrm>
          <a:prstGeom prst="rect">
            <a:avLst/>
          </a:prstGeom>
          <a:solidFill>
            <a:srgbClr val="F0F4F8"/>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3648455"/>
            <a:ext cx="5605272" cy="7315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 y="3785615"/>
            <a:ext cx="5303520" cy="347472"/>
          </a:xfrm>
          <a:prstGeom prst="rect">
            <a:avLst/>
          </a:prstGeom>
          <a:noFill/>
        </p:spPr>
        <p:txBody>
          <a:bodyPr wrap="square">
            <a:spAutoFit/>
          </a:bodyPr>
          <a:lstStyle/>
          <a:p>
            <a:pPr algn="l"/>
            <a:r>
              <a:rPr sz="1050" b="1" i="0">
                <a:solidFill>
                  <a:srgbClr val="FF6B35"/>
                </a:solidFill>
              </a:rPr>
              <a:t>Nhom 4: Preprocessing</a:t>
            </a:r>
            <a:endParaRPr sz="1050" b="1" i="0">
              <a:solidFill>
                <a:srgbClr val="FF6B35"/>
              </a:solidFill>
            </a:endParaRPr>
          </a:p>
        </p:txBody>
      </p:sp>
      <p:sp>
        <p:nvSpPr>
          <p:cNvPr id="25" name="TextBox 24"/>
          <p:cNvSpPr txBox="1"/>
          <p:nvPr/>
        </p:nvSpPr>
        <p:spPr>
          <a:xfrm>
            <a:off x="621792" y="4197095"/>
            <a:ext cx="5303520" cy="365760"/>
          </a:xfrm>
          <a:prstGeom prst="rect">
            <a:avLst/>
          </a:prstGeom>
          <a:noFill/>
        </p:spPr>
        <p:txBody>
          <a:bodyPr wrap="square">
            <a:spAutoFit/>
          </a:bodyPr>
          <a:lstStyle/>
          <a:p>
            <a:pPr algn="l"/>
            <a:r>
              <a:rPr sz="900" b="0" i="0">
                <a:solidFill>
                  <a:srgbClr val="1A2430"/>
                </a:solidFill>
              </a:rPr>
              <a:t>• ViLexNorm (COLING 2022)</a:t>
            </a:r>
            <a:endParaRPr sz="900" b="0" i="0">
              <a:solidFill>
                <a:srgbClr val="1A2430"/>
              </a:solidFill>
            </a:endParaRPr>
          </a:p>
        </p:txBody>
      </p:sp>
      <p:sp>
        <p:nvSpPr>
          <p:cNvPr id="26" name="TextBox 25"/>
          <p:cNvSpPr txBox="1"/>
          <p:nvPr/>
        </p:nvSpPr>
        <p:spPr>
          <a:xfrm>
            <a:off x="621792" y="4581143"/>
            <a:ext cx="5303520" cy="365760"/>
          </a:xfrm>
          <a:prstGeom prst="rect">
            <a:avLst/>
          </a:prstGeom>
          <a:noFill/>
        </p:spPr>
        <p:txBody>
          <a:bodyPr wrap="square">
            <a:spAutoFit/>
          </a:bodyPr>
          <a:lstStyle/>
          <a:p>
            <a:pPr algn="l"/>
            <a:r>
              <a:rPr sz="900" b="0" i="0">
                <a:solidFill>
                  <a:srgbClr val="1A2430"/>
                </a:solidFill>
              </a:rPr>
              <a:t>• ViGoEmotions (3 kich ban)</a:t>
            </a:r>
            <a:endParaRPr sz="900" b="0" i="0">
              <a:solidFill>
                <a:srgbClr val="1A2430"/>
              </a:solidFill>
            </a:endParaRPr>
          </a:p>
        </p:txBody>
      </p:sp>
      <p:sp>
        <p:nvSpPr>
          <p:cNvPr id="27" name="Rectangle 26"/>
          <p:cNvSpPr/>
          <p:nvPr/>
        </p:nvSpPr>
        <p:spPr>
          <a:xfrm>
            <a:off x="6062472" y="3648455"/>
            <a:ext cx="5605272" cy="1874519"/>
          </a:xfrm>
          <a:prstGeom prst="rect">
            <a:avLst/>
          </a:prstGeom>
          <a:solidFill>
            <a:srgbClr val="F0F4F8"/>
          </a:solidFill>
          <a:ln w="19050">
            <a:solidFill>
              <a:srgbClr val="A06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62472" y="3648455"/>
            <a:ext cx="5605272" cy="73152"/>
          </a:xfrm>
          <a:prstGeom prst="rect">
            <a:avLst/>
          </a:prstGeom>
          <a:solidFill>
            <a:srgbClr val="A06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27064" y="3785615"/>
            <a:ext cx="5303520" cy="347472"/>
          </a:xfrm>
          <a:prstGeom prst="rect">
            <a:avLst/>
          </a:prstGeom>
          <a:noFill/>
        </p:spPr>
        <p:txBody>
          <a:bodyPr wrap="square">
            <a:spAutoFit/>
          </a:bodyPr>
          <a:lstStyle/>
          <a:p>
            <a:pPr algn="l"/>
            <a:r>
              <a:rPr sz="1050" b="1" i="0">
                <a:solidFill>
                  <a:srgbClr val="A060D0"/>
                </a:solidFill>
              </a:rPr>
              <a:t>Nhom 5: Related Work</a:t>
            </a:r>
            <a:endParaRPr sz="1050" b="1" i="0">
              <a:solidFill>
                <a:srgbClr val="A060D0"/>
              </a:solidFill>
            </a:endParaRPr>
          </a:p>
        </p:txBody>
      </p:sp>
      <p:sp>
        <p:nvSpPr>
          <p:cNvPr id="30" name="TextBox 29"/>
          <p:cNvSpPr txBox="1"/>
          <p:nvPr/>
        </p:nvSpPr>
        <p:spPr>
          <a:xfrm>
            <a:off x="6227064" y="4197095"/>
            <a:ext cx="5303520" cy="365760"/>
          </a:xfrm>
          <a:prstGeom prst="rect">
            <a:avLst/>
          </a:prstGeom>
          <a:noFill/>
        </p:spPr>
        <p:txBody>
          <a:bodyPr wrap="square">
            <a:spAutoFit/>
          </a:bodyPr>
          <a:lstStyle/>
          <a:p>
            <a:pPr algn="l"/>
            <a:r>
              <a:rPr sz="900" b="0" i="0">
                <a:solidFill>
                  <a:srgbClr val="1A2430"/>
                </a:solidFill>
              </a:rPr>
              <a:t>• ViHateT5 (ACL 2024)</a:t>
            </a:r>
            <a:endParaRPr sz="900" b="0" i="0">
              <a:solidFill>
                <a:srgbClr val="1A2430"/>
              </a:solidFill>
            </a:endParaRPr>
          </a:p>
        </p:txBody>
      </p:sp>
      <p:sp>
        <p:nvSpPr>
          <p:cNvPr id="31" name="TextBox 30"/>
          <p:cNvSpPr txBox="1"/>
          <p:nvPr/>
        </p:nvSpPr>
        <p:spPr>
          <a:xfrm>
            <a:off x="6227064" y="4581143"/>
            <a:ext cx="5303520" cy="365760"/>
          </a:xfrm>
          <a:prstGeom prst="rect">
            <a:avLst/>
          </a:prstGeom>
          <a:noFill/>
        </p:spPr>
        <p:txBody>
          <a:bodyPr wrap="square">
            <a:spAutoFit/>
          </a:bodyPr>
          <a:lstStyle/>
          <a:p>
            <a:pPr algn="l"/>
            <a:r>
              <a:rPr sz="900" b="0" i="0">
                <a:solidFill>
                  <a:srgbClr val="1A2430"/>
                </a:solidFill>
              </a:rPr>
              <a:t>• ViTOED (arXiv 2026)</a:t>
            </a:r>
            <a:endParaRPr sz="900" b="0" i="0">
              <a:solidFill>
                <a:srgbClr val="1A2430"/>
              </a:solidFill>
            </a:endParaRPr>
          </a:p>
        </p:txBody>
      </p:sp>
      <p:sp>
        <p:nvSpPr>
          <p:cNvPr id="32" name="Rectangle 31"/>
          <p:cNvSpPr/>
          <p:nvPr/>
        </p:nvSpPr>
        <p:spPr>
          <a:xfrm>
            <a:off x="457200" y="5504688"/>
            <a:ext cx="11274552" cy="1078992"/>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577840"/>
            <a:ext cx="5486400" cy="256032"/>
          </a:xfrm>
          <a:prstGeom prst="rect">
            <a:avLst/>
          </a:prstGeom>
          <a:noFill/>
        </p:spPr>
        <p:txBody>
          <a:bodyPr wrap="square">
            <a:spAutoFit/>
          </a:bodyPr>
          <a:lstStyle/>
          <a:p>
            <a:pPr algn="l"/>
            <a:r>
              <a:rPr sz="750" b="1" i="0">
                <a:solidFill>
                  <a:srgbClr val="00B4D8"/>
                </a:solidFill>
              </a:rPr>
              <a:t>SUY LUAN &amp; DANH GIA (INFER):</a:t>
            </a:r>
            <a:endParaRPr sz="750" b="1" i="0">
              <a:solidFill>
                <a:srgbClr val="00B4D8"/>
              </a:solidFill>
            </a:endParaRPr>
          </a:p>
        </p:txBody>
      </p:sp>
      <p:sp>
        <p:nvSpPr>
          <p:cNvPr id="34" name="TextBox 33"/>
          <p:cNvSpPr txBox="1"/>
          <p:nvPr/>
        </p:nvSpPr>
        <p:spPr>
          <a:xfrm>
            <a:off x="731520" y="5843016"/>
            <a:ext cx="10725912" cy="704088"/>
          </a:xfrm>
          <a:prstGeom prst="rect">
            <a:avLst/>
          </a:prstGeom>
          <a:noFill/>
        </p:spPr>
        <p:txBody>
          <a:bodyPr wrap="square">
            <a:spAutoFit/>
          </a:bodyPr>
          <a:lstStyle/>
          <a:p>
            <a:pPr>
              <a:spcBef>
                <a:spcPts val="250"/>
              </a:spcBef>
            </a:pPr>
            <a:r>
              <a:rPr sz="950">
                <a:solidFill>
                  <a:srgbClr val="FFFFFF"/>
                </a:solidFill>
              </a:rPr>
              <a:t>Khao sat bao phu toan bo pipeline: tu du lieu, mo hinh ngon ngu tieng Viet, ky thuat multi-label, den chuan hoa van ban mang xa hoi. 11 paper / 5 nhom chu de.</a:t>
            </a:r>
            <a:endParaRPr sz="95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74320"/>
            <a:ext cx="11091672" cy="292608"/>
          </a:xfrm>
          <a:prstGeom prst="rect">
            <a:avLst/>
          </a:prstGeom>
          <a:noFill/>
        </p:spPr>
        <p:txBody>
          <a:bodyPr wrap="square">
            <a:spAutoFit/>
          </a:bodyPr>
          <a:lstStyle/>
          <a:p>
            <a:pPr algn="l"/>
            <a:r>
              <a:rPr sz="850" b="1" i="0">
                <a:solidFill>
                  <a:srgbClr val="00B4D8"/>
                </a:solidFill>
              </a:rPr>
              <a:t>NHOM 1. DATASET &amp; ANNOTATION</a:t>
            </a:r>
            <a:endParaRPr sz="850" b="1" i="0">
              <a:solidFill>
                <a:srgbClr val="00B4D8"/>
              </a:solidFill>
            </a:endParaRPr>
          </a:p>
        </p:txBody>
      </p:sp>
      <p:sp>
        <p:nvSpPr>
          <p:cNvPr id="3" name="TextBox 2"/>
          <p:cNvSpPr txBox="1"/>
          <p:nvPr/>
        </p:nvSpPr>
        <p:spPr>
          <a:xfrm>
            <a:off x="548640" y="576072"/>
            <a:ext cx="11091672" cy="914400"/>
          </a:xfrm>
          <a:prstGeom prst="rect">
            <a:avLst/>
          </a:prstGeom>
          <a:noFill/>
        </p:spPr>
        <p:txBody>
          <a:bodyPr wrap="square">
            <a:spAutoFit/>
          </a:bodyPr>
          <a:lstStyle/>
          <a:p>
            <a:pPr algn="l"/>
            <a:r>
              <a:rPr sz="2600" b="1" i="0">
                <a:solidFill>
                  <a:srgbClr val="1A2430"/>
                </a:solidFill>
              </a:rPr>
              <a:t>Nen Tang Du Lieu Cho Phan Loai Cam Xuc Chi Tiet</a:t>
            </a:r>
            <a:endParaRPr sz="2600" b="1" i="0">
              <a:solidFill>
                <a:srgbClr val="1A2430"/>
              </a:solidFill>
            </a:endParaRPr>
          </a:p>
        </p:txBody>
      </p:sp>
      <p:sp>
        <p:nvSpPr>
          <p:cNvPr id="4" name="Rectangle 3"/>
          <p:cNvSpPr/>
          <p:nvPr/>
        </p:nvSpPr>
        <p:spPr>
          <a:xfrm>
            <a:off x="457200" y="1572768"/>
            <a:ext cx="3657600" cy="3886200"/>
          </a:xfrm>
          <a:prstGeom prst="rect">
            <a:avLst/>
          </a:prstGeom>
          <a:solidFill>
            <a:srgbClr val="F0F4F8"/>
          </a:solidFill>
          <a:ln w="1651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194560" y="1655064"/>
            <a:ext cx="1828800" cy="256032"/>
          </a:xfrm>
          <a:prstGeom prst="rect">
            <a:avLst/>
          </a:prstGeom>
          <a:noFill/>
        </p:spPr>
        <p:txBody>
          <a:bodyPr wrap="square">
            <a:spAutoFit/>
          </a:bodyPr>
          <a:lstStyle/>
          <a:p>
            <a:pPr algn="r"/>
            <a:r>
              <a:rPr sz="700" b="1" i="0">
                <a:solidFill>
                  <a:srgbClr val="6B7C93"/>
                </a:solidFill>
              </a:rPr>
              <a:t>Nen tang goc</a:t>
            </a:r>
            <a:endParaRPr sz="700" b="1" i="0">
              <a:solidFill>
                <a:srgbClr val="6B7C93"/>
              </a:solidFill>
            </a:endParaRPr>
          </a:p>
        </p:txBody>
      </p:sp>
      <p:sp>
        <p:nvSpPr>
          <p:cNvPr id="6" name="TextBox 5"/>
          <p:cNvSpPr txBox="1"/>
          <p:nvPr/>
        </p:nvSpPr>
        <p:spPr>
          <a:xfrm>
            <a:off x="621792" y="1664208"/>
            <a:ext cx="3328416" cy="384048"/>
          </a:xfrm>
          <a:prstGeom prst="rect">
            <a:avLst/>
          </a:prstGeom>
          <a:noFill/>
        </p:spPr>
        <p:txBody>
          <a:bodyPr wrap="square">
            <a:spAutoFit/>
          </a:bodyPr>
          <a:lstStyle/>
          <a:p>
            <a:pPr algn="l"/>
            <a:r>
              <a:rPr sz="1050" b="1" i="0">
                <a:solidFill>
                  <a:srgbClr val="1A2430"/>
                </a:solidFill>
              </a:rPr>
              <a:t>1. GoEmotions</a:t>
            </a:r>
            <a:endParaRPr sz="1050" b="1" i="0">
              <a:solidFill>
                <a:srgbClr val="1A2430"/>
              </a:solidFill>
            </a:endParaRPr>
          </a:p>
        </p:txBody>
      </p:sp>
      <p:sp>
        <p:nvSpPr>
          <p:cNvPr id="7" name="TextBox 6"/>
          <p:cNvSpPr txBox="1"/>
          <p:nvPr/>
        </p:nvSpPr>
        <p:spPr>
          <a:xfrm>
            <a:off x="621792" y="2084832"/>
            <a:ext cx="3328416" cy="3291840"/>
          </a:xfrm>
          <a:prstGeom prst="rect">
            <a:avLst/>
          </a:prstGeom>
          <a:noFill/>
        </p:spPr>
        <p:txBody>
          <a:bodyPr wrap="square">
            <a:spAutoFit/>
          </a:bodyPr>
          <a:lstStyle/>
          <a:p>
            <a:pPr>
              <a:spcBef>
                <a:spcPts val="250"/>
              </a:spcBef>
            </a:pPr>
            <a:r>
              <a:rPr sz="900">
                <a:solidFill>
                  <a:srgbClr val="1A2430"/>
                </a:solidFill>
              </a:rPr>
              <a:t>Google, 2020, ACL</a:t>
            </a:r>
            <a:endParaRPr sz="900">
              <a:solidFill>
                <a:srgbClr val="1A2430"/>
              </a:solidFill>
            </a:endParaRPr>
          </a:p>
          <a:p>
            <a:pPr>
              <a:spcBef>
                <a:spcPts val="250"/>
              </a:spcBef>
            </a:pPr>
            <a:r>
              <a:rPr sz="900">
                <a:solidFill>
                  <a:srgbClr val="1A2430"/>
                </a:solidFill>
              </a:rPr>
              <a:t>58k binh luan Reddit (tieng Anh), 28 nhan cam xuc (27 + neutral), multi-label</a:t>
            </a:r>
            <a:endParaRPr sz="900">
              <a:solidFill>
                <a:srgbClr val="1A2430"/>
              </a:solidFill>
            </a:endParaRPr>
          </a:p>
          <a:p>
            <a:pPr>
              <a:spcBef>
                <a:spcPts val="250"/>
              </a:spcBef>
            </a:pPr>
            <a:r>
              <a:rPr sz="900">
                <a:solidFill>
                  <a:srgbClr val="1A2430"/>
                </a:solidFill>
              </a:rPr>
              <a:t>Taxonomy 27 cam xuc chi tiet duoc chap nhan rong rai nhat hien nay</a:t>
            </a:r>
            <a:endParaRPr sz="900">
              <a:solidFill>
                <a:srgbClr val="1A2430"/>
              </a:solidFill>
            </a:endParaRPr>
          </a:p>
          <a:p>
            <a:pPr>
              <a:spcBef>
                <a:spcPts val="250"/>
              </a:spcBef>
            </a:pPr>
            <a:r>
              <a:rPr sz="900">
                <a:solidFill>
                  <a:srgbClr val="1A2430"/>
                </a:solidFill>
              </a:rPr>
              <a:t>Baseline: BERT dat ~0.46 F1-macro, co room phat trien lon</a:t>
            </a:r>
            <a:endParaRPr sz="900">
              <a:solidFill>
                <a:srgbClr val="1A2430"/>
              </a:solidFill>
            </a:endParaRPr>
          </a:p>
          <a:p>
            <a:pPr>
              <a:spcBef>
                <a:spcPts val="250"/>
              </a:spcBef>
            </a:pPr>
            <a:r>
              <a:rPr sz="900">
                <a:solidFill>
                  <a:srgbClr val="1A2430"/>
                </a:solidFill>
              </a:rPr>
              <a:t>Relevance: ViGoEmotions ap dung truc tiep taxonomy nay cho tieng Viet</a:t>
            </a:r>
            <a:endParaRPr sz="900">
              <a:solidFill>
                <a:srgbClr val="1A2430"/>
              </a:solidFill>
            </a:endParaRPr>
          </a:p>
        </p:txBody>
      </p:sp>
      <p:sp>
        <p:nvSpPr>
          <p:cNvPr id="8" name="Rectangle 7"/>
          <p:cNvSpPr/>
          <p:nvPr/>
        </p:nvSpPr>
        <p:spPr>
          <a:xfrm>
            <a:off x="4265676" y="1572768"/>
            <a:ext cx="3657600" cy="3886200"/>
          </a:xfrm>
          <a:prstGeom prst="rect">
            <a:avLst/>
          </a:prstGeom>
          <a:solidFill>
            <a:srgbClr val="DFF0FD"/>
          </a:solidFill>
          <a:ln w="1651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03036" y="1655064"/>
            <a:ext cx="1828800" cy="256032"/>
          </a:xfrm>
          <a:prstGeom prst="rect">
            <a:avLst/>
          </a:prstGeom>
          <a:noFill/>
        </p:spPr>
        <p:txBody>
          <a:bodyPr wrap="square">
            <a:spAutoFit/>
          </a:bodyPr>
          <a:lstStyle/>
          <a:p>
            <a:pPr algn="r"/>
            <a:r>
              <a:rPr sz="700" b="1" i="0">
                <a:solidFill>
                  <a:srgbClr val="00B4D8"/>
                </a:solidFill>
              </a:rPr>
              <a:t>Dataset chinh</a:t>
            </a:r>
            <a:endParaRPr sz="700" b="1" i="0">
              <a:solidFill>
                <a:srgbClr val="00B4D8"/>
              </a:solidFill>
            </a:endParaRPr>
          </a:p>
        </p:txBody>
      </p:sp>
      <p:sp>
        <p:nvSpPr>
          <p:cNvPr id="10" name="TextBox 9"/>
          <p:cNvSpPr txBox="1"/>
          <p:nvPr/>
        </p:nvSpPr>
        <p:spPr>
          <a:xfrm>
            <a:off x="4430268" y="1664208"/>
            <a:ext cx="3328416" cy="384048"/>
          </a:xfrm>
          <a:prstGeom prst="rect">
            <a:avLst/>
          </a:prstGeom>
          <a:noFill/>
        </p:spPr>
        <p:txBody>
          <a:bodyPr wrap="square">
            <a:spAutoFit/>
          </a:bodyPr>
          <a:lstStyle/>
          <a:p>
            <a:pPr algn="l"/>
            <a:r>
              <a:rPr sz="1050" b="1" i="0">
                <a:solidFill>
                  <a:srgbClr val="0078C8"/>
                </a:solidFill>
              </a:rPr>
              <a:t>2. ViGoEmotions</a:t>
            </a:r>
            <a:endParaRPr sz="1050" b="1" i="0">
              <a:solidFill>
                <a:srgbClr val="0078C8"/>
              </a:solidFill>
            </a:endParaRPr>
          </a:p>
        </p:txBody>
      </p:sp>
      <p:sp>
        <p:nvSpPr>
          <p:cNvPr id="11" name="TextBox 10"/>
          <p:cNvSpPr txBox="1"/>
          <p:nvPr/>
        </p:nvSpPr>
        <p:spPr>
          <a:xfrm>
            <a:off x="4430268" y="2084832"/>
            <a:ext cx="3328416" cy="3291840"/>
          </a:xfrm>
          <a:prstGeom prst="rect">
            <a:avLst/>
          </a:prstGeom>
          <a:noFill/>
        </p:spPr>
        <p:txBody>
          <a:bodyPr wrap="square">
            <a:spAutoFit/>
          </a:bodyPr>
          <a:lstStyle/>
          <a:p>
            <a:pPr>
              <a:spcBef>
                <a:spcPts val="250"/>
              </a:spcBef>
            </a:pPr>
            <a:r>
              <a:rPr sz="900">
                <a:solidFill>
                  <a:srgbClr val="1A2430"/>
                </a:solidFill>
              </a:rPr>
              <a:t>2026, EACL. Dataset chinh cua nhom</a:t>
            </a:r>
            <a:endParaRPr sz="900">
              <a:solidFill>
                <a:srgbClr val="1A2430"/>
              </a:solidFill>
            </a:endParaRPr>
          </a:p>
          <a:p>
            <a:pPr>
              <a:spcBef>
                <a:spcPts val="250"/>
              </a:spcBef>
            </a:pPr>
            <a:r>
              <a:rPr sz="900">
                <a:solidFill>
                  <a:srgbClr val="1A2430"/>
                </a:solidFill>
              </a:rPr>
              <a:t>20.664 binh luan tieng Viet, 27 nhan + neutral, multi-label</a:t>
            </a:r>
            <a:endParaRPr sz="900">
              <a:solidFill>
                <a:srgbClr val="1A2430"/>
              </a:solidFill>
            </a:endParaRPr>
          </a:p>
          <a:p>
            <a:pPr>
              <a:spcBef>
                <a:spcPts val="250"/>
              </a:spcBef>
            </a:pPr>
            <a:r>
              <a:rPr sz="900">
                <a:solidFill>
                  <a:srgbClr val="1A2430"/>
                </a:solidFill>
              </a:rPr>
              <a:t>Pipeline: 3 LLM de xuat nhan, human xac nhan (LLM chi khop 40.82%)</a:t>
            </a:r>
            <a:endParaRPr sz="900">
              <a:solidFill>
                <a:srgbClr val="1A2430"/>
              </a:solidFill>
            </a:endParaRPr>
          </a:p>
          <a:p>
            <a:pPr>
              <a:spcBef>
                <a:spcPts val="250"/>
              </a:spcBef>
            </a:pPr>
            <a:r>
              <a:rPr sz="900">
                <a:solidFill>
                  <a:srgbClr val="1A2430"/>
                </a:solidFill>
              </a:rPr>
              <a:t>Baseline: ViSoBERT F1-macro 61.50%, F1-weighted 63.26%</a:t>
            </a:r>
            <a:endParaRPr sz="900">
              <a:solidFill>
                <a:srgbClr val="1A2430"/>
              </a:solidFill>
            </a:endParaRPr>
          </a:p>
          <a:p>
            <a:pPr>
              <a:spcBef>
                <a:spcPts val="250"/>
              </a:spcBef>
            </a:pPr>
            <a:r>
              <a:rPr sz="900">
                <a:solidFill>
                  <a:srgbClr val="1A2430"/>
                </a:solidFill>
              </a:rPr>
              <a:t>3 kich ban preprocessing: giu emoji &gt; chuyen text &gt; ViSoLex</a:t>
            </a:r>
            <a:endParaRPr sz="900">
              <a:solidFill>
                <a:srgbClr val="1A2430"/>
              </a:solidFill>
            </a:endParaRPr>
          </a:p>
          <a:p>
            <a:pPr>
              <a:spcBef>
                <a:spcPts val="250"/>
              </a:spcBef>
            </a:pPr>
            <a:r>
              <a:rPr sz="900">
                <a:solidFill>
                  <a:srgbClr val="1A2430"/>
                </a:solidFill>
              </a:rPr>
              <a:t>Split: Train 16.531 / Val 2.066 / Test 2.067</a:t>
            </a:r>
            <a:endParaRPr sz="900">
              <a:solidFill>
                <a:srgbClr val="1A2430"/>
              </a:solidFill>
            </a:endParaRPr>
          </a:p>
        </p:txBody>
      </p:sp>
      <p:sp>
        <p:nvSpPr>
          <p:cNvPr id="12" name="Rectangle 11"/>
          <p:cNvSpPr/>
          <p:nvPr/>
        </p:nvSpPr>
        <p:spPr>
          <a:xfrm>
            <a:off x="8074152" y="1572768"/>
            <a:ext cx="3657600" cy="3886200"/>
          </a:xfrm>
          <a:prstGeom prst="rect">
            <a:avLst/>
          </a:prstGeom>
          <a:solidFill>
            <a:srgbClr val="F0F4F8"/>
          </a:solidFill>
          <a:ln w="1651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11512" y="1655064"/>
            <a:ext cx="1828800" cy="256032"/>
          </a:xfrm>
          <a:prstGeom prst="rect">
            <a:avLst/>
          </a:prstGeom>
          <a:noFill/>
        </p:spPr>
        <p:txBody>
          <a:bodyPr wrap="square">
            <a:spAutoFit/>
          </a:bodyPr>
          <a:lstStyle/>
          <a:p>
            <a:pPr algn="r"/>
            <a:r>
              <a:rPr sz="700" b="1" i="0">
                <a:solidFill>
                  <a:srgbClr val="6B7C93"/>
                </a:solidFill>
              </a:rPr>
              <a:t>Related task</a:t>
            </a:r>
            <a:endParaRPr sz="700" b="1" i="0">
              <a:solidFill>
                <a:srgbClr val="6B7C93"/>
              </a:solidFill>
            </a:endParaRPr>
          </a:p>
        </p:txBody>
      </p:sp>
      <p:sp>
        <p:nvSpPr>
          <p:cNvPr id="14" name="TextBox 13"/>
          <p:cNvSpPr txBox="1"/>
          <p:nvPr/>
        </p:nvSpPr>
        <p:spPr>
          <a:xfrm>
            <a:off x="8238744" y="1664208"/>
            <a:ext cx="3328416" cy="384048"/>
          </a:xfrm>
          <a:prstGeom prst="rect">
            <a:avLst/>
          </a:prstGeom>
          <a:noFill/>
        </p:spPr>
        <p:txBody>
          <a:bodyPr wrap="square">
            <a:spAutoFit/>
          </a:bodyPr>
          <a:lstStyle/>
          <a:p>
            <a:pPr algn="l"/>
            <a:r>
              <a:rPr sz="1050" b="1" i="0">
                <a:solidFill>
                  <a:srgbClr val="1A2430"/>
                </a:solidFill>
              </a:rPr>
              <a:t>3. ViTOED</a:t>
            </a:r>
            <a:endParaRPr sz="1050" b="1" i="0">
              <a:solidFill>
                <a:srgbClr val="1A2430"/>
              </a:solidFill>
            </a:endParaRPr>
          </a:p>
        </p:txBody>
      </p:sp>
      <p:sp>
        <p:nvSpPr>
          <p:cNvPr id="15" name="TextBox 14"/>
          <p:cNvSpPr txBox="1"/>
          <p:nvPr/>
        </p:nvSpPr>
        <p:spPr>
          <a:xfrm>
            <a:off x="8238744" y="2084832"/>
            <a:ext cx="3328416" cy="3291840"/>
          </a:xfrm>
          <a:prstGeom prst="rect">
            <a:avLst/>
          </a:prstGeom>
          <a:noFill/>
        </p:spPr>
        <p:txBody>
          <a:bodyPr wrap="square">
            <a:spAutoFit/>
          </a:bodyPr>
          <a:lstStyle/>
          <a:p>
            <a:pPr>
              <a:spcBef>
                <a:spcPts val="250"/>
              </a:spcBef>
            </a:pPr>
            <a:r>
              <a:rPr sz="900">
                <a:solidFill>
                  <a:srgbClr val="1A2430"/>
                </a:solidFill>
              </a:rPr>
              <a:t>2026, arXiv</a:t>
            </a:r>
            <a:endParaRPr sz="900">
              <a:solidFill>
                <a:srgbClr val="1A2430"/>
              </a:solidFill>
            </a:endParaRPr>
          </a:p>
          <a:p>
            <a:pPr>
              <a:spcBef>
                <a:spcPts val="250"/>
              </a:spcBef>
            </a:pPr>
            <a:r>
              <a:rPr sz="900">
                <a:solidFill>
                  <a:srgbClr val="1A2430"/>
                </a:solidFill>
              </a:rPr>
              <a:t>10.985 cau, 21.244 bo tu (source, target, expression, polarity)</a:t>
            </a:r>
            <a:endParaRPr sz="900">
              <a:solidFill>
                <a:srgbClr val="1A2430"/>
              </a:solidFill>
            </a:endParaRPr>
          </a:p>
          <a:p>
            <a:pPr>
              <a:spcBef>
                <a:spcPts val="250"/>
              </a:spcBef>
            </a:pPr>
            <a:r>
              <a:rPr sz="900">
                <a:solidFill>
                  <a:srgbClr val="1A2430"/>
                </a:solidFill>
              </a:rPr>
              <a:t>Task: Target-Oriented Emotion (ABSA) - khac document-level multi-label</a:t>
            </a:r>
            <a:endParaRPr sz="900">
              <a:solidFill>
                <a:srgbClr val="1A2430"/>
              </a:solidFill>
            </a:endParaRPr>
          </a:p>
          <a:p>
            <a:pPr>
              <a:spcBef>
                <a:spcPts val="250"/>
              </a:spcBef>
            </a:pPr>
            <a:r>
              <a:rPr sz="900">
                <a:solidFill>
                  <a:srgbClr val="1A2430"/>
                </a:solidFill>
              </a:rPr>
              <a:t>Cung domain: Vietnamese social media, khong dung lam dataset chinh</a:t>
            </a:r>
            <a:endParaRPr sz="900">
              <a:solidFill>
                <a:srgbClr val="1A2430"/>
              </a:solidFill>
            </a:endParaRPr>
          </a:p>
          <a:p>
            <a:pPr>
              <a:spcBef>
                <a:spcPts val="250"/>
              </a:spcBef>
            </a:pPr>
            <a:r>
              <a:rPr sz="900">
                <a:solidFill>
                  <a:srgbClr val="1A2430"/>
                </a:solidFill>
              </a:rPr>
              <a:t>Xac nhan: emotion detection tieng Viet la active research area 2026</a:t>
            </a:r>
            <a:endParaRPr sz="900">
              <a:solidFill>
                <a:srgbClr val="1A2430"/>
              </a:solidFill>
            </a:endParaRPr>
          </a:p>
        </p:txBody>
      </p:sp>
      <p:sp>
        <p:nvSpPr>
          <p:cNvPr id="16" name="Rectangle 15"/>
          <p:cNvSpPr/>
          <p:nvPr/>
        </p:nvSpPr>
        <p:spPr>
          <a:xfrm>
            <a:off x="457200" y="5504688"/>
            <a:ext cx="11274552" cy="1078992"/>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577840"/>
            <a:ext cx="5486400" cy="256032"/>
          </a:xfrm>
          <a:prstGeom prst="rect">
            <a:avLst/>
          </a:prstGeom>
          <a:noFill/>
        </p:spPr>
        <p:txBody>
          <a:bodyPr wrap="square">
            <a:spAutoFit/>
          </a:bodyPr>
          <a:lstStyle/>
          <a:p>
            <a:pPr algn="l"/>
            <a:r>
              <a:rPr sz="750" b="1" i="0">
                <a:solidFill>
                  <a:srgbClr val="00B4D8"/>
                </a:solidFill>
              </a:rPr>
              <a:t>SUY LUAN &amp; DANH GIA (INFER):</a:t>
            </a:r>
            <a:endParaRPr sz="750" b="1" i="0">
              <a:solidFill>
                <a:srgbClr val="00B4D8"/>
              </a:solidFill>
            </a:endParaRPr>
          </a:p>
        </p:txBody>
      </p:sp>
      <p:sp>
        <p:nvSpPr>
          <p:cNvPr id="18" name="TextBox 17"/>
          <p:cNvSpPr txBox="1"/>
          <p:nvPr/>
        </p:nvSpPr>
        <p:spPr>
          <a:xfrm>
            <a:off x="731520" y="5843016"/>
            <a:ext cx="10725912" cy="704088"/>
          </a:xfrm>
          <a:prstGeom prst="rect">
            <a:avLst/>
          </a:prstGeom>
          <a:noFill/>
        </p:spPr>
        <p:txBody>
          <a:bodyPr wrap="square">
            <a:spAutoFit/>
          </a:bodyPr>
          <a:lstStyle/>
          <a:p>
            <a:pPr>
              <a:spcBef>
                <a:spcPts val="250"/>
              </a:spcBef>
            </a:pPr>
            <a:r>
              <a:rPr sz="950">
                <a:solidFill>
                  <a:srgbClr val="FFFFFF"/>
                </a:solidFill>
              </a:rPr>
              <a:t>ViGoEmotions la dataset duy nhat ket hop ca 4 yeu to: tieng Viet + 27 cam xuc chi tiet + multi-label + nguon mang xa hoi. LLM khop 40.82% voi human xac nhan nhu cau human-in-the-loop.</a:t>
            </a:r>
            <a:endParaRPr sz="950">
              <a:solidFill>
                <a:srgbClr val="FFFFFF"/>
              </a:solidFill>
            </a:endParaRPr>
          </a:p>
        </p:txBody>
      </p:sp>
      <p:sp>
        <p:nvSpPr>
          <p:cNvPr id="19" name="TextBox 18"/>
          <p:cNvSpPr txBox="1"/>
          <p:nvPr/>
        </p:nvSpPr>
        <p:spPr>
          <a:xfrm>
            <a:off x="457200" y="6611112"/>
            <a:ext cx="11274552" cy="228600"/>
          </a:xfrm>
          <a:prstGeom prst="rect">
            <a:avLst/>
          </a:prstGeom>
          <a:noFill/>
        </p:spPr>
        <p:txBody>
          <a:bodyPr wrap="square">
            <a:spAutoFit/>
          </a:bodyPr>
          <a:lstStyle/>
          <a:p>
            <a:pPr algn="l"/>
            <a:r>
              <a:rPr sz="700" b="0" i="1">
                <a:solidFill>
                  <a:srgbClr val="6B7C93"/>
                </a:solidFill>
              </a:rPr>
              <a:t>Demszky et al. (2020), ACL 2020  |  Nguyen et al. (2026), EACL 2026  |  Tran et al. (2026), arXiv</a:t>
            </a:r>
            <a:endParaRPr sz="700" b="0" i="1">
              <a:solidFill>
                <a:srgbClr val="6B7C93"/>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74320"/>
            <a:ext cx="11091672" cy="292608"/>
          </a:xfrm>
          <a:prstGeom prst="rect">
            <a:avLst/>
          </a:prstGeom>
          <a:noFill/>
        </p:spPr>
        <p:txBody>
          <a:bodyPr wrap="square">
            <a:spAutoFit/>
          </a:bodyPr>
          <a:lstStyle/>
          <a:p>
            <a:pPr algn="l"/>
            <a:r>
              <a:rPr sz="850" b="1" i="0">
                <a:solidFill>
                  <a:srgbClr val="00B4D8"/>
                </a:solidFill>
              </a:rPr>
              <a:t>NHOM 2. VIETNAMESE PRE-TRAINED LANGUAGE MODELS</a:t>
            </a:r>
            <a:endParaRPr sz="850" b="1" i="0">
              <a:solidFill>
                <a:srgbClr val="00B4D8"/>
              </a:solidFill>
            </a:endParaRPr>
          </a:p>
        </p:txBody>
      </p:sp>
      <p:sp>
        <p:nvSpPr>
          <p:cNvPr id="3" name="TextBox 2"/>
          <p:cNvSpPr txBox="1"/>
          <p:nvPr/>
        </p:nvSpPr>
        <p:spPr>
          <a:xfrm>
            <a:off x="548640" y="576072"/>
            <a:ext cx="11091672" cy="914400"/>
          </a:xfrm>
          <a:prstGeom prst="rect">
            <a:avLst/>
          </a:prstGeom>
          <a:noFill/>
        </p:spPr>
        <p:txBody>
          <a:bodyPr wrap="square">
            <a:spAutoFit/>
          </a:bodyPr>
          <a:lstStyle/>
          <a:p>
            <a:pPr algn="l"/>
            <a:r>
              <a:rPr sz="2600" b="1" i="0">
                <a:solidFill>
                  <a:srgbClr val="1A2430"/>
                </a:solidFill>
              </a:rPr>
              <a:t>Ba Mo Hinh Ngon Ngu Tieng Viet Cho Social Media NLP</a:t>
            </a:r>
            <a:endParaRPr sz="2600" b="1" i="0">
              <a:solidFill>
                <a:srgbClr val="1A2430"/>
              </a:solidFill>
            </a:endParaRPr>
          </a:p>
        </p:txBody>
      </p:sp>
      <p:sp>
        <p:nvSpPr>
          <p:cNvPr id="4" name="Rectangle 3"/>
          <p:cNvSpPr/>
          <p:nvPr/>
        </p:nvSpPr>
        <p:spPr>
          <a:xfrm>
            <a:off x="457200" y="1572768"/>
            <a:ext cx="3657600" cy="3886200"/>
          </a:xfrm>
          <a:prstGeom prst="rect">
            <a:avLst/>
          </a:prstGeom>
          <a:solidFill>
            <a:srgbClr val="DFF0FD"/>
          </a:solidFill>
          <a:ln w="1651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194560" y="1655064"/>
            <a:ext cx="1828800" cy="256032"/>
          </a:xfrm>
          <a:prstGeom prst="rect">
            <a:avLst/>
          </a:prstGeom>
          <a:noFill/>
        </p:spPr>
        <p:txBody>
          <a:bodyPr wrap="square">
            <a:spAutoFit/>
          </a:bodyPr>
          <a:lstStyle/>
          <a:p>
            <a:pPr algn="r"/>
            <a:r>
              <a:rPr sz="700" b="1" i="0">
                <a:solidFill>
                  <a:srgbClr val="00B4D8"/>
                </a:solidFill>
              </a:rPr>
              <a:t>Phu hop nhat</a:t>
            </a:r>
            <a:endParaRPr sz="700" b="1" i="0">
              <a:solidFill>
                <a:srgbClr val="00B4D8"/>
              </a:solidFill>
            </a:endParaRPr>
          </a:p>
        </p:txBody>
      </p:sp>
      <p:sp>
        <p:nvSpPr>
          <p:cNvPr id="6" name="TextBox 5"/>
          <p:cNvSpPr txBox="1"/>
          <p:nvPr/>
        </p:nvSpPr>
        <p:spPr>
          <a:xfrm>
            <a:off x="621792" y="1664208"/>
            <a:ext cx="3328416" cy="384048"/>
          </a:xfrm>
          <a:prstGeom prst="rect">
            <a:avLst/>
          </a:prstGeom>
          <a:noFill/>
        </p:spPr>
        <p:txBody>
          <a:bodyPr wrap="square">
            <a:spAutoFit/>
          </a:bodyPr>
          <a:lstStyle/>
          <a:p>
            <a:pPr algn="l"/>
            <a:r>
              <a:rPr sz="1050" b="1" i="0">
                <a:solidFill>
                  <a:srgbClr val="0078C8"/>
                </a:solidFill>
              </a:rPr>
              <a:t>4. ViSoBERT</a:t>
            </a:r>
            <a:endParaRPr sz="1050" b="1" i="0">
              <a:solidFill>
                <a:srgbClr val="0078C8"/>
              </a:solidFill>
            </a:endParaRPr>
          </a:p>
        </p:txBody>
      </p:sp>
      <p:sp>
        <p:nvSpPr>
          <p:cNvPr id="7" name="TextBox 6"/>
          <p:cNvSpPr txBox="1"/>
          <p:nvPr/>
        </p:nvSpPr>
        <p:spPr>
          <a:xfrm>
            <a:off x="621792" y="2084832"/>
            <a:ext cx="3328416" cy="3291840"/>
          </a:xfrm>
          <a:prstGeom prst="rect">
            <a:avLst/>
          </a:prstGeom>
          <a:noFill/>
        </p:spPr>
        <p:txBody>
          <a:bodyPr wrap="square">
            <a:spAutoFit/>
          </a:bodyPr>
          <a:lstStyle/>
          <a:p>
            <a:pPr>
              <a:spcBef>
                <a:spcPts val="250"/>
              </a:spcBef>
            </a:pPr>
            <a:r>
              <a:rPr sz="900">
                <a:solidFill>
                  <a:srgbClr val="1A2430"/>
                </a:solidFill>
              </a:rPr>
              <a:t>2023, EMNLP Findings</a:t>
            </a:r>
            <a:endParaRPr sz="900">
              <a:solidFill>
                <a:srgbClr val="1A2430"/>
              </a:solidFill>
            </a:endParaRPr>
          </a:p>
          <a:p>
            <a:pPr>
              <a:spcBef>
                <a:spcPts val="250"/>
              </a:spcBef>
            </a:pPr>
            <a:r>
              <a:rPr sz="900">
                <a:solidFill>
                  <a:srgbClr val="1A2430"/>
                </a:solidFill>
              </a:rPr>
              <a:t>Kien truc XLM-R, train tren 1GB Vietnamese social media data</a:t>
            </a:r>
            <a:endParaRPr sz="900">
              <a:solidFill>
                <a:srgbClr val="1A2430"/>
              </a:solidFill>
            </a:endParaRPr>
          </a:p>
          <a:p>
            <a:pPr>
              <a:spcBef>
                <a:spcPts val="250"/>
              </a:spcBef>
            </a:pPr>
            <a:r>
              <a:rPr sz="900">
                <a:solidFill>
                  <a:srgbClr val="1A2430"/>
                </a:solidFill>
              </a:rPr>
              <a:t>Nguon: Facebook, TikTok, YouTube tieng Viet (2016-2022)</a:t>
            </a:r>
            <a:endParaRPr sz="900">
              <a:solidFill>
                <a:srgbClr val="1A2430"/>
              </a:solidFill>
            </a:endParaRPr>
          </a:p>
          <a:p>
            <a:pPr>
              <a:spcBef>
                <a:spcPts val="250"/>
              </a:spcBef>
            </a:pPr>
            <a:r>
              <a:rPr sz="900">
                <a:solidFill>
                  <a:srgbClr val="1A2430"/>
                </a:solidFill>
              </a:rPr>
              <a:t>Giu nguyen emoji trong pretraining</a:t>
            </a:r>
            <a:endParaRPr sz="900">
              <a:solidFill>
                <a:srgbClr val="1A2430"/>
              </a:solidFill>
            </a:endParaRPr>
          </a:p>
          <a:p>
            <a:pPr>
              <a:spcBef>
                <a:spcPts val="250"/>
              </a:spcBef>
            </a:pPr>
            <a:r>
              <a:rPr sz="900">
                <a:solidFill>
                  <a:srgbClr val="1A2430"/>
                </a:solidFill>
              </a:rPr>
              <a:t>Dat F1-macro 61.50% tren ViGoEmotions (best trong baseline paper)</a:t>
            </a:r>
            <a:endParaRPr sz="900">
              <a:solidFill>
                <a:srgbClr val="1A2430"/>
              </a:solidFill>
            </a:endParaRPr>
          </a:p>
          <a:p>
            <a:pPr>
              <a:spcBef>
                <a:spcPts val="250"/>
              </a:spcBef>
            </a:pPr>
            <a:r>
              <a:rPr sz="900">
                <a:solidFill>
                  <a:srgbClr val="1A2430"/>
                </a:solidFill>
              </a:rPr>
              <a:t>Relevance: Domain match tot nhat cho task cua nhom</a:t>
            </a:r>
            <a:endParaRPr sz="900">
              <a:solidFill>
                <a:srgbClr val="1A2430"/>
              </a:solidFill>
            </a:endParaRPr>
          </a:p>
        </p:txBody>
      </p:sp>
      <p:sp>
        <p:nvSpPr>
          <p:cNvPr id="8" name="Rectangle 7"/>
          <p:cNvSpPr/>
          <p:nvPr/>
        </p:nvSpPr>
        <p:spPr>
          <a:xfrm>
            <a:off x="4265676" y="1572768"/>
            <a:ext cx="3657600" cy="3886200"/>
          </a:xfrm>
          <a:prstGeom prst="rect">
            <a:avLst/>
          </a:prstGeom>
          <a:solidFill>
            <a:srgbClr val="F0F4F8"/>
          </a:solidFill>
          <a:ln w="1651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03036" y="1655064"/>
            <a:ext cx="1828800" cy="256032"/>
          </a:xfrm>
          <a:prstGeom prst="rect">
            <a:avLst/>
          </a:prstGeom>
          <a:noFill/>
        </p:spPr>
        <p:txBody>
          <a:bodyPr wrap="square">
            <a:spAutoFit/>
          </a:bodyPr>
          <a:lstStyle/>
          <a:p>
            <a:pPr algn="r"/>
            <a:r>
              <a:rPr sz="700" b="1" i="0">
                <a:solidFill>
                  <a:srgbClr val="6B7C93"/>
                </a:solidFill>
              </a:rPr>
              <a:t>Formal Vietnamese</a:t>
            </a:r>
            <a:endParaRPr sz="700" b="1" i="0">
              <a:solidFill>
                <a:srgbClr val="6B7C93"/>
              </a:solidFill>
            </a:endParaRPr>
          </a:p>
        </p:txBody>
      </p:sp>
      <p:sp>
        <p:nvSpPr>
          <p:cNvPr id="10" name="TextBox 9"/>
          <p:cNvSpPr txBox="1"/>
          <p:nvPr/>
        </p:nvSpPr>
        <p:spPr>
          <a:xfrm>
            <a:off x="4430268" y="1664208"/>
            <a:ext cx="3328416" cy="384048"/>
          </a:xfrm>
          <a:prstGeom prst="rect">
            <a:avLst/>
          </a:prstGeom>
          <a:noFill/>
        </p:spPr>
        <p:txBody>
          <a:bodyPr wrap="square">
            <a:spAutoFit/>
          </a:bodyPr>
          <a:lstStyle/>
          <a:p>
            <a:pPr algn="l"/>
            <a:r>
              <a:rPr sz="1050" b="1" i="0">
                <a:solidFill>
                  <a:srgbClr val="1A2430"/>
                </a:solidFill>
              </a:rPr>
              <a:t>5. PhoBERT</a:t>
            </a:r>
            <a:endParaRPr sz="1050" b="1" i="0">
              <a:solidFill>
                <a:srgbClr val="1A2430"/>
              </a:solidFill>
            </a:endParaRPr>
          </a:p>
        </p:txBody>
      </p:sp>
      <p:sp>
        <p:nvSpPr>
          <p:cNvPr id="11" name="TextBox 10"/>
          <p:cNvSpPr txBox="1"/>
          <p:nvPr/>
        </p:nvSpPr>
        <p:spPr>
          <a:xfrm>
            <a:off x="4430268" y="2084832"/>
            <a:ext cx="3328416" cy="3291840"/>
          </a:xfrm>
          <a:prstGeom prst="rect">
            <a:avLst/>
          </a:prstGeom>
          <a:noFill/>
        </p:spPr>
        <p:txBody>
          <a:bodyPr wrap="square">
            <a:spAutoFit/>
          </a:bodyPr>
          <a:lstStyle/>
          <a:p>
            <a:pPr>
              <a:spcBef>
                <a:spcPts val="250"/>
              </a:spcBef>
            </a:pPr>
            <a:r>
              <a:rPr sz="900">
                <a:solidFill>
                  <a:srgbClr val="1A2430"/>
                </a:solidFill>
              </a:rPr>
              <a:t>2020, EMNLP Findings</a:t>
            </a:r>
            <a:endParaRPr sz="900">
              <a:solidFill>
                <a:srgbClr val="1A2430"/>
              </a:solidFill>
            </a:endParaRPr>
          </a:p>
          <a:p>
            <a:pPr>
              <a:spcBef>
                <a:spcPts val="250"/>
              </a:spcBef>
            </a:pPr>
            <a:r>
              <a:rPr sz="900">
                <a:solidFill>
                  <a:srgbClr val="1A2430"/>
                </a:solidFill>
              </a:rPr>
              <a:t>Train tren 20GB (Wikipedia + bao chi tieng Viet chinh thong)</a:t>
            </a:r>
            <a:endParaRPr sz="900">
              <a:solidFill>
                <a:srgbClr val="1A2430"/>
              </a:solidFill>
            </a:endParaRPr>
          </a:p>
          <a:p>
            <a:pPr>
              <a:spcBef>
                <a:spcPts val="250"/>
              </a:spcBef>
            </a:pPr>
            <a:r>
              <a:rPr sz="900">
                <a:solidFill>
                  <a:srgbClr val="1A2430"/>
                </a:solidFill>
              </a:rPr>
              <a:t>Yeu cau tokenizer VnCoreNLP (them 1 buoc pipeline)</a:t>
            </a:r>
            <a:endParaRPr sz="900">
              <a:solidFill>
                <a:srgbClr val="1A2430"/>
              </a:solidFill>
            </a:endParaRPr>
          </a:p>
          <a:p>
            <a:pPr>
              <a:spcBef>
                <a:spcPts val="250"/>
              </a:spcBef>
            </a:pPr>
            <a:r>
              <a:rPr sz="900">
                <a:solidFill>
                  <a:srgbClr val="1A2430"/>
                </a:solidFill>
              </a:rPr>
              <a:t>Tot cho van ban chinh thong, kem hon tren social media slang/emoji</a:t>
            </a:r>
            <a:endParaRPr sz="900">
              <a:solidFill>
                <a:srgbClr val="1A2430"/>
              </a:solidFill>
            </a:endParaRPr>
          </a:p>
          <a:p>
            <a:pPr>
              <a:spcBef>
                <a:spcPts val="250"/>
              </a:spcBef>
            </a:pPr>
            <a:r>
              <a:rPr sz="900">
                <a:solidFill>
                  <a:srgbClr val="1A2430"/>
                </a:solidFill>
              </a:rPr>
              <a:t>Domain mismatch lam giam performance tren ViGoEmotions</a:t>
            </a:r>
            <a:endParaRPr sz="900">
              <a:solidFill>
                <a:srgbClr val="1A2430"/>
              </a:solidFill>
            </a:endParaRPr>
          </a:p>
          <a:p>
            <a:pPr>
              <a:spcBef>
                <a:spcPts val="250"/>
              </a:spcBef>
            </a:pPr>
            <a:r>
              <a:rPr sz="900">
                <a:solidFill>
                  <a:srgbClr val="1A2430"/>
                </a:solidFill>
              </a:rPr>
              <a:t>Relevance: Baseline so sanh, tham khao ve Vietnamese NLP</a:t>
            </a:r>
            <a:endParaRPr sz="900">
              <a:solidFill>
                <a:srgbClr val="1A2430"/>
              </a:solidFill>
            </a:endParaRPr>
          </a:p>
        </p:txBody>
      </p:sp>
      <p:sp>
        <p:nvSpPr>
          <p:cNvPr id="12" name="Rectangle 11"/>
          <p:cNvSpPr/>
          <p:nvPr/>
        </p:nvSpPr>
        <p:spPr>
          <a:xfrm>
            <a:off x="8074152" y="1572768"/>
            <a:ext cx="3657600" cy="3886200"/>
          </a:xfrm>
          <a:prstGeom prst="rect">
            <a:avLst/>
          </a:prstGeom>
          <a:solidFill>
            <a:srgbClr val="F0F4F8"/>
          </a:solidFill>
          <a:ln w="1651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11512" y="1655064"/>
            <a:ext cx="1828800" cy="256032"/>
          </a:xfrm>
          <a:prstGeom prst="rect">
            <a:avLst/>
          </a:prstGeom>
          <a:noFill/>
        </p:spPr>
        <p:txBody>
          <a:bodyPr wrap="square">
            <a:spAutoFit/>
          </a:bodyPr>
          <a:lstStyle/>
          <a:p>
            <a:pPr algn="r"/>
            <a:r>
              <a:rPr sz="700" b="1" i="0">
                <a:solidFill>
                  <a:srgbClr val="6B7C93"/>
                </a:solidFill>
              </a:rPr>
              <a:t>Long context</a:t>
            </a:r>
            <a:endParaRPr sz="700" b="1" i="0">
              <a:solidFill>
                <a:srgbClr val="6B7C93"/>
              </a:solidFill>
            </a:endParaRPr>
          </a:p>
        </p:txBody>
      </p:sp>
      <p:sp>
        <p:nvSpPr>
          <p:cNvPr id="14" name="TextBox 13"/>
          <p:cNvSpPr txBox="1"/>
          <p:nvPr/>
        </p:nvSpPr>
        <p:spPr>
          <a:xfrm>
            <a:off x="8238744" y="1664208"/>
            <a:ext cx="3328416" cy="384048"/>
          </a:xfrm>
          <a:prstGeom prst="rect">
            <a:avLst/>
          </a:prstGeom>
          <a:noFill/>
        </p:spPr>
        <p:txBody>
          <a:bodyPr wrap="square">
            <a:spAutoFit/>
          </a:bodyPr>
          <a:lstStyle/>
          <a:p>
            <a:pPr algn="l"/>
            <a:r>
              <a:rPr sz="1050" b="1" i="0">
                <a:solidFill>
                  <a:srgbClr val="1A2430"/>
                </a:solidFill>
              </a:rPr>
              <a:t>6. BamiBERT</a:t>
            </a:r>
            <a:endParaRPr sz="1050" b="1" i="0">
              <a:solidFill>
                <a:srgbClr val="1A2430"/>
              </a:solidFill>
            </a:endParaRPr>
          </a:p>
        </p:txBody>
      </p:sp>
      <p:sp>
        <p:nvSpPr>
          <p:cNvPr id="15" name="TextBox 14"/>
          <p:cNvSpPr txBox="1"/>
          <p:nvPr/>
        </p:nvSpPr>
        <p:spPr>
          <a:xfrm>
            <a:off x="8238744" y="2084832"/>
            <a:ext cx="3328416" cy="3291840"/>
          </a:xfrm>
          <a:prstGeom prst="rect">
            <a:avLst/>
          </a:prstGeom>
          <a:noFill/>
        </p:spPr>
        <p:txBody>
          <a:bodyPr wrap="square">
            <a:spAutoFit/>
          </a:bodyPr>
          <a:lstStyle/>
          <a:p>
            <a:pPr>
              <a:spcBef>
                <a:spcPts val="250"/>
              </a:spcBef>
            </a:pPr>
            <a:r>
              <a:rPr sz="900">
                <a:solidFill>
                  <a:srgbClr val="1A2430"/>
                </a:solidFill>
              </a:rPr>
              <a:t>2023, arXiv</a:t>
            </a:r>
            <a:endParaRPr sz="900">
              <a:solidFill>
                <a:srgbClr val="1A2430"/>
              </a:solidFill>
            </a:endParaRPr>
          </a:p>
          <a:p>
            <a:pPr>
              <a:spcBef>
                <a:spcPts val="250"/>
              </a:spcBef>
            </a:pPr>
            <a:r>
              <a:rPr sz="900">
                <a:solidFill>
                  <a:srgbClr val="1A2430"/>
                </a:solidFill>
              </a:rPr>
              <a:t>Context window 2048 tokens (vs 512 cua BERT tieu chuan)</a:t>
            </a:r>
            <a:endParaRPr sz="900">
              <a:solidFill>
                <a:srgbClr val="1A2430"/>
              </a:solidFill>
            </a:endParaRPr>
          </a:p>
          <a:p>
            <a:pPr>
              <a:spcBef>
                <a:spcPts val="250"/>
              </a:spcBef>
            </a:pPr>
            <a:r>
              <a:rPr sz="900">
                <a:solidFill>
                  <a:srgbClr val="1A2430"/>
                </a:solidFill>
              </a:rPr>
              <a:t>Khong can external tokenizer</a:t>
            </a:r>
            <a:endParaRPr sz="900">
              <a:solidFill>
                <a:srgbClr val="1A2430"/>
              </a:solidFill>
            </a:endParaRPr>
          </a:p>
          <a:p>
            <a:pPr>
              <a:spcBef>
                <a:spcPts val="250"/>
              </a:spcBef>
            </a:pPr>
            <a:r>
              <a:rPr sz="900">
                <a:solidFill>
                  <a:srgbClr val="1A2430"/>
                </a:solidFill>
              </a:rPr>
              <a:t>Phu hop voi van ban dai, giam van de truncation</a:t>
            </a:r>
            <a:endParaRPr sz="900">
              <a:solidFill>
                <a:srgbClr val="1A2430"/>
              </a:solidFill>
            </a:endParaRPr>
          </a:p>
          <a:p>
            <a:pPr>
              <a:spcBef>
                <a:spcPts val="250"/>
              </a:spcBef>
            </a:pPr>
            <a:r>
              <a:rPr sz="900">
                <a:solidFill>
                  <a:srgbClr val="1A2430"/>
                </a:solidFill>
              </a:rPr>
              <a:t>Chua duoc kiem chung rong rai tren social media emotion task</a:t>
            </a:r>
            <a:endParaRPr sz="900">
              <a:solidFill>
                <a:srgbClr val="1A2430"/>
              </a:solidFill>
            </a:endParaRPr>
          </a:p>
          <a:p>
            <a:pPr>
              <a:spcBef>
                <a:spcPts val="250"/>
              </a:spcBef>
            </a:pPr>
            <a:r>
              <a:rPr sz="900">
                <a:solidFill>
                  <a:srgbClr val="1A2430"/>
                </a:solidFill>
              </a:rPr>
              <a:t>Relevance: Thu nghiem khi binh luan co do dai lon</a:t>
            </a:r>
            <a:endParaRPr sz="900">
              <a:solidFill>
                <a:srgbClr val="1A2430"/>
              </a:solidFill>
            </a:endParaRPr>
          </a:p>
        </p:txBody>
      </p:sp>
      <p:sp>
        <p:nvSpPr>
          <p:cNvPr id="16" name="Rectangle 15"/>
          <p:cNvSpPr/>
          <p:nvPr/>
        </p:nvSpPr>
        <p:spPr>
          <a:xfrm>
            <a:off x="457200" y="5504688"/>
            <a:ext cx="11274552" cy="1078992"/>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577840"/>
            <a:ext cx="5486400" cy="256032"/>
          </a:xfrm>
          <a:prstGeom prst="rect">
            <a:avLst/>
          </a:prstGeom>
          <a:noFill/>
        </p:spPr>
        <p:txBody>
          <a:bodyPr wrap="square">
            <a:spAutoFit/>
          </a:bodyPr>
          <a:lstStyle/>
          <a:p>
            <a:pPr algn="l"/>
            <a:r>
              <a:rPr sz="750" b="1" i="0">
                <a:solidFill>
                  <a:srgbClr val="00B4D8"/>
                </a:solidFill>
              </a:rPr>
              <a:t>SUY LUAN &amp; DANH GIA (INFER):</a:t>
            </a:r>
            <a:endParaRPr sz="750" b="1" i="0">
              <a:solidFill>
                <a:srgbClr val="00B4D8"/>
              </a:solidFill>
            </a:endParaRPr>
          </a:p>
        </p:txBody>
      </p:sp>
      <p:sp>
        <p:nvSpPr>
          <p:cNvPr id="18" name="TextBox 17"/>
          <p:cNvSpPr txBox="1"/>
          <p:nvPr/>
        </p:nvSpPr>
        <p:spPr>
          <a:xfrm>
            <a:off x="731520" y="5843016"/>
            <a:ext cx="10725912" cy="704088"/>
          </a:xfrm>
          <a:prstGeom prst="rect">
            <a:avLst/>
          </a:prstGeom>
          <a:noFill/>
        </p:spPr>
        <p:txBody>
          <a:bodyPr wrap="square">
            <a:spAutoFit/>
          </a:bodyPr>
          <a:lstStyle/>
          <a:p>
            <a:pPr>
              <a:spcBef>
                <a:spcPts val="250"/>
              </a:spcBef>
            </a:pPr>
            <a:r>
              <a:rPr sz="950">
                <a:solidFill>
                  <a:srgbClr val="FFFFFF"/>
                </a:solidFill>
              </a:rPr>
              <a:t>ViSoBERT la lua chon baseline phu hop nhat: pretrain dung domain (social media), giu emoji, dat ket qua tot nhat tren chinh ViGoEmotions. PhoBERT la baseline so sanh chinh thong.</a:t>
            </a:r>
            <a:endParaRPr sz="950">
              <a:solidFill>
                <a:srgbClr val="FFFFFF"/>
              </a:solidFill>
            </a:endParaRPr>
          </a:p>
        </p:txBody>
      </p:sp>
      <p:sp>
        <p:nvSpPr>
          <p:cNvPr id="19" name="TextBox 18"/>
          <p:cNvSpPr txBox="1"/>
          <p:nvPr/>
        </p:nvSpPr>
        <p:spPr>
          <a:xfrm>
            <a:off x="457200" y="6611112"/>
            <a:ext cx="11274552" cy="228600"/>
          </a:xfrm>
          <a:prstGeom prst="rect">
            <a:avLst/>
          </a:prstGeom>
          <a:noFill/>
        </p:spPr>
        <p:txBody>
          <a:bodyPr wrap="square">
            <a:spAutoFit/>
          </a:bodyPr>
          <a:lstStyle/>
          <a:p>
            <a:pPr algn="l"/>
            <a:r>
              <a:rPr sz="700" b="0" i="1">
                <a:solidFill>
                  <a:srgbClr val="6B7C93"/>
                </a:solidFill>
              </a:rPr>
              <a:t>Nguyen et al. (2023), EMNLP Findings  |  Nguyen &amp; Tuan (2020), EMNLP Findings  |  [BamiBERT, arXiv 2023]</a:t>
            </a:r>
            <a:endParaRPr sz="700" b="0" i="1">
              <a:solidFill>
                <a:srgbClr val="6B7C93"/>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74320"/>
            <a:ext cx="11091672" cy="292608"/>
          </a:xfrm>
          <a:prstGeom prst="rect">
            <a:avLst/>
          </a:prstGeom>
          <a:noFill/>
        </p:spPr>
        <p:txBody>
          <a:bodyPr wrap="square">
            <a:spAutoFit/>
          </a:bodyPr>
          <a:lstStyle/>
          <a:p>
            <a:pPr algn="l"/>
            <a:r>
              <a:rPr sz="850" b="1" i="0">
                <a:solidFill>
                  <a:srgbClr val="00B4D8"/>
                </a:solidFill>
              </a:rPr>
              <a:t>NHOM 3. KY THUAT MULTI-LABEL VA IMBALANCED DATA</a:t>
            </a:r>
            <a:endParaRPr sz="850" b="1" i="0">
              <a:solidFill>
                <a:srgbClr val="00B4D8"/>
              </a:solidFill>
            </a:endParaRPr>
          </a:p>
        </p:txBody>
      </p:sp>
      <p:sp>
        <p:nvSpPr>
          <p:cNvPr id="3" name="TextBox 2"/>
          <p:cNvSpPr txBox="1"/>
          <p:nvPr/>
        </p:nvSpPr>
        <p:spPr>
          <a:xfrm>
            <a:off x="548640" y="576072"/>
            <a:ext cx="11091672" cy="914400"/>
          </a:xfrm>
          <a:prstGeom prst="rect">
            <a:avLst/>
          </a:prstGeom>
          <a:noFill/>
        </p:spPr>
        <p:txBody>
          <a:bodyPr wrap="square">
            <a:spAutoFit/>
          </a:bodyPr>
          <a:lstStyle/>
          <a:p>
            <a:pPr algn="l"/>
            <a:r>
              <a:rPr sz="2600" b="1" i="0">
                <a:solidFill>
                  <a:srgbClr val="1A2430"/>
                </a:solidFill>
              </a:rPr>
              <a:t>Ba Huong Giai Quyet Phan Loai Da Nhan Mat Can Bang</a:t>
            </a:r>
            <a:endParaRPr sz="2600" b="1" i="0">
              <a:solidFill>
                <a:srgbClr val="1A2430"/>
              </a:solidFill>
            </a:endParaRPr>
          </a:p>
        </p:txBody>
      </p:sp>
      <p:sp>
        <p:nvSpPr>
          <p:cNvPr id="4" name="Rectangle 3"/>
          <p:cNvSpPr/>
          <p:nvPr/>
        </p:nvSpPr>
        <p:spPr>
          <a:xfrm>
            <a:off x="457200" y="1572768"/>
            <a:ext cx="3657600" cy="3886200"/>
          </a:xfrm>
          <a:prstGeom prst="rect">
            <a:avLst/>
          </a:prstGeom>
          <a:solidFill>
            <a:srgbClr val="F0F4F8"/>
          </a:solidFill>
          <a:ln w="1651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194560" y="1655064"/>
            <a:ext cx="1828800" cy="256032"/>
          </a:xfrm>
          <a:prstGeom prst="rect">
            <a:avLst/>
          </a:prstGeom>
          <a:noFill/>
        </p:spPr>
        <p:txBody>
          <a:bodyPr wrap="square">
            <a:spAutoFit/>
          </a:bodyPr>
          <a:lstStyle/>
          <a:p>
            <a:pPr algn="r"/>
            <a:r>
              <a:rPr sz="700" b="1" i="0">
                <a:solidFill>
                  <a:srgbClr val="6B7C93"/>
                </a:solidFill>
              </a:rPr>
              <a:t>Loss function</a:t>
            </a:r>
            <a:endParaRPr sz="700" b="1" i="0">
              <a:solidFill>
                <a:srgbClr val="6B7C93"/>
              </a:solidFill>
            </a:endParaRPr>
          </a:p>
        </p:txBody>
      </p:sp>
      <p:sp>
        <p:nvSpPr>
          <p:cNvPr id="6" name="TextBox 5"/>
          <p:cNvSpPr txBox="1"/>
          <p:nvPr/>
        </p:nvSpPr>
        <p:spPr>
          <a:xfrm>
            <a:off x="621792" y="1664208"/>
            <a:ext cx="3328416" cy="384048"/>
          </a:xfrm>
          <a:prstGeom prst="rect">
            <a:avLst/>
          </a:prstGeom>
          <a:noFill/>
        </p:spPr>
        <p:txBody>
          <a:bodyPr wrap="square">
            <a:spAutoFit/>
          </a:bodyPr>
          <a:lstStyle/>
          <a:p>
            <a:pPr algn="l"/>
            <a:r>
              <a:rPr sz="1050" b="1" i="0">
                <a:solidFill>
                  <a:srgbClr val="1A2430"/>
                </a:solidFill>
              </a:rPr>
              <a:t>7. BERT + Asymmetric Loss (ASL)</a:t>
            </a:r>
            <a:endParaRPr sz="1050" b="1" i="0">
              <a:solidFill>
                <a:srgbClr val="1A2430"/>
              </a:solidFill>
            </a:endParaRPr>
          </a:p>
        </p:txBody>
      </p:sp>
      <p:sp>
        <p:nvSpPr>
          <p:cNvPr id="7" name="TextBox 6"/>
          <p:cNvSpPr txBox="1"/>
          <p:nvPr/>
        </p:nvSpPr>
        <p:spPr>
          <a:xfrm>
            <a:off x="621792" y="2084832"/>
            <a:ext cx="3328416" cy="3291840"/>
          </a:xfrm>
          <a:prstGeom prst="rect">
            <a:avLst/>
          </a:prstGeom>
          <a:noFill/>
        </p:spPr>
        <p:txBody>
          <a:bodyPr wrap="square">
            <a:spAutoFit/>
          </a:bodyPr>
          <a:lstStyle/>
          <a:p>
            <a:pPr>
              <a:spcBef>
                <a:spcPts val="250"/>
              </a:spcBef>
            </a:pPr>
            <a:r>
              <a:rPr sz="900">
                <a:solidFill>
                  <a:srgbClr val="1A2430"/>
                </a:solidFill>
              </a:rPr>
              <a:t>2025</a:t>
            </a:r>
            <a:endParaRPr sz="900">
              <a:solidFill>
                <a:srgbClr val="1A2430"/>
              </a:solidFill>
            </a:endParaRPr>
          </a:p>
          <a:p>
            <a:pPr>
              <a:spcBef>
                <a:spcPts val="250"/>
              </a:spcBef>
            </a:pPr>
            <a:r>
              <a:rPr sz="900">
                <a:solidFill>
                  <a:srgbClr val="1A2430"/>
                </a:solidFill>
              </a:rPr>
              <a:t>Clipped Asymmetric Loss: giam trong so negative samples</a:t>
            </a:r>
            <a:endParaRPr sz="900">
              <a:solidFill>
                <a:srgbClr val="1A2430"/>
              </a:solidFill>
            </a:endParaRPr>
          </a:p>
          <a:p>
            <a:pPr>
              <a:spcBef>
                <a:spcPts val="250"/>
              </a:spcBef>
            </a:pPr>
            <a:r>
              <a:rPr sz="900">
                <a:solidFill>
                  <a:srgbClr val="1A2430"/>
                </a:solidFill>
              </a:rPr>
              <a:t>Tap trung hoc positive signals trong imbalanced multi-label</a:t>
            </a:r>
            <a:endParaRPr sz="900">
              <a:solidFill>
                <a:srgbClr val="1A2430"/>
              </a:solidFill>
            </a:endParaRPr>
          </a:p>
          <a:p>
            <a:pPr>
              <a:spcBef>
                <a:spcPts val="250"/>
              </a:spcBef>
            </a:pPr>
            <a:r>
              <a:rPr sz="900">
                <a:solidFill>
                  <a:srgbClr val="1A2430"/>
                </a:solidFill>
              </a:rPr>
              <a:t>GoEmotions: F1-macro 0.46 -&gt; 0.54 khi dung ASL thay BCE</a:t>
            </a:r>
            <a:endParaRPr sz="900">
              <a:solidFill>
                <a:srgbClr val="1A2430"/>
              </a:solidFill>
            </a:endParaRPr>
          </a:p>
          <a:p>
            <a:pPr>
              <a:spcBef>
                <a:spcPts val="250"/>
              </a:spcBef>
            </a:pPr>
            <a:r>
              <a:rPr sz="900">
                <a:solidFill>
                  <a:srgbClr val="1A2430"/>
                </a:solidFill>
              </a:rPr>
              <a:t>Do kho implement thap: chi can thay loss function</a:t>
            </a:r>
            <a:endParaRPr sz="900">
              <a:solidFill>
                <a:srgbClr val="1A2430"/>
              </a:solidFill>
            </a:endParaRPr>
          </a:p>
          <a:p>
            <a:pPr>
              <a:spcBef>
                <a:spcPts val="250"/>
              </a:spcBef>
            </a:pPr>
            <a:r>
              <a:rPr sz="900">
                <a:solidFill>
                  <a:srgbClr val="1A2430"/>
                </a:solidFill>
              </a:rPr>
              <a:t>Relevance: Ap dung truc tiep cho ViGoEmotions (27 nhan mat can bang)</a:t>
            </a:r>
            <a:endParaRPr sz="900">
              <a:solidFill>
                <a:srgbClr val="1A2430"/>
              </a:solidFill>
            </a:endParaRPr>
          </a:p>
        </p:txBody>
      </p:sp>
      <p:sp>
        <p:nvSpPr>
          <p:cNvPr id="8" name="Rectangle 7"/>
          <p:cNvSpPr/>
          <p:nvPr/>
        </p:nvSpPr>
        <p:spPr>
          <a:xfrm>
            <a:off x="4265676" y="1572768"/>
            <a:ext cx="3657600" cy="3886200"/>
          </a:xfrm>
          <a:prstGeom prst="rect">
            <a:avLst/>
          </a:prstGeom>
          <a:solidFill>
            <a:srgbClr val="F0F4F8"/>
          </a:solidFill>
          <a:ln w="1651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03036" y="1655064"/>
            <a:ext cx="1828800" cy="256032"/>
          </a:xfrm>
          <a:prstGeom prst="rect">
            <a:avLst/>
          </a:prstGeom>
          <a:noFill/>
        </p:spPr>
        <p:txBody>
          <a:bodyPr wrap="square">
            <a:spAutoFit/>
          </a:bodyPr>
          <a:lstStyle/>
          <a:p>
            <a:pPr algn="r"/>
            <a:r>
              <a:rPr sz="700" b="1" i="0">
                <a:solidFill>
                  <a:srgbClr val="6B7C93"/>
                </a:solidFill>
              </a:rPr>
              <a:t>Data augmentation</a:t>
            </a:r>
            <a:endParaRPr sz="700" b="1" i="0">
              <a:solidFill>
                <a:srgbClr val="6B7C93"/>
              </a:solidFill>
            </a:endParaRPr>
          </a:p>
        </p:txBody>
      </p:sp>
      <p:sp>
        <p:nvSpPr>
          <p:cNvPr id="10" name="TextBox 9"/>
          <p:cNvSpPr txBox="1"/>
          <p:nvPr/>
        </p:nvSpPr>
        <p:spPr>
          <a:xfrm>
            <a:off x="4430268" y="1664208"/>
            <a:ext cx="3328416" cy="384048"/>
          </a:xfrm>
          <a:prstGeom prst="rect">
            <a:avLst/>
          </a:prstGeom>
          <a:noFill/>
        </p:spPr>
        <p:txBody>
          <a:bodyPr wrap="square">
            <a:spAutoFit/>
          </a:bodyPr>
          <a:lstStyle/>
          <a:p>
            <a:pPr algn="l"/>
            <a:r>
              <a:rPr sz="1050" b="1" i="0">
                <a:solidFill>
                  <a:srgbClr val="1A2430"/>
                </a:solidFill>
              </a:rPr>
              <a:t>8. Emo Pillars</a:t>
            </a:r>
            <a:endParaRPr sz="1050" b="1" i="0">
              <a:solidFill>
                <a:srgbClr val="1A2430"/>
              </a:solidFill>
            </a:endParaRPr>
          </a:p>
        </p:txBody>
      </p:sp>
      <p:sp>
        <p:nvSpPr>
          <p:cNvPr id="11" name="TextBox 10"/>
          <p:cNvSpPr txBox="1"/>
          <p:nvPr/>
        </p:nvSpPr>
        <p:spPr>
          <a:xfrm>
            <a:off x="4430268" y="2084832"/>
            <a:ext cx="3328416" cy="3291840"/>
          </a:xfrm>
          <a:prstGeom prst="rect">
            <a:avLst/>
          </a:prstGeom>
          <a:noFill/>
        </p:spPr>
        <p:txBody>
          <a:bodyPr wrap="square">
            <a:spAutoFit/>
          </a:bodyPr>
          <a:lstStyle/>
          <a:p>
            <a:pPr>
              <a:spcBef>
                <a:spcPts val="250"/>
              </a:spcBef>
            </a:pPr>
            <a:r>
              <a:rPr sz="900">
                <a:solidFill>
                  <a:srgbClr val="1A2430"/>
                </a:solidFill>
              </a:rPr>
              <a:t>2025, ACL</a:t>
            </a:r>
            <a:endParaRPr sz="900">
              <a:solidFill>
                <a:srgbClr val="1A2430"/>
              </a:solidFill>
            </a:endParaRPr>
          </a:p>
          <a:p>
            <a:pPr>
              <a:spcBef>
                <a:spcPts val="250"/>
              </a:spcBef>
            </a:pPr>
            <a:r>
              <a:rPr sz="900">
                <a:solidFill>
                  <a:srgbClr val="1A2430"/>
                </a:solidFill>
              </a:rPr>
              <a:t>LLM (GPT-4) sinh 400k mau synthetic, fine-tune BERT</a:t>
            </a:r>
            <a:endParaRPr sz="900">
              <a:solidFill>
                <a:srgbClr val="1A2430"/>
              </a:solidFill>
            </a:endParaRPr>
          </a:p>
          <a:p>
            <a:pPr>
              <a:spcBef>
                <a:spcPts val="250"/>
              </a:spcBef>
            </a:pPr>
            <a:r>
              <a:rPr sz="900">
                <a:solidFill>
                  <a:srgbClr val="1A2430"/>
                </a:solidFill>
              </a:rPr>
              <a:t>GoEmotions: F1-macro 0.55 (cai thien so voi baseline BERT)</a:t>
            </a:r>
            <a:endParaRPr sz="900">
              <a:solidFill>
                <a:srgbClr val="1A2430"/>
              </a:solidFill>
            </a:endParaRPr>
          </a:p>
          <a:p>
            <a:pPr>
              <a:spcBef>
                <a:spcPts val="250"/>
              </a:spcBef>
            </a:pPr>
            <a:r>
              <a:rPr sz="900">
                <a:solidFill>
                  <a:srgbClr val="1A2430"/>
                </a:solidFill>
              </a:rPr>
              <a:t>Du lieu synthetic chat luong giai quyet class imbalance hieu qua</a:t>
            </a:r>
            <a:endParaRPr sz="900">
              <a:solidFill>
                <a:srgbClr val="1A2430"/>
              </a:solidFill>
            </a:endParaRPr>
          </a:p>
          <a:p>
            <a:pPr>
              <a:spcBef>
                <a:spcPts val="250"/>
              </a:spcBef>
            </a:pPr>
            <a:r>
              <a:rPr sz="900">
                <a:solidFill>
                  <a:srgbClr val="1A2430"/>
                </a:solidFill>
              </a:rPr>
              <a:t>Relevance: Huong data augmentation bang LLM co the thu sau</a:t>
            </a:r>
            <a:endParaRPr sz="900">
              <a:solidFill>
                <a:srgbClr val="1A2430"/>
              </a:solidFill>
            </a:endParaRPr>
          </a:p>
        </p:txBody>
      </p:sp>
      <p:sp>
        <p:nvSpPr>
          <p:cNvPr id="12" name="Rectangle 11"/>
          <p:cNvSpPr/>
          <p:nvPr/>
        </p:nvSpPr>
        <p:spPr>
          <a:xfrm>
            <a:off x="8074152" y="1572768"/>
            <a:ext cx="3657600" cy="3886200"/>
          </a:xfrm>
          <a:prstGeom prst="rect">
            <a:avLst/>
          </a:prstGeom>
          <a:solidFill>
            <a:srgbClr val="DFF0FD"/>
          </a:solidFill>
          <a:ln w="1651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11512" y="1655064"/>
            <a:ext cx="1828800" cy="256032"/>
          </a:xfrm>
          <a:prstGeom prst="rect">
            <a:avLst/>
          </a:prstGeom>
          <a:noFill/>
        </p:spPr>
        <p:txBody>
          <a:bodyPr wrap="square">
            <a:spAutoFit/>
          </a:bodyPr>
          <a:lstStyle/>
          <a:p>
            <a:pPr algn="r"/>
            <a:r>
              <a:rPr sz="700" b="1" i="0">
                <a:solidFill>
                  <a:srgbClr val="00B4D8"/>
                </a:solidFill>
              </a:rPr>
              <a:t>Threshold tuning</a:t>
            </a:r>
            <a:endParaRPr sz="700" b="1" i="0">
              <a:solidFill>
                <a:srgbClr val="00B4D8"/>
              </a:solidFill>
            </a:endParaRPr>
          </a:p>
        </p:txBody>
      </p:sp>
      <p:sp>
        <p:nvSpPr>
          <p:cNvPr id="14" name="TextBox 13"/>
          <p:cNvSpPr txBox="1"/>
          <p:nvPr/>
        </p:nvSpPr>
        <p:spPr>
          <a:xfrm>
            <a:off x="8238744" y="1664208"/>
            <a:ext cx="3328416" cy="384048"/>
          </a:xfrm>
          <a:prstGeom prst="rect">
            <a:avLst/>
          </a:prstGeom>
          <a:noFill/>
        </p:spPr>
        <p:txBody>
          <a:bodyPr wrap="square">
            <a:spAutoFit/>
          </a:bodyPr>
          <a:lstStyle/>
          <a:p>
            <a:pPr algn="l"/>
            <a:r>
              <a:rPr sz="1050" b="1" i="0">
                <a:solidFill>
                  <a:srgbClr val="0078C8"/>
                </a:solidFill>
              </a:rPr>
              <a:t>9. LLMs Do Multi-Label Differently</a:t>
            </a:r>
            <a:endParaRPr sz="1050" b="1" i="0">
              <a:solidFill>
                <a:srgbClr val="0078C8"/>
              </a:solidFill>
            </a:endParaRPr>
          </a:p>
        </p:txBody>
      </p:sp>
      <p:sp>
        <p:nvSpPr>
          <p:cNvPr id="15" name="TextBox 14"/>
          <p:cNvSpPr txBox="1"/>
          <p:nvPr/>
        </p:nvSpPr>
        <p:spPr>
          <a:xfrm>
            <a:off x="8238744" y="2084832"/>
            <a:ext cx="3328416" cy="3291840"/>
          </a:xfrm>
          <a:prstGeom prst="rect">
            <a:avLst/>
          </a:prstGeom>
          <a:noFill/>
        </p:spPr>
        <p:txBody>
          <a:bodyPr wrap="square">
            <a:spAutoFit/>
          </a:bodyPr>
          <a:lstStyle/>
          <a:p>
            <a:pPr>
              <a:spcBef>
                <a:spcPts val="250"/>
              </a:spcBef>
            </a:pPr>
            <a:r>
              <a:rPr sz="900">
                <a:solidFill>
                  <a:srgbClr val="1A2430"/>
                </a:solidFill>
              </a:rPr>
              <a:t>2025, EMNLP</a:t>
            </a:r>
            <a:endParaRPr sz="900">
              <a:solidFill>
                <a:srgbClr val="1A2430"/>
              </a:solidFill>
            </a:endParaRPr>
          </a:p>
          <a:p>
            <a:pPr>
              <a:spcBef>
                <a:spcPts val="250"/>
              </a:spcBef>
            </a:pPr>
            <a:r>
              <a:rPr sz="900">
                <a:solidFill>
                  <a:srgbClr val="1A2430"/>
                </a:solidFill>
              </a:rPr>
              <a:t>So sanh LLM vs fine-tuned BERT tren multi-label emotion task</a:t>
            </a:r>
            <a:endParaRPr sz="900">
              <a:solidFill>
                <a:srgbClr val="1A2430"/>
              </a:solidFill>
            </a:endParaRPr>
          </a:p>
          <a:p>
            <a:pPr>
              <a:spcBef>
                <a:spcPts val="250"/>
              </a:spcBef>
            </a:pPr>
            <a:r>
              <a:rPr sz="900">
                <a:solidFill>
                  <a:srgbClr val="1A2430"/>
                </a:solidFill>
              </a:rPr>
              <a:t>Key insight: Per-label threshold: F1 tu 0.27 len 0.43</a:t>
            </a:r>
            <a:endParaRPr sz="900">
              <a:solidFill>
                <a:srgbClr val="1A2430"/>
              </a:solidFill>
            </a:endParaRPr>
          </a:p>
          <a:p>
            <a:pPr>
              <a:spcBef>
                <a:spcPts val="250"/>
              </a:spcBef>
            </a:pPr>
            <a:r>
              <a:rPr sz="900">
                <a:solidFill>
                  <a:srgbClr val="1A2430"/>
                </a:solidFill>
              </a:rPr>
              <a:t>Global threshold 0.5 la suboptimal cho imbalanced multi-label</a:t>
            </a:r>
            <a:endParaRPr sz="900">
              <a:solidFill>
                <a:srgbClr val="1A2430"/>
              </a:solidFill>
            </a:endParaRPr>
          </a:p>
          <a:p>
            <a:pPr>
              <a:spcBef>
                <a:spcPts val="250"/>
              </a:spcBef>
            </a:pPr>
            <a:r>
              <a:rPr sz="900">
                <a:solidFill>
                  <a:srgbClr val="1A2430"/>
                </a:solidFill>
              </a:rPr>
              <a:t>LLM zero-shot canh tranh nhung kem nhat quan hon fine-tuned BERT</a:t>
            </a:r>
            <a:endParaRPr sz="900">
              <a:solidFill>
                <a:srgbClr val="1A2430"/>
              </a:solidFill>
            </a:endParaRPr>
          </a:p>
          <a:p>
            <a:pPr>
              <a:spcBef>
                <a:spcPts val="250"/>
              </a:spcBef>
            </a:pPr>
            <a:r>
              <a:rPr sz="900">
                <a:solidFill>
                  <a:srgbClr val="1A2430"/>
                </a:solidFill>
              </a:rPr>
              <a:t>Relevance: Per-label threshold la buoc implement uu tien cua nhom</a:t>
            </a:r>
            <a:endParaRPr sz="900">
              <a:solidFill>
                <a:srgbClr val="1A2430"/>
              </a:solidFill>
            </a:endParaRPr>
          </a:p>
        </p:txBody>
      </p:sp>
      <p:sp>
        <p:nvSpPr>
          <p:cNvPr id="16" name="Rectangle 15"/>
          <p:cNvSpPr/>
          <p:nvPr/>
        </p:nvSpPr>
        <p:spPr>
          <a:xfrm>
            <a:off x="457200" y="5504688"/>
            <a:ext cx="11274552" cy="1078992"/>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577840"/>
            <a:ext cx="5486400" cy="256032"/>
          </a:xfrm>
          <a:prstGeom prst="rect">
            <a:avLst/>
          </a:prstGeom>
          <a:noFill/>
        </p:spPr>
        <p:txBody>
          <a:bodyPr wrap="square">
            <a:spAutoFit/>
          </a:bodyPr>
          <a:lstStyle/>
          <a:p>
            <a:pPr algn="l"/>
            <a:r>
              <a:rPr sz="750" b="1" i="0">
                <a:solidFill>
                  <a:srgbClr val="00B4D8"/>
                </a:solidFill>
              </a:rPr>
              <a:t>SUY LUAN &amp; DANH GIA (INFER):</a:t>
            </a:r>
            <a:endParaRPr sz="750" b="1" i="0">
              <a:solidFill>
                <a:srgbClr val="00B4D8"/>
              </a:solidFill>
            </a:endParaRPr>
          </a:p>
        </p:txBody>
      </p:sp>
      <p:sp>
        <p:nvSpPr>
          <p:cNvPr id="18" name="TextBox 17"/>
          <p:cNvSpPr txBox="1"/>
          <p:nvPr/>
        </p:nvSpPr>
        <p:spPr>
          <a:xfrm>
            <a:off x="731520" y="5843016"/>
            <a:ext cx="10725912" cy="704088"/>
          </a:xfrm>
          <a:prstGeom prst="rect">
            <a:avLst/>
          </a:prstGeom>
          <a:noFill/>
        </p:spPr>
        <p:txBody>
          <a:bodyPr wrap="square">
            <a:spAutoFit/>
          </a:bodyPr>
          <a:lstStyle/>
          <a:p>
            <a:pPr>
              <a:spcBef>
                <a:spcPts val="250"/>
              </a:spcBef>
            </a:pPr>
            <a:r>
              <a:rPr sz="950">
                <a:solidFill>
                  <a:srgbClr val="FFFFFF"/>
                </a:solidFill>
              </a:rPr>
              <a:t>Hai huong thuc te nhat: (1) thay BCE bang ASL (khong can them data, +0.08 F1 tren GoEmotions), (2) per-label threshold thay vi nguong 0.5 co dinh (F1 tang tu 0.27 len 0.43).</a:t>
            </a:r>
            <a:endParaRPr sz="950">
              <a:solidFill>
                <a:srgbClr val="FFFFFF"/>
              </a:solidFill>
            </a:endParaRPr>
          </a:p>
        </p:txBody>
      </p:sp>
      <p:sp>
        <p:nvSpPr>
          <p:cNvPr id="19" name="TextBox 18"/>
          <p:cNvSpPr txBox="1"/>
          <p:nvPr/>
        </p:nvSpPr>
        <p:spPr>
          <a:xfrm>
            <a:off x="457200" y="6611112"/>
            <a:ext cx="11274552" cy="228600"/>
          </a:xfrm>
          <a:prstGeom prst="rect">
            <a:avLst/>
          </a:prstGeom>
          <a:noFill/>
        </p:spPr>
        <p:txBody>
          <a:bodyPr wrap="square">
            <a:spAutoFit/>
          </a:bodyPr>
          <a:lstStyle/>
          <a:p>
            <a:pPr algn="l"/>
            <a:r>
              <a:rPr sz="700" b="0" i="1">
                <a:solidFill>
                  <a:srgbClr val="6B7C93"/>
                </a:solidFill>
              </a:rPr>
              <a:t>[BERT+ASL, 2025]  |  Ding et al. (2025), ACL 2025  |  [LLMs Multi-label, EMNLP 2025]</a:t>
            </a:r>
            <a:endParaRPr sz="700" b="0" i="1">
              <a:solidFill>
                <a:srgbClr val="6B7C93"/>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74320"/>
            <a:ext cx="11091672" cy="292608"/>
          </a:xfrm>
          <a:prstGeom prst="rect">
            <a:avLst/>
          </a:prstGeom>
          <a:noFill/>
        </p:spPr>
        <p:txBody>
          <a:bodyPr wrap="square">
            <a:spAutoFit/>
          </a:bodyPr>
          <a:lstStyle/>
          <a:p>
            <a:pPr algn="l"/>
            <a:r>
              <a:rPr sz="850" b="1" i="0">
                <a:solidFill>
                  <a:srgbClr val="00B4D8"/>
                </a:solidFill>
              </a:rPr>
              <a:t>NHOM 4. TIEN XU LY VA CHUAN HOA VAN BAN</a:t>
            </a:r>
            <a:endParaRPr sz="850" b="1" i="0">
              <a:solidFill>
                <a:srgbClr val="00B4D8"/>
              </a:solidFill>
            </a:endParaRPr>
          </a:p>
        </p:txBody>
      </p:sp>
      <p:sp>
        <p:nvSpPr>
          <p:cNvPr id="3" name="TextBox 2"/>
          <p:cNvSpPr txBox="1"/>
          <p:nvPr/>
        </p:nvSpPr>
        <p:spPr>
          <a:xfrm>
            <a:off x="548640" y="576072"/>
            <a:ext cx="11091672" cy="914400"/>
          </a:xfrm>
          <a:prstGeom prst="rect">
            <a:avLst/>
          </a:prstGeom>
          <a:noFill/>
        </p:spPr>
        <p:txBody>
          <a:bodyPr wrap="square">
            <a:spAutoFit/>
          </a:bodyPr>
          <a:lstStyle/>
          <a:p>
            <a:pPr algn="l"/>
            <a:r>
              <a:rPr sz="2600" b="1" i="0">
                <a:solidFill>
                  <a:srgbClr val="1A2430"/>
                </a:solidFill>
              </a:rPr>
              <a:t>Vai Tro Cua Preprocessing Trong Vietnamese Social Media NLP</a:t>
            </a:r>
            <a:endParaRPr sz="2600" b="1" i="0">
              <a:solidFill>
                <a:srgbClr val="1A2430"/>
              </a:solidFill>
            </a:endParaRPr>
          </a:p>
        </p:txBody>
      </p:sp>
      <p:sp>
        <p:nvSpPr>
          <p:cNvPr id="4" name="Rectangle 3"/>
          <p:cNvSpPr/>
          <p:nvPr/>
        </p:nvSpPr>
        <p:spPr>
          <a:xfrm>
            <a:off x="457200" y="1572768"/>
            <a:ext cx="5486400" cy="3886200"/>
          </a:xfrm>
          <a:prstGeom prst="rect">
            <a:avLst/>
          </a:prstGeom>
          <a:solidFill>
            <a:srgbClr val="F0F4F8"/>
          </a:solidFill>
          <a:ln w="1651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0" y="1655064"/>
            <a:ext cx="1828800" cy="256032"/>
          </a:xfrm>
          <a:prstGeom prst="rect">
            <a:avLst/>
          </a:prstGeom>
          <a:noFill/>
        </p:spPr>
        <p:txBody>
          <a:bodyPr wrap="square">
            <a:spAutoFit/>
          </a:bodyPr>
          <a:lstStyle/>
          <a:p>
            <a:pPr algn="r"/>
            <a:r>
              <a:rPr sz="700" b="1" i="0">
                <a:solidFill>
                  <a:srgbClr val="6B7C93"/>
                </a:solidFill>
              </a:rPr>
              <a:t>Lexical normalization</a:t>
            </a:r>
            <a:endParaRPr sz="700" b="1" i="0">
              <a:solidFill>
                <a:srgbClr val="6B7C93"/>
              </a:solidFill>
            </a:endParaRPr>
          </a:p>
        </p:txBody>
      </p:sp>
      <p:sp>
        <p:nvSpPr>
          <p:cNvPr id="6" name="TextBox 5"/>
          <p:cNvSpPr txBox="1"/>
          <p:nvPr/>
        </p:nvSpPr>
        <p:spPr>
          <a:xfrm>
            <a:off x="621792" y="1664208"/>
            <a:ext cx="5157216" cy="384048"/>
          </a:xfrm>
          <a:prstGeom prst="rect">
            <a:avLst/>
          </a:prstGeom>
          <a:noFill/>
        </p:spPr>
        <p:txBody>
          <a:bodyPr wrap="square">
            <a:spAutoFit/>
          </a:bodyPr>
          <a:lstStyle/>
          <a:p>
            <a:pPr algn="l"/>
            <a:r>
              <a:rPr sz="1050" b="1" i="0">
                <a:solidFill>
                  <a:srgbClr val="1A2430"/>
                </a:solidFill>
              </a:rPr>
              <a:t>10. ViLexNorm</a:t>
            </a:r>
            <a:endParaRPr sz="1050" b="1" i="0">
              <a:solidFill>
                <a:srgbClr val="1A2430"/>
              </a:solidFill>
            </a:endParaRPr>
          </a:p>
        </p:txBody>
      </p:sp>
      <p:sp>
        <p:nvSpPr>
          <p:cNvPr id="7" name="TextBox 6"/>
          <p:cNvSpPr txBox="1"/>
          <p:nvPr/>
        </p:nvSpPr>
        <p:spPr>
          <a:xfrm>
            <a:off x="621792" y="2084832"/>
            <a:ext cx="5157216" cy="3291840"/>
          </a:xfrm>
          <a:prstGeom prst="rect">
            <a:avLst/>
          </a:prstGeom>
          <a:noFill/>
        </p:spPr>
        <p:txBody>
          <a:bodyPr wrap="square">
            <a:spAutoFit/>
          </a:bodyPr>
          <a:lstStyle/>
          <a:p>
            <a:pPr>
              <a:spcBef>
                <a:spcPts val="250"/>
              </a:spcBef>
            </a:pPr>
            <a:r>
              <a:rPr sz="900">
                <a:solidFill>
                  <a:srgbClr val="1A2430"/>
                </a:solidFill>
              </a:rPr>
              <a:t>2022, COLING</a:t>
            </a:r>
            <a:endParaRPr sz="900">
              <a:solidFill>
                <a:srgbClr val="1A2430"/>
              </a:solidFill>
            </a:endParaRPr>
          </a:p>
          <a:p>
            <a:pPr>
              <a:spcBef>
                <a:spcPts val="250"/>
              </a:spcBef>
            </a:pPr>
            <a:r>
              <a:rPr sz="900">
                <a:solidFill>
                  <a:srgbClr val="1A2430"/>
                </a:solidFill>
              </a:rPr>
              <a:t>Corpus 12.600 cap (slang/teencode -&gt; dang chuan) tu mang xa hoi tieng Viet</a:t>
            </a:r>
            <a:endParaRPr sz="900">
              <a:solidFill>
                <a:srgbClr val="1A2430"/>
              </a:solidFill>
            </a:endParaRPr>
          </a:p>
          <a:p>
            <a:pPr>
              <a:spcBef>
                <a:spcPts val="250"/>
              </a:spcBef>
            </a:pPr>
            <a:r>
              <a:rPr sz="900">
                <a:solidFill>
                  <a:srgbClr val="1A2430"/>
                </a:solidFill>
              </a:rPr>
              <a:t>Vi du: 'ko' -&gt; 'khong', 'mk' -&gt; 'minh', 'bik' -&gt; 'biet', 'nt' -&gt; 'nhan tin'</a:t>
            </a:r>
            <a:endParaRPr sz="900">
              <a:solidFill>
                <a:srgbClr val="1A2430"/>
              </a:solidFill>
            </a:endParaRPr>
          </a:p>
          <a:p>
            <a:pPr>
              <a:spcBef>
                <a:spcPts val="250"/>
              </a:spcBef>
            </a:pPr>
            <a:r>
              <a:rPr sz="900">
                <a:solidFill>
                  <a:srgbClr val="1A2430"/>
                </a:solidFill>
              </a:rPr>
              <a:t>Cung cap tu dien va pipeline lexical normalization (ViSoLex tool)</a:t>
            </a:r>
            <a:endParaRPr sz="900">
              <a:solidFill>
                <a:srgbClr val="1A2430"/>
              </a:solidFill>
            </a:endParaRPr>
          </a:p>
          <a:p>
            <a:pPr>
              <a:spcBef>
                <a:spcPts val="250"/>
              </a:spcBef>
            </a:pPr>
            <a:r>
              <a:rPr sz="900">
                <a:solidFill>
                  <a:srgbClr val="1A2430"/>
                </a:solidFill>
              </a:rPr>
              <a:t>Relevance: Buoc xu ly truoc tokenize bang underthesea</a:t>
            </a:r>
            <a:endParaRPr sz="900">
              <a:solidFill>
                <a:srgbClr val="1A2430"/>
              </a:solidFill>
            </a:endParaRPr>
          </a:p>
          <a:p>
            <a:pPr>
              <a:spcBef>
                <a:spcPts val="250"/>
              </a:spcBef>
            </a:pPr>
            <a:r>
              <a:rPr sz="900">
                <a:solidFill>
                  <a:srgbClr val="1A2430"/>
                </a:solidFill>
              </a:rPr>
              <a:t>Luu y: Ap dung nhe tay, khong xoa het slang co gia tri ngu nghia</a:t>
            </a:r>
            <a:endParaRPr sz="900">
              <a:solidFill>
                <a:srgbClr val="1A2430"/>
              </a:solidFill>
            </a:endParaRPr>
          </a:p>
        </p:txBody>
      </p:sp>
      <p:sp>
        <p:nvSpPr>
          <p:cNvPr id="8" name="Rectangle 7"/>
          <p:cNvSpPr/>
          <p:nvPr/>
        </p:nvSpPr>
        <p:spPr>
          <a:xfrm>
            <a:off x="6062472" y="1572768"/>
            <a:ext cx="5486400" cy="3886200"/>
          </a:xfrm>
          <a:prstGeom prst="rect">
            <a:avLst/>
          </a:prstGeom>
          <a:solidFill>
            <a:srgbClr val="DFF0FD"/>
          </a:solidFill>
          <a:ln w="1651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28632" y="1655064"/>
            <a:ext cx="1828800" cy="256032"/>
          </a:xfrm>
          <a:prstGeom prst="rect">
            <a:avLst/>
          </a:prstGeom>
          <a:noFill/>
        </p:spPr>
        <p:txBody>
          <a:bodyPr wrap="square">
            <a:spAutoFit/>
          </a:bodyPr>
          <a:lstStyle/>
          <a:p>
            <a:pPr algn="r"/>
            <a:r>
              <a:rPr sz="700" b="1" i="0">
                <a:solidFill>
                  <a:srgbClr val="00B4D8"/>
                </a:solidFill>
              </a:rPr>
              <a:t>Thuc nghiem tren dataset</a:t>
            </a:r>
            <a:endParaRPr sz="700" b="1" i="0">
              <a:solidFill>
                <a:srgbClr val="00B4D8"/>
              </a:solidFill>
            </a:endParaRPr>
          </a:p>
        </p:txBody>
      </p:sp>
      <p:sp>
        <p:nvSpPr>
          <p:cNvPr id="10" name="TextBox 9"/>
          <p:cNvSpPr txBox="1"/>
          <p:nvPr/>
        </p:nvSpPr>
        <p:spPr>
          <a:xfrm>
            <a:off x="6227064" y="1664208"/>
            <a:ext cx="5157216" cy="384048"/>
          </a:xfrm>
          <a:prstGeom prst="rect">
            <a:avLst/>
          </a:prstGeom>
          <a:noFill/>
        </p:spPr>
        <p:txBody>
          <a:bodyPr wrap="square">
            <a:spAutoFit/>
          </a:bodyPr>
          <a:lstStyle/>
          <a:p>
            <a:pPr algn="l"/>
            <a:r>
              <a:rPr sz="1050" b="1" i="0">
                <a:solidFill>
                  <a:srgbClr val="0078C8"/>
                </a:solidFill>
              </a:rPr>
              <a:t>So Sanh 3 Kich Ban Preprocessing (ViGoEmotions Paper)</a:t>
            </a:r>
            <a:endParaRPr sz="1050" b="1" i="0">
              <a:solidFill>
                <a:srgbClr val="0078C8"/>
              </a:solidFill>
            </a:endParaRPr>
          </a:p>
        </p:txBody>
      </p:sp>
      <p:sp>
        <p:nvSpPr>
          <p:cNvPr id="11" name="TextBox 10"/>
          <p:cNvSpPr txBox="1"/>
          <p:nvPr/>
        </p:nvSpPr>
        <p:spPr>
          <a:xfrm>
            <a:off x="6227064" y="2084832"/>
            <a:ext cx="5157216" cy="3291840"/>
          </a:xfrm>
          <a:prstGeom prst="rect">
            <a:avLst/>
          </a:prstGeom>
          <a:noFill/>
        </p:spPr>
        <p:txBody>
          <a:bodyPr wrap="square">
            <a:spAutoFit/>
          </a:bodyPr>
          <a:lstStyle/>
          <a:p>
            <a:pPr>
              <a:spcBef>
                <a:spcPts val="250"/>
              </a:spcBef>
            </a:pPr>
            <a:r>
              <a:rPr sz="900">
                <a:solidFill>
                  <a:srgbClr val="1A2430"/>
                </a:solidFill>
              </a:rPr>
              <a:t>Scenario 1 - Giu emoji nguyen: F1-macro CAO NHAT tren tat ca model</a:t>
            </a:r>
            <a:endParaRPr sz="900">
              <a:solidFill>
                <a:srgbClr val="1A2430"/>
              </a:solidFill>
            </a:endParaRPr>
          </a:p>
          <a:p>
            <a:pPr>
              <a:spcBef>
                <a:spcPts val="250"/>
              </a:spcBef>
            </a:pPr>
            <a:r>
              <a:rPr sz="900">
                <a:solidFill>
                  <a:srgbClr val="1A2430"/>
                </a:solidFill>
              </a:rPr>
              <a:t>Scenario 2 - Chuyen emoji thanh text: F1 giam nhe</a:t>
            </a:r>
            <a:endParaRPr sz="900">
              <a:solidFill>
                <a:srgbClr val="1A2430"/>
              </a:solidFill>
            </a:endParaRPr>
          </a:p>
          <a:p>
            <a:pPr>
              <a:spcBef>
                <a:spcPts val="250"/>
              </a:spcBef>
            </a:pPr>
            <a:r>
              <a:rPr sz="900">
                <a:solidFill>
                  <a:srgbClr val="1A2430"/>
                </a:solidFill>
              </a:rPr>
              <a:t>  Li do: nghia emoji phu thuoc van hoa va ngon ngu cong dong cuc ky</a:t>
            </a:r>
            <a:endParaRPr sz="900">
              <a:solidFill>
                <a:srgbClr val="1A2430"/>
              </a:solidFill>
            </a:endParaRPr>
          </a:p>
          <a:p>
            <a:pPr>
              <a:spcBef>
                <a:spcPts val="250"/>
              </a:spcBef>
            </a:pPr>
            <a:r>
              <a:rPr sz="900">
                <a:solidFill>
                  <a:srgbClr val="1A2430"/>
                </a:solidFill>
              </a:rPr>
              <a:t>Scenario 3 - ViSoLex tu dong chuan hoa: Khong cai thien voi ViSoBERT</a:t>
            </a:r>
            <a:endParaRPr sz="900">
              <a:solidFill>
                <a:srgbClr val="1A2430"/>
              </a:solidFill>
            </a:endParaRPr>
          </a:p>
          <a:p>
            <a:pPr>
              <a:spcBef>
                <a:spcPts val="250"/>
              </a:spcBef>
            </a:pPr>
          </a:p>
          <a:p>
            <a:pPr>
              <a:spcBef>
                <a:spcPts val="250"/>
              </a:spcBef>
            </a:pPr>
            <a:r>
              <a:rPr sz="900">
                <a:solidFill>
                  <a:srgbClr val="1A2430"/>
                </a:solidFill>
              </a:rPr>
              <a:t>Giai thich: ViSoBERT pretrain tren social media, tu hieu slang va emoji</a:t>
            </a:r>
            <a:endParaRPr sz="900">
              <a:solidFill>
                <a:srgbClr val="1A2430"/>
              </a:solidFill>
            </a:endParaRPr>
          </a:p>
          <a:p>
            <a:pPr>
              <a:spcBef>
                <a:spcPts val="250"/>
              </a:spcBef>
            </a:pPr>
            <a:r>
              <a:rPr sz="900">
                <a:solidFill>
                  <a:srgbClr val="1A2430"/>
                </a:solidFill>
              </a:rPr>
              <a:t>=&gt; Preprocessing manh tay lam mat thong tin model da hoc trong pretraining</a:t>
            </a:r>
            <a:endParaRPr sz="900">
              <a:solidFill>
                <a:srgbClr val="1A2430"/>
              </a:solidFill>
            </a:endParaRPr>
          </a:p>
        </p:txBody>
      </p:sp>
      <p:sp>
        <p:nvSpPr>
          <p:cNvPr id="12" name="Rectangle 11"/>
          <p:cNvSpPr/>
          <p:nvPr/>
        </p:nvSpPr>
        <p:spPr>
          <a:xfrm>
            <a:off x="457200" y="5504688"/>
            <a:ext cx="11274552" cy="1078992"/>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577840"/>
            <a:ext cx="5486400" cy="256032"/>
          </a:xfrm>
          <a:prstGeom prst="rect">
            <a:avLst/>
          </a:prstGeom>
          <a:noFill/>
        </p:spPr>
        <p:txBody>
          <a:bodyPr wrap="square">
            <a:spAutoFit/>
          </a:bodyPr>
          <a:lstStyle/>
          <a:p>
            <a:pPr algn="l"/>
            <a:r>
              <a:rPr sz="750" b="1" i="0">
                <a:solidFill>
                  <a:srgbClr val="00B4D8"/>
                </a:solidFill>
              </a:rPr>
              <a:t>SUY LUAN &amp; DANH GIA (INFER):</a:t>
            </a:r>
            <a:endParaRPr sz="750" b="1" i="0">
              <a:solidFill>
                <a:srgbClr val="00B4D8"/>
              </a:solidFill>
            </a:endParaRPr>
          </a:p>
        </p:txBody>
      </p:sp>
      <p:sp>
        <p:nvSpPr>
          <p:cNvPr id="14" name="TextBox 13"/>
          <p:cNvSpPr txBox="1"/>
          <p:nvPr/>
        </p:nvSpPr>
        <p:spPr>
          <a:xfrm>
            <a:off x="731520" y="5843016"/>
            <a:ext cx="10725912" cy="704088"/>
          </a:xfrm>
          <a:prstGeom prst="rect">
            <a:avLst/>
          </a:prstGeom>
          <a:noFill/>
        </p:spPr>
        <p:txBody>
          <a:bodyPr wrap="square">
            <a:spAutoFit/>
          </a:bodyPr>
          <a:lstStyle/>
          <a:p>
            <a:pPr>
              <a:spcBef>
                <a:spcPts val="250"/>
              </a:spcBef>
            </a:pPr>
            <a:r>
              <a:rPr sz="950">
                <a:solidFill>
                  <a:srgbClr val="FFFFFF"/>
                </a:solidFill>
              </a:rPr>
              <a:t>Giu nguyen emoji la quyet dinh preprocessing tot nhat, duoc xac nhan bang thuc nghiem. Chuan hoa teencode van can thiet de giam OOV nhung khong ap dung qua manh khi dung ViSoBERT.</a:t>
            </a:r>
            <a:endParaRPr sz="950">
              <a:solidFill>
                <a:srgbClr val="FFFFFF"/>
              </a:solidFill>
            </a:endParaRPr>
          </a:p>
        </p:txBody>
      </p:sp>
      <p:sp>
        <p:nvSpPr>
          <p:cNvPr id="15" name="TextBox 14"/>
          <p:cNvSpPr txBox="1"/>
          <p:nvPr/>
        </p:nvSpPr>
        <p:spPr>
          <a:xfrm>
            <a:off x="457200" y="6611112"/>
            <a:ext cx="11274552" cy="228600"/>
          </a:xfrm>
          <a:prstGeom prst="rect">
            <a:avLst/>
          </a:prstGeom>
          <a:noFill/>
        </p:spPr>
        <p:txBody>
          <a:bodyPr wrap="square">
            <a:spAutoFit/>
          </a:bodyPr>
          <a:lstStyle/>
          <a:p>
            <a:pPr algn="l"/>
            <a:r>
              <a:rPr sz="700" b="0" i="1">
                <a:solidFill>
                  <a:srgbClr val="6B7C93"/>
                </a:solidFill>
              </a:rPr>
              <a:t>Nguyen et al. (2022), COLING 2022  |  Nguyen et al. (2026), EACL 2026 (Table 4, Preprocessing Results)</a:t>
            </a:r>
            <a:endParaRPr sz="700" b="0" i="1">
              <a:solidFill>
                <a:srgbClr val="6B7C93"/>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74320"/>
            <a:ext cx="11091672" cy="292608"/>
          </a:xfrm>
          <a:prstGeom prst="rect">
            <a:avLst/>
          </a:prstGeom>
          <a:noFill/>
        </p:spPr>
        <p:txBody>
          <a:bodyPr wrap="square">
            <a:spAutoFit/>
          </a:bodyPr>
          <a:lstStyle/>
          <a:p>
            <a:pPr algn="l"/>
            <a:r>
              <a:rPr sz="850" b="1" i="0">
                <a:solidFill>
                  <a:srgbClr val="00B4D8"/>
                </a:solidFill>
              </a:rPr>
              <a:t>NHOM 5. RELATED WORK: VIETNAMESE SOCIAL MEDIA NLP</a:t>
            </a:r>
            <a:endParaRPr sz="850" b="1" i="0">
              <a:solidFill>
                <a:srgbClr val="00B4D8"/>
              </a:solidFill>
            </a:endParaRPr>
          </a:p>
        </p:txBody>
      </p:sp>
      <p:sp>
        <p:nvSpPr>
          <p:cNvPr id="3" name="TextBox 2"/>
          <p:cNvSpPr txBox="1"/>
          <p:nvPr/>
        </p:nvSpPr>
        <p:spPr>
          <a:xfrm>
            <a:off x="548640" y="576072"/>
            <a:ext cx="11091672" cy="914400"/>
          </a:xfrm>
          <a:prstGeom prst="rect">
            <a:avLst/>
          </a:prstGeom>
          <a:noFill/>
        </p:spPr>
        <p:txBody>
          <a:bodyPr wrap="square">
            <a:spAutoFit/>
          </a:bodyPr>
          <a:lstStyle/>
          <a:p>
            <a:pPr algn="l"/>
            <a:r>
              <a:rPr sz="2600" b="1" i="0">
                <a:solidFill>
                  <a:srgbClr val="1A2430"/>
                </a:solidFill>
              </a:rPr>
              <a:t>Nghien Cuu Gan Nhat Tren Vietnamese Social Media Text</a:t>
            </a:r>
            <a:endParaRPr sz="2600" b="1" i="0">
              <a:solidFill>
                <a:srgbClr val="1A2430"/>
              </a:solidFill>
            </a:endParaRPr>
          </a:p>
        </p:txBody>
      </p:sp>
      <p:sp>
        <p:nvSpPr>
          <p:cNvPr id="4" name="Rectangle 3"/>
          <p:cNvSpPr/>
          <p:nvPr/>
        </p:nvSpPr>
        <p:spPr>
          <a:xfrm>
            <a:off x="457200" y="1572768"/>
            <a:ext cx="5486400" cy="3886200"/>
          </a:xfrm>
          <a:prstGeom prst="rect">
            <a:avLst/>
          </a:prstGeom>
          <a:solidFill>
            <a:srgbClr val="F0F4F8"/>
          </a:solidFill>
          <a:ln w="1651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0" y="1655064"/>
            <a:ext cx="1828800" cy="256032"/>
          </a:xfrm>
          <a:prstGeom prst="rect">
            <a:avLst/>
          </a:prstGeom>
          <a:noFill/>
        </p:spPr>
        <p:txBody>
          <a:bodyPr wrap="square">
            <a:spAutoFit/>
          </a:bodyPr>
          <a:lstStyle/>
          <a:p>
            <a:pPr algn="r"/>
            <a:r>
              <a:rPr sz="700" b="1" i="0">
                <a:solidFill>
                  <a:srgbClr val="6B7C93"/>
                </a:solidFill>
              </a:rPr>
              <a:t>Hate speech detection</a:t>
            </a:r>
            <a:endParaRPr sz="700" b="1" i="0">
              <a:solidFill>
                <a:srgbClr val="6B7C93"/>
              </a:solidFill>
            </a:endParaRPr>
          </a:p>
        </p:txBody>
      </p:sp>
      <p:sp>
        <p:nvSpPr>
          <p:cNvPr id="6" name="TextBox 5"/>
          <p:cNvSpPr txBox="1"/>
          <p:nvPr/>
        </p:nvSpPr>
        <p:spPr>
          <a:xfrm>
            <a:off x="621792" y="1664208"/>
            <a:ext cx="5157216" cy="384048"/>
          </a:xfrm>
          <a:prstGeom prst="rect">
            <a:avLst/>
          </a:prstGeom>
          <a:noFill/>
        </p:spPr>
        <p:txBody>
          <a:bodyPr wrap="square">
            <a:spAutoFit/>
          </a:bodyPr>
          <a:lstStyle/>
          <a:p>
            <a:pPr algn="l"/>
            <a:r>
              <a:rPr sz="1050" b="1" i="0">
                <a:solidFill>
                  <a:srgbClr val="1A2430"/>
                </a:solidFill>
              </a:rPr>
              <a:t>11. ViHateT5</a:t>
            </a:r>
            <a:endParaRPr sz="1050" b="1" i="0">
              <a:solidFill>
                <a:srgbClr val="1A2430"/>
              </a:solidFill>
            </a:endParaRPr>
          </a:p>
        </p:txBody>
      </p:sp>
      <p:sp>
        <p:nvSpPr>
          <p:cNvPr id="7" name="TextBox 6"/>
          <p:cNvSpPr txBox="1"/>
          <p:nvPr/>
        </p:nvSpPr>
        <p:spPr>
          <a:xfrm>
            <a:off x="621792" y="2084832"/>
            <a:ext cx="5157216" cy="3291840"/>
          </a:xfrm>
          <a:prstGeom prst="rect">
            <a:avLst/>
          </a:prstGeom>
          <a:noFill/>
        </p:spPr>
        <p:txBody>
          <a:bodyPr wrap="square">
            <a:spAutoFit/>
          </a:bodyPr>
          <a:lstStyle/>
          <a:p>
            <a:pPr>
              <a:spcBef>
                <a:spcPts val="250"/>
              </a:spcBef>
            </a:pPr>
            <a:r>
              <a:rPr sz="900">
                <a:solidFill>
                  <a:srgbClr val="1A2430"/>
                </a:solidFill>
              </a:rPr>
              <a:t>2024, ACL</a:t>
            </a:r>
            <a:endParaRPr sz="900">
              <a:solidFill>
                <a:srgbClr val="1A2430"/>
              </a:solidFill>
            </a:endParaRPr>
          </a:p>
          <a:p>
            <a:pPr>
              <a:spcBef>
                <a:spcPts val="250"/>
              </a:spcBef>
            </a:pPr>
            <a:r>
              <a:rPr sz="900">
                <a:solidFill>
                  <a:srgbClr val="1A2430"/>
                </a:solidFill>
              </a:rPr>
              <a:t>T5 encoder-decoder fine-tune cho phat hien ngon ngu thu ghet tieng Viet</a:t>
            </a:r>
            <a:endParaRPr sz="900">
              <a:solidFill>
                <a:srgbClr val="1A2430"/>
              </a:solidFill>
            </a:endParaRPr>
          </a:p>
          <a:p>
            <a:pPr>
              <a:spcBef>
                <a:spcPts val="250"/>
              </a:spcBef>
            </a:pPr>
            <a:r>
              <a:rPr sz="900">
                <a:solidFill>
                  <a:srgbClr val="1A2430"/>
                </a:solidFill>
              </a:rPr>
              <a:t>Dataset: binh luan mang xa hoi tieng Viet (cung domain voi ViGoEmotions)</a:t>
            </a:r>
            <a:endParaRPr sz="900">
              <a:solidFill>
                <a:srgbClr val="1A2430"/>
              </a:solidFill>
            </a:endParaRPr>
          </a:p>
          <a:p>
            <a:pPr>
              <a:spcBef>
                <a:spcPts val="250"/>
              </a:spcBef>
            </a:pPr>
            <a:r>
              <a:rPr sz="900">
                <a:solidFill>
                  <a:srgbClr val="1A2430"/>
                </a:solidFill>
              </a:rPr>
              <a:t>Phat hien bat ngo: oversampling LAM GIAM performance tren hate speech</a:t>
            </a:r>
            <a:endParaRPr sz="900">
              <a:solidFill>
                <a:srgbClr val="1A2430"/>
              </a:solidFill>
            </a:endParaRPr>
          </a:p>
          <a:p>
            <a:pPr>
              <a:spcBef>
                <a:spcPts val="250"/>
              </a:spcBef>
            </a:pPr>
            <a:r>
              <a:rPr sz="900">
                <a:solidFill>
                  <a:srgbClr val="1A2430"/>
                </a:solidFill>
              </a:rPr>
              <a:t>=&gt; Nen giu phan phoi tu nhien, khong can thiet phai can bang du lieu</a:t>
            </a:r>
            <a:endParaRPr sz="900">
              <a:solidFill>
                <a:srgbClr val="1A2430"/>
              </a:solidFill>
            </a:endParaRPr>
          </a:p>
          <a:p>
            <a:pPr>
              <a:spcBef>
                <a:spcPts val="250"/>
              </a:spcBef>
            </a:pPr>
            <a:r>
              <a:rPr sz="900">
                <a:solidFill>
                  <a:srgbClr val="1A2430"/>
                </a:solidFill>
              </a:rPr>
              <a:t>Relevance: Cung domain, ket luan ve data balancing co gia tri tham chieu</a:t>
            </a:r>
            <a:endParaRPr sz="900">
              <a:solidFill>
                <a:srgbClr val="1A2430"/>
              </a:solidFill>
            </a:endParaRPr>
          </a:p>
        </p:txBody>
      </p:sp>
      <p:sp>
        <p:nvSpPr>
          <p:cNvPr id="8" name="Rectangle 7"/>
          <p:cNvSpPr/>
          <p:nvPr/>
        </p:nvSpPr>
        <p:spPr>
          <a:xfrm>
            <a:off x="6062472" y="1572768"/>
            <a:ext cx="5486400" cy="3886200"/>
          </a:xfrm>
          <a:prstGeom prst="rect">
            <a:avLst/>
          </a:prstGeom>
          <a:solidFill>
            <a:srgbClr val="F0F4F8"/>
          </a:solidFill>
          <a:ln w="1651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28632" y="1655064"/>
            <a:ext cx="1828800" cy="256032"/>
          </a:xfrm>
          <a:prstGeom prst="rect">
            <a:avLst/>
          </a:prstGeom>
          <a:noFill/>
        </p:spPr>
        <p:txBody>
          <a:bodyPr wrap="square">
            <a:spAutoFit/>
          </a:bodyPr>
          <a:lstStyle/>
          <a:p>
            <a:pPr algn="r"/>
            <a:r>
              <a:rPr sz="700" b="1" i="0">
                <a:solidFill>
                  <a:srgbClr val="6B7C93"/>
                </a:solidFill>
              </a:rPr>
              <a:t>Target-oriented</a:t>
            </a:r>
            <a:endParaRPr sz="700" b="1" i="0">
              <a:solidFill>
                <a:srgbClr val="6B7C93"/>
              </a:solidFill>
            </a:endParaRPr>
          </a:p>
        </p:txBody>
      </p:sp>
      <p:sp>
        <p:nvSpPr>
          <p:cNvPr id="10" name="TextBox 9"/>
          <p:cNvSpPr txBox="1"/>
          <p:nvPr/>
        </p:nvSpPr>
        <p:spPr>
          <a:xfrm>
            <a:off x="6227064" y="1664208"/>
            <a:ext cx="5157216" cy="384048"/>
          </a:xfrm>
          <a:prstGeom prst="rect">
            <a:avLst/>
          </a:prstGeom>
          <a:noFill/>
        </p:spPr>
        <p:txBody>
          <a:bodyPr wrap="square">
            <a:spAutoFit/>
          </a:bodyPr>
          <a:lstStyle/>
          <a:p>
            <a:pPr algn="l"/>
            <a:r>
              <a:rPr sz="1050" b="1" i="0">
                <a:solidFill>
                  <a:srgbClr val="1A2430"/>
                </a:solidFill>
              </a:rPr>
              <a:t>3. ViTOED (xem them Slide 3)</a:t>
            </a:r>
            <a:endParaRPr sz="1050" b="1" i="0">
              <a:solidFill>
                <a:srgbClr val="1A2430"/>
              </a:solidFill>
            </a:endParaRPr>
          </a:p>
        </p:txBody>
      </p:sp>
      <p:sp>
        <p:nvSpPr>
          <p:cNvPr id="11" name="TextBox 10"/>
          <p:cNvSpPr txBox="1"/>
          <p:nvPr/>
        </p:nvSpPr>
        <p:spPr>
          <a:xfrm>
            <a:off x="6227064" y="2084832"/>
            <a:ext cx="5157216" cy="3291840"/>
          </a:xfrm>
          <a:prstGeom prst="rect">
            <a:avLst/>
          </a:prstGeom>
          <a:noFill/>
        </p:spPr>
        <p:txBody>
          <a:bodyPr wrap="square">
            <a:spAutoFit/>
          </a:bodyPr>
          <a:lstStyle/>
          <a:p>
            <a:pPr>
              <a:spcBef>
                <a:spcPts val="250"/>
              </a:spcBef>
            </a:pPr>
            <a:r>
              <a:rPr sz="900">
                <a:solidFill>
                  <a:srgbClr val="1A2430"/>
                </a:solidFill>
              </a:rPr>
              <a:t>2026, arXiv (giang vien cung cap kem dataset)</a:t>
            </a:r>
            <a:endParaRPr sz="900">
              <a:solidFill>
                <a:srgbClr val="1A2430"/>
              </a:solidFill>
            </a:endParaRPr>
          </a:p>
          <a:p>
            <a:pPr>
              <a:spcBef>
                <a:spcPts val="250"/>
              </a:spcBef>
            </a:pPr>
            <a:r>
              <a:rPr sz="900">
                <a:solidFill>
                  <a:srgbClr val="1A2430"/>
                </a:solidFill>
              </a:rPr>
              <a:t>10.985 cau, 21.244 bo tu (source, target, expression, polarity)</a:t>
            </a:r>
            <a:endParaRPr sz="900">
              <a:solidFill>
                <a:srgbClr val="1A2430"/>
              </a:solidFill>
            </a:endParaRPr>
          </a:p>
          <a:p>
            <a:pPr>
              <a:spcBef>
                <a:spcPts val="250"/>
              </a:spcBef>
            </a:pPr>
            <a:r>
              <a:rPr sz="900">
                <a:solidFill>
                  <a:srgbClr val="1A2430"/>
                </a:solidFill>
              </a:rPr>
              <a:t>Task ABSA: cam xuc huong den doi tuong cu the trong cau</a:t>
            </a:r>
            <a:endParaRPr sz="900">
              <a:solidFill>
                <a:srgbClr val="1A2430"/>
              </a:solidFill>
            </a:endParaRPr>
          </a:p>
          <a:p>
            <a:pPr>
              <a:spcBef>
                <a:spcPts val="250"/>
              </a:spcBef>
            </a:pPr>
            <a:r>
              <a:rPr sz="900">
                <a:solidFill>
                  <a:srgbClr val="1A2430"/>
                </a:solidFill>
              </a:rPr>
              <a:t>Khac voi project: ABSA vs document-level multi-label classification</a:t>
            </a:r>
            <a:endParaRPr sz="900">
              <a:solidFill>
                <a:srgbClr val="1A2430"/>
              </a:solidFill>
            </a:endParaRPr>
          </a:p>
          <a:p>
            <a:pPr>
              <a:spcBef>
                <a:spcPts val="250"/>
              </a:spcBef>
            </a:pPr>
            <a:r>
              <a:rPr sz="900">
                <a:solidFill>
                  <a:srgbClr val="1A2430"/>
                </a:solidFill>
              </a:rPr>
              <a:t>Xac nhan: Vietnamese emotion detection la research area dang hot</a:t>
            </a:r>
            <a:endParaRPr sz="900">
              <a:solidFill>
                <a:srgbClr val="1A2430"/>
              </a:solidFill>
            </a:endParaRPr>
          </a:p>
          <a:p>
            <a:pPr>
              <a:spcBef>
                <a:spcPts val="250"/>
              </a:spcBef>
            </a:pPr>
            <a:r>
              <a:rPr sz="900">
                <a:solidFill>
                  <a:srgbClr val="1A2430"/>
                </a:solidFill>
              </a:rPr>
              <a:t>2 paper 2026 trong cung domain = linh vuc dang duoc quan tam manh</a:t>
            </a:r>
            <a:endParaRPr sz="900">
              <a:solidFill>
                <a:srgbClr val="1A2430"/>
              </a:solidFill>
            </a:endParaRPr>
          </a:p>
        </p:txBody>
      </p:sp>
      <p:sp>
        <p:nvSpPr>
          <p:cNvPr id="12" name="Rectangle 11"/>
          <p:cNvSpPr/>
          <p:nvPr/>
        </p:nvSpPr>
        <p:spPr>
          <a:xfrm>
            <a:off x="457200" y="5504688"/>
            <a:ext cx="11274552" cy="1078992"/>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577840"/>
            <a:ext cx="5486400" cy="256032"/>
          </a:xfrm>
          <a:prstGeom prst="rect">
            <a:avLst/>
          </a:prstGeom>
          <a:noFill/>
        </p:spPr>
        <p:txBody>
          <a:bodyPr wrap="square">
            <a:spAutoFit/>
          </a:bodyPr>
          <a:lstStyle/>
          <a:p>
            <a:pPr algn="l"/>
            <a:r>
              <a:rPr sz="750" b="1" i="0">
                <a:solidFill>
                  <a:srgbClr val="00B4D8"/>
                </a:solidFill>
              </a:rPr>
              <a:t>SUY LUAN &amp; DANH GIA (INFER):</a:t>
            </a:r>
            <a:endParaRPr sz="750" b="1" i="0">
              <a:solidFill>
                <a:srgbClr val="00B4D8"/>
              </a:solidFill>
            </a:endParaRPr>
          </a:p>
        </p:txBody>
      </p:sp>
      <p:sp>
        <p:nvSpPr>
          <p:cNvPr id="14" name="TextBox 13"/>
          <p:cNvSpPr txBox="1"/>
          <p:nvPr/>
        </p:nvSpPr>
        <p:spPr>
          <a:xfrm>
            <a:off x="731520" y="5843016"/>
            <a:ext cx="10725912" cy="704088"/>
          </a:xfrm>
          <a:prstGeom prst="rect">
            <a:avLst/>
          </a:prstGeom>
          <a:noFill/>
        </p:spPr>
        <p:txBody>
          <a:bodyPr wrap="square">
            <a:spAutoFit/>
          </a:bodyPr>
          <a:lstStyle/>
          <a:p>
            <a:pPr>
              <a:spcBef>
                <a:spcPts val="250"/>
              </a:spcBef>
            </a:pPr>
            <a:r>
              <a:rPr sz="950">
                <a:solidFill>
                  <a:srgbClr val="FFFFFF"/>
                </a:solidFill>
              </a:rPr>
              <a:t>Vietnamese social media NLP phat trien nhanh: 2 paper 2026 cung domain. Ket luan tu ViHateT5 (khong oversample) can kiem chung voi 27-class setting, nhung la diem khoi dau quan trong.</a:t>
            </a:r>
            <a:endParaRPr sz="950">
              <a:solidFill>
                <a:srgbClr val="FFFFFF"/>
              </a:solidFill>
            </a:endParaRPr>
          </a:p>
        </p:txBody>
      </p:sp>
      <p:sp>
        <p:nvSpPr>
          <p:cNvPr id="15" name="TextBox 14"/>
          <p:cNvSpPr txBox="1"/>
          <p:nvPr/>
        </p:nvSpPr>
        <p:spPr>
          <a:xfrm>
            <a:off x="457200" y="6611112"/>
            <a:ext cx="11274552" cy="228600"/>
          </a:xfrm>
          <a:prstGeom prst="rect">
            <a:avLst/>
          </a:prstGeom>
          <a:noFill/>
        </p:spPr>
        <p:txBody>
          <a:bodyPr wrap="square">
            <a:spAutoFit/>
          </a:bodyPr>
          <a:lstStyle/>
          <a:p>
            <a:pPr algn="l"/>
            <a:r>
              <a:rPr sz="700" b="0" i="1">
                <a:solidFill>
                  <a:srgbClr val="6B7C93"/>
                </a:solidFill>
              </a:rPr>
              <a:t>Luu et al. (2024), ACL 2024  |  Tran et al. (2026), arXiv 2026</a:t>
            </a:r>
            <a:endParaRPr sz="700" b="0" i="1">
              <a:solidFill>
                <a:srgbClr val="6B7C93"/>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74320"/>
            <a:ext cx="11091672" cy="292608"/>
          </a:xfrm>
          <a:prstGeom prst="rect">
            <a:avLst/>
          </a:prstGeom>
          <a:noFill/>
        </p:spPr>
        <p:txBody>
          <a:bodyPr wrap="square">
            <a:spAutoFit/>
          </a:bodyPr>
          <a:lstStyle/>
          <a:p>
            <a:pPr algn="l"/>
            <a:r>
              <a:rPr sz="850" b="1" i="0">
                <a:solidFill>
                  <a:srgbClr val="00B4D8"/>
                </a:solidFill>
              </a:rPr>
              <a:t>XAC DINH KHOANG TRONG NGHIEN CUU</a:t>
            </a:r>
            <a:endParaRPr sz="850" b="1" i="0">
              <a:solidFill>
                <a:srgbClr val="00B4D8"/>
              </a:solidFill>
            </a:endParaRPr>
          </a:p>
        </p:txBody>
      </p:sp>
      <p:sp>
        <p:nvSpPr>
          <p:cNvPr id="3" name="TextBox 2"/>
          <p:cNvSpPr txBox="1"/>
          <p:nvPr/>
        </p:nvSpPr>
        <p:spPr>
          <a:xfrm>
            <a:off x="548640" y="576072"/>
            <a:ext cx="11091672" cy="914400"/>
          </a:xfrm>
          <a:prstGeom prst="rect">
            <a:avLst/>
          </a:prstGeom>
          <a:noFill/>
        </p:spPr>
        <p:txBody>
          <a:bodyPr wrap="square">
            <a:spAutoFit/>
          </a:bodyPr>
          <a:lstStyle/>
          <a:p>
            <a:pPr algn="l"/>
            <a:r>
              <a:rPr sz="2600" b="1" i="0">
                <a:solidFill>
                  <a:srgbClr val="1A2430"/>
                </a:solidFill>
              </a:rPr>
              <a:t>Gap Ma Nhom Dang Lap Day</a:t>
            </a:r>
            <a:endParaRPr sz="2600" b="1" i="0">
              <a:solidFill>
                <a:srgbClr val="1A2430"/>
              </a:solidFill>
            </a:endParaRPr>
          </a:p>
        </p:txBody>
      </p:sp>
      <p:sp>
        <p:nvSpPr>
          <p:cNvPr id="4" name="Rectangle 3"/>
          <p:cNvSpPr/>
          <p:nvPr/>
        </p:nvSpPr>
        <p:spPr>
          <a:xfrm>
            <a:off x="457200" y="1481328"/>
            <a:ext cx="2834640" cy="38404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54480"/>
            <a:ext cx="2724912" cy="310896"/>
          </a:xfrm>
          <a:prstGeom prst="rect">
            <a:avLst/>
          </a:prstGeom>
          <a:noFill/>
        </p:spPr>
        <p:txBody>
          <a:bodyPr wrap="square">
            <a:spAutoFit/>
          </a:bodyPr>
          <a:lstStyle/>
          <a:p>
            <a:pPr algn="l"/>
            <a:r>
              <a:rPr sz="950" b="1" i="0">
                <a:solidFill>
                  <a:srgbClr val="FFFFFF"/>
                </a:solidFill>
              </a:rPr>
              <a:t>Paper</a:t>
            </a:r>
            <a:endParaRPr sz="950" b="1" i="0">
              <a:solidFill>
                <a:srgbClr val="FFFFFF"/>
              </a:solidFill>
            </a:endParaRPr>
          </a:p>
        </p:txBody>
      </p:sp>
      <p:sp>
        <p:nvSpPr>
          <p:cNvPr id="6" name="Rectangle 5"/>
          <p:cNvSpPr/>
          <p:nvPr/>
        </p:nvSpPr>
        <p:spPr>
          <a:xfrm>
            <a:off x="3342132" y="1481328"/>
            <a:ext cx="1691640" cy="38404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33572" y="1554480"/>
            <a:ext cx="1581912" cy="310896"/>
          </a:xfrm>
          <a:prstGeom prst="rect">
            <a:avLst/>
          </a:prstGeom>
          <a:noFill/>
        </p:spPr>
        <p:txBody>
          <a:bodyPr wrap="square">
            <a:spAutoFit/>
          </a:bodyPr>
          <a:lstStyle/>
          <a:p>
            <a:pPr algn="l"/>
            <a:r>
              <a:rPr sz="950" b="1" i="0">
                <a:solidFill>
                  <a:srgbClr val="FFFFFF"/>
                </a:solidFill>
              </a:rPr>
              <a:t>Tieng Viet</a:t>
            </a:r>
            <a:endParaRPr sz="950" b="1" i="0">
              <a:solidFill>
                <a:srgbClr val="FFFFFF"/>
              </a:solidFill>
            </a:endParaRPr>
          </a:p>
        </p:txBody>
      </p:sp>
      <p:sp>
        <p:nvSpPr>
          <p:cNvPr id="8" name="Rectangle 7"/>
          <p:cNvSpPr/>
          <p:nvPr/>
        </p:nvSpPr>
        <p:spPr>
          <a:xfrm>
            <a:off x="5084064" y="1481328"/>
            <a:ext cx="1691640" cy="38404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75504" y="1554480"/>
            <a:ext cx="1581912" cy="310896"/>
          </a:xfrm>
          <a:prstGeom prst="rect">
            <a:avLst/>
          </a:prstGeom>
          <a:noFill/>
        </p:spPr>
        <p:txBody>
          <a:bodyPr wrap="square">
            <a:spAutoFit/>
          </a:bodyPr>
          <a:lstStyle/>
          <a:p>
            <a:pPr algn="l"/>
            <a:r>
              <a:rPr sz="950" b="1" i="0">
                <a:solidFill>
                  <a:srgbClr val="FFFFFF"/>
                </a:solidFill>
              </a:rPr>
              <a:t>27 Nhan</a:t>
            </a:r>
            <a:endParaRPr sz="950" b="1" i="0">
              <a:solidFill>
                <a:srgbClr val="FFFFFF"/>
              </a:solidFill>
            </a:endParaRPr>
          </a:p>
        </p:txBody>
      </p:sp>
      <p:sp>
        <p:nvSpPr>
          <p:cNvPr id="10" name="Rectangle 9"/>
          <p:cNvSpPr/>
          <p:nvPr/>
        </p:nvSpPr>
        <p:spPr>
          <a:xfrm>
            <a:off x="6825996" y="1481328"/>
            <a:ext cx="1691640" cy="38404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17436" y="1554480"/>
            <a:ext cx="1581912" cy="310896"/>
          </a:xfrm>
          <a:prstGeom prst="rect">
            <a:avLst/>
          </a:prstGeom>
          <a:noFill/>
        </p:spPr>
        <p:txBody>
          <a:bodyPr wrap="square">
            <a:spAutoFit/>
          </a:bodyPr>
          <a:lstStyle/>
          <a:p>
            <a:pPr algn="l"/>
            <a:r>
              <a:rPr sz="950" b="1" i="0">
                <a:solidFill>
                  <a:srgbClr val="FFFFFF"/>
                </a:solidFill>
              </a:rPr>
              <a:t>Multi-label</a:t>
            </a:r>
            <a:endParaRPr sz="950" b="1" i="0">
              <a:solidFill>
                <a:srgbClr val="FFFFFF"/>
              </a:solidFill>
            </a:endParaRPr>
          </a:p>
        </p:txBody>
      </p:sp>
      <p:sp>
        <p:nvSpPr>
          <p:cNvPr id="12" name="Rectangle 11"/>
          <p:cNvSpPr/>
          <p:nvPr/>
        </p:nvSpPr>
        <p:spPr>
          <a:xfrm>
            <a:off x="8567928" y="1481328"/>
            <a:ext cx="2697480" cy="38404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59368" y="1554480"/>
            <a:ext cx="2587752" cy="310896"/>
          </a:xfrm>
          <a:prstGeom prst="rect">
            <a:avLst/>
          </a:prstGeom>
          <a:noFill/>
        </p:spPr>
        <p:txBody>
          <a:bodyPr wrap="square">
            <a:spAutoFit/>
          </a:bodyPr>
          <a:lstStyle/>
          <a:p>
            <a:pPr algn="l"/>
            <a:r>
              <a:rPr sz="950" b="1" i="0">
                <a:solidFill>
                  <a:srgbClr val="FFFFFF"/>
                </a:solidFill>
              </a:rPr>
              <a:t>So Sanh Preprocessing</a:t>
            </a:r>
            <a:endParaRPr sz="950" b="1" i="0">
              <a:solidFill>
                <a:srgbClr val="FFFFFF"/>
              </a:solidFill>
            </a:endParaRPr>
          </a:p>
        </p:txBody>
      </p:sp>
      <p:sp>
        <p:nvSpPr>
          <p:cNvPr id="14" name="Rectangle 13"/>
          <p:cNvSpPr/>
          <p:nvPr/>
        </p:nvSpPr>
        <p:spPr>
          <a:xfrm>
            <a:off x="457200" y="1865376"/>
            <a:ext cx="2834640" cy="457200"/>
          </a:xfrm>
          <a:prstGeom prst="rect">
            <a:avLst/>
          </a:prstGeom>
          <a:solidFill>
            <a:srgbClr val="F0F4F8"/>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1975104"/>
            <a:ext cx="2724912" cy="365760"/>
          </a:xfrm>
          <a:prstGeom prst="rect">
            <a:avLst/>
          </a:prstGeom>
          <a:noFill/>
        </p:spPr>
        <p:txBody>
          <a:bodyPr wrap="square">
            <a:spAutoFit/>
          </a:bodyPr>
          <a:lstStyle/>
          <a:p>
            <a:pPr algn="l"/>
            <a:r>
              <a:rPr sz="900" b="0" i="0">
                <a:solidFill>
                  <a:srgbClr val="1A2430"/>
                </a:solidFill>
              </a:rPr>
              <a:t>GoEmotions (2020)</a:t>
            </a:r>
            <a:endParaRPr sz="900" b="0" i="0">
              <a:solidFill>
                <a:srgbClr val="1A2430"/>
              </a:solidFill>
            </a:endParaRPr>
          </a:p>
        </p:txBody>
      </p:sp>
      <p:sp>
        <p:nvSpPr>
          <p:cNvPr id="16" name="Rectangle 15"/>
          <p:cNvSpPr/>
          <p:nvPr/>
        </p:nvSpPr>
        <p:spPr>
          <a:xfrm>
            <a:off x="3342132" y="1865376"/>
            <a:ext cx="1691640" cy="457200"/>
          </a:xfrm>
          <a:prstGeom prst="rect">
            <a:avLst/>
          </a:prstGeom>
          <a:solidFill>
            <a:srgbClr val="F0F4F8"/>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33572" y="1975104"/>
            <a:ext cx="1581912" cy="365760"/>
          </a:xfrm>
          <a:prstGeom prst="rect">
            <a:avLst/>
          </a:prstGeom>
          <a:noFill/>
        </p:spPr>
        <p:txBody>
          <a:bodyPr wrap="square">
            <a:spAutoFit/>
          </a:bodyPr>
          <a:lstStyle/>
          <a:p>
            <a:pPr algn="l"/>
            <a:r>
              <a:rPr sz="900" b="0" i="0">
                <a:solidFill>
                  <a:srgbClr val="CC3030"/>
                </a:solidFill>
              </a:rPr>
              <a:t>X</a:t>
            </a:r>
            <a:endParaRPr sz="900" b="0" i="0">
              <a:solidFill>
                <a:srgbClr val="CC3030"/>
              </a:solidFill>
            </a:endParaRPr>
          </a:p>
        </p:txBody>
      </p:sp>
      <p:sp>
        <p:nvSpPr>
          <p:cNvPr id="18" name="Rectangle 17"/>
          <p:cNvSpPr/>
          <p:nvPr/>
        </p:nvSpPr>
        <p:spPr>
          <a:xfrm>
            <a:off x="5084064" y="1865376"/>
            <a:ext cx="1691640" cy="457200"/>
          </a:xfrm>
          <a:prstGeom prst="rect">
            <a:avLst/>
          </a:prstGeom>
          <a:solidFill>
            <a:srgbClr val="F0F4F8"/>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75504" y="1975104"/>
            <a:ext cx="1581912" cy="365760"/>
          </a:xfrm>
          <a:prstGeom prst="rect">
            <a:avLst/>
          </a:prstGeom>
          <a:noFill/>
        </p:spPr>
        <p:txBody>
          <a:bodyPr wrap="square">
            <a:spAutoFit/>
          </a:bodyPr>
          <a:lstStyle/>
          <a:p>
            <a:pPr algn="l"/>
            <a:r>
              <a:rPr sz="900" b="0" i="0">
                <a:solidFill>
                  <a:srgbClr val="00B878"/>
                </a:solidFill>
              </a:rPr>
              <a:t>Co</a:t>
            </a:r>
            <a:endParaRPr sz="900" b="0" i="0">
              <a:solidFill>
                <a:srgbClr val="00B878"/>
              </a:solidFill>
            </a:endParaRPr>
          </a:p>
        </p:txBody>
      </p:sp>
      <p:sp>
        <p:nvSpPr>
          <p:cNvPr id="20" name="Rectangle 19"/>
          <p:cNvSpPr/>
          <p:nvPr/>
        </p:nvSpPr>
        <p:spPr>
          <a:xfrm>
            <a:off x="6825996" y="1865376"/>
            <a:ext cx="1691640" cy="457200"/>
          </a:xfrm>
          <a:prstGeom prst="rect">
            <a:avLst/>
          </a:prstGeom>
          <a:solidFill>
            <a:srgbClr val="F0F4F8"/>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17436" y="1975104"/>
            <a:ext cx="1581912" cy="365760"/>
          </a:xfrm>
          <a:prstGeom prst="rect">
            <a:avLst/>
          </a:prstGeom>
          <a:noFill/>
        </p:spPr>
        <p:txBody>
          <a:bodyPr wrap="square">
            <a:spAutoFit/>
          </a:bodyPr>
          <a:lstStyle/>
          <a:p>
            <a:pPr algn="l"/>
            <a:r>
              <a:rPr sz="900" b="0" i="0">
                <a:solidFill>
                  <a:srgbClr val="00B878"/>
                </a:solidFill>
              </a:rPr>
              <a:t>Co</a:t>
            </a:r>
            <a:endParaRPr sz="900" b="0" i="0">
              <a:solidFill>
                <a:srgbClr val="00B878"/>
              </a:solidFill>
            </a:endParaRPr>
          </a:p>
        </p:txBody>
      </p:sp>
      <p:sp>
        <p:nvSpPr>
          <p:cNvPr id="22" name="Rectangle 21"/>
          <p:cNvSpPr/>
          <p:nvPr/>
        </p:nvSpPr>
        <p:spPr>
          <a:xfrm>
            <a:off x="8567928" y="1865376"/>
            <a:ext cx="2697480" cy="457200"/>
          </a:xfrm>
          <a:prstGeom prst="rect">
            <a:avLst/>
          </a:prstGeom>
          <a:solidFill>
            <a:srgbClr val="F0F4F8"/>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59368" y="1975104"/>
            <a:ext cx="2587752" cy="365760"/>
          </a:xfrm>
          <a:prstGeom prst="rect">
            <a:avLst/>
          </a:prstGeom>
          <a:noFill/>
        </p:spPr>
        <p:txBody>
          <a:bodyPr wrap="square">
            <a:spAutoFit/>
          </a:bodyPr>
          <a:lstStyle/>
          <a:p>
            <a:pPr algn="l"/>
            <a:r>
              <a:rPr sz="900" b="0" i="0">
                <a:solidFill>
                  <a:srgbClr val="FF6B35"/>
                </a:solidFill>
              </a:rPr>
              <a:t>Khong</a:t>
            </a:r>
            <a:endParaRPr sz="900" b="0" i="0">
              <a:solidFill>
                <a:srgbClr val="FF6B35"/>
              </a:solidFill>
            </a:endParaRPr>
          </a:p>
        </p:txBody>
      </p:sp>
      <p:sp>
        <p:nvSpPr>
          <p:cNvPr id="24" name="Rectangle 23"/>
          <p:cNvSpPr/>
          <p:nvPr/>
        </p:nvSpPr>
        <p:spPr>
          <a:xfrm>
            <a:off x="457200" y="2322576"/>
            <a:ext cx="2834640" cy="457200"/>
          </a:xfrm>
          <a:prstGeom prst="rect">
            <a:avLst/>
          </a:prstGeom>
          <a:solidFill>
            <a:srgbClr val="FFFFFF"/>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2432304"/>
            <a:ext cx="2724912" cy="365760"/>
          </a:xfrm>
          <a:prstGeom prst="rect">
            <a:avLst/>
          </a:prstGeom>
          <a:noFill/>
        </p:spPr>
        <p:txBody>
          <a:bodyPr wrap="square">
            <a:spAutoFit/>
          </a:bodyPr>
          <a:lstStyle/>
          <a:p>
            <a:pPr algn="l"/>
            <a:r>
              <a:rPr sz="900" b="0" i="0">
                <a:solidFill>
                  <a:srgbClr val="1A2430"/>
                </a:solidFill>
              </a:rPr>
              <a:t>ViGoEmotions (2026)</a:t>
            </a:r>
            <a:endParaRPr sz="900" b="0" i="0">
              <a:solidFill>
                <a:srgbClr val="1A2430"/>
              </a:solidFill>
            </a:endParaRPr>
          </a:p>
        </p:txBody>
      </p:sp>
      <p:sp>
        <p:nvSpPr>
          <p:cNvPr id="26" name="Rectangle 25"/>
          <p:cNvSpPr/>
          <p:nvPr/>
        </p:nvSpPr>
        <p:spPr>
          <a:xfrm>
            <a:off x="3342132" y="2322576"/>
            <a:ext cx="1691640" cy="457200"/>
          </a:xfrm>
          <a:prstGeom prst="rect">
            <a:avLst/>
          </a:prstGeom>
          <a:solidFill>
            <a:srgbClr val="FFFFFF"/>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33572" y="2432304"/>
            <a:ext cx="1581912" cy="365760"/>
          </a:xfrm>
          <a:prstGeom prst="rect">
            <a:avLst/>
          </a:prstGeom>
          <a:noFill/>
        </p:spPr>
        <p:txBody>
          <a:bodyPr wrap="square">
            <a:spAutoFit/>
          </a:bodyPr>
          <a:lstStyle/>
          <a:p>
            <a:pPr algn="l"/>
            <a:r>
              <a:rPr sz="900" b="0" i="0">
                <a:solidFill>
                  <a:srgbClr val="00B878"/>
                </a:solidFill>
              </a:rPr>
              <a:t>Co</a:t>
            </a:r>
            <a:endParaRPr sz="900" b="0" i="0">
              <a:solidFill>
                <a:srgbClr val="00B878"/>
              </a:solidFill>
            </a:endParaRPr>
          </a:p>
        </p:txBody>
      </p:sp>
      <p:sp>
        <p:nvSpPr>
          <p:cNvPr id="28" name="Rectangle 27"/>
          <p:cNvSpPr/>
          <p:nvPr/>
        </p:nvSpPr>
        <p:spPr>
          <a:xfrm>
            <a:off x="5084064" y="2322576"/>
            <a:ext cx="1691640" cy="457200"/>
          </a:xfrm>
          <a:prstGeom prst="rect">
            <a:avLst/>
          </a:prstGeom>
          <a:solidFill>
            <a:srgbClr val="FFFFFF"/>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75504" y="2432304"/>
            <a:ext cx="1581912" cy="365760"/>
          </a:xfrm>
          <a:prstGeom prst="rect">
            <a:avLst/>
          </a:prstGeom>
          <a:noFill/>
        </p:spPr>
        <p:txBody>
          <a:bodyPr wrap="square">
            <a:spAutoFit/>
          </a:bodyPr>
          <a:lstStyle/>
          <a:p>
            <a:pPr algn="l"/>
            <a:r>
              <a:rPr sz="900" b="0" i="0">
                <a:solidFill>
                  <a:srgbClr val="00B878"/>
                </a:solidFill>
              </a:rPr>
              <a:t>Co</a:t>
            </a:r>
            <a:endParaRPr sz="900" b="0" i="0">
              <a:solidFill>
                <a:srgbClr val="00B878"/>
              </a:solidFill>
            </a:endParaRPr>
          </a:p>
        </p:txBody>
      </p:sp>
      <p:sp>
        <p:nvSpPr>
          <p:cNvPr id="30" name="Rectangle 29"/>
          <p:cNvSpPr/>
          <p:nvPr/>
        </p:nvSpPr>
        <p:spPr>
          <a:xfrm>
            <a:off x="6825996" y="2322576"/>
            <a:ext cx="1691640" cy="457200"/>
          </a:xfrm>
          <a:prstGeom prst="rect">
            <a:avLst/>
          </a:prstGeom>
          <a:solidFill>
            <a:srgbClr val="FFFFFF"/>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17436" y="2432304"/>
            <a:ext cx="1581912" cy="365760"/>
          </a:xfrm>
          <a:prstGeom prst="rect">
            <a:avLst/>
          </a:prstGeom>
          <a:noFill/>
        </p:spPr>
        <p:txBody>
          <a:bodyPr wrap="square">
            <a:spAutoFit/>
          </a:bodyPr>
          <a:lstStyle/>
          <a:p>
            <a:pPr algn="l"/>
            <a:r>
              <a:rPr sz="900" b="0" i="0">
                <a:solidFill>
                  <a:srgbClr val="00B878"/>
                </a:solidFill>
              </a:rPr>
              <a:t>Co</a:t>
            </a:r>
            <a:endParaRPr sz="900" b="0" i="0">
              <a:solidFill>
                <a:srgbClr val="00B878"/>
              </a:solidFill>
            </a:endParaRPr>
          </a:p>
        </p:txBody>
      </p:sp>
      <p:sp>
        <p:nvSpPr>
          <p:cNvPr id="32" name="Rectangle 31"/>
          <p:cNvSpPr/>
          <p:nvPr/>
        </p:nvSpPr>
        <p:spPr>
          <a:xfrm>
            <a:off x="8567928" y="2322576"/>
            <a:ext cx="2697480" cy="457200"/>
          </a:xfrm>
          <a:prstGeom prst="rect">
            <a:avLst/>
          </a:prstGeom>
          <a:solidFill>
            <a:srgbClr val="FFFFFF"/>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59368" y="2432304"/>
            <a:ext cx="2587752" cy="365760"/>
          </a:xfrm>
          <a:prstGeom prst="rect">
            <a:avLst/>
          </a:prstGeom>
          <a:noFill/>
        </p:spPr>
        <p:txBody>
          <a:bodyPr wrap="square">
            <a:spAutoFit/>
          </a:bodyPr>
          <a:lstStyle/>
          <a:p>
            <a:pPr algn="l"/>
            <a:r>
              <a:rPr sz="900" b="0" i="0">
                <a:solidFill>
                  <a:srgbClr val="FF6B35"/>
                </a:solidFill>
              </a:rPr>
              <a:t>Mot phan</a:t>
            </a:r>
            <a:endParaRPr sz="900" b="0" i="0">
              <a:solidFill>
                <a:srgbClr val="FF6B35"/>
              </a:solidFill>
            </a:endParaRPr>
          </a:p>
        </p:txBody>
      </p:sp>
      <p:sp>
        <p:nvSpPr>
          <p:cNvPr id="34" name="Rectangle 33"/>
          <p:cNvSpPr/>
          <p:nvPr/>
        </p:nvSpPr>
        <p:spPr>
          <a:xfrm>
            <a:off x="457200" y="2779776"/>
            <a:ext cx="2834640" cy="457200"/>
          </a:xfrm>
          <a:prstGeom prst="rect">
            <a:avLst/>
          </a:prstGeom>
          <a:solidFill>
            <a:srgbClr val="F0F4F8"/>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2889504"/>
            <a:ext cx="2724912" cy="365760"/>
          </a:xfrm>
          <a:prstGeom prst="rect">
            <a:avLst/>
          </a:prstGeom>
          <a:noFill/>
        </p:spPr>
        <p:txBody>
          <a:bodyPr wrap="square">
            <a:spAutoFit/>
          </a:bodyPr>
          <a:lstStyle/>
          <a:p>
            <a:pPr algn="l"/>
            <a:r>
              <a:rPr sz="900" b="0" i="0">
                <a:solidFill>
                  <a:srgbClr val="1A2430"/>
                </a:solidFill>
              </a:rPr>
              <a:t>ViSoBERT (2023)</a:t>
            </a:r>
            <a:endParaRPr sz="900" b="0" i="0">
              <a:solidFill>
                <a:srgbClr val="1A2430"/>
              </a:solidFill>
            </a:endParaRPr>
          </a:p>
        </p:txBody>
      </p:sp>
      <p:sp>
        <p:nvSpPr>
          <p:cNvPr id="36" name="Rectangle 35"/>
          <p:cNvSpPr/>
          <p:nvPr/>
        </p:nvSpPr>
        <p:spPr>
          <a:xfrm>
            <a:off x="3342132" y="2779776"/>
            <a:ext cx="1691640" cy="457200"/>
          </a:xfrm>
          <a:prstGeom prst="rect">
            <a:avLst/>
          </a:prstGeom>
          <a:solidFill>
            <a:srgbClr val="F0F4F8"/>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33572" y="2889504"/>
            <a:ext cx="1581912" cy="365760"/>
          </a:xfrm>
          <a:prstGeom prst="rect">
            <a:avLst/>
          </a:prstGeom>
          <a:noFill/>
        </p:spPr>
        <p:txBody>
          <a:bodyPr wrap="square">
            <a:spAutoFit/>
          </a:bodyPr>
          <a:lstStyle/>
          <a:p>
            <a:pPr algn="l"/>
            <a:r>
              <a:rPr sz="900" b="0" i="0">
                <a:solidFill>
                  <a:srgbClr val="00B878"/>
                </a:solidFill>
              </a:rPr>
              <a:t>Co</a:t>
            </a:r>
            <a:endParaRPr sz="900" b="0" i="0">
              <a:solidFill>
                <a:srgbClr val="00B878"/>
              </a:solidFill>
            </a:endParaRPr>
          </a:p>
        </p:txBody>
      </p:sp>
      <p:sp>
        <p:nvSpPr>
          <p:cNvPr id="38" name="Rectangle 37"/>
          <p:cNvSpPr/>
          <p:nvPr/>
        </p:nvSpPr>
        <p:spPr>
          <a:xfrm>
            <a:off x="5084064" y="2779776"/>
            <a:ext cx="1691640" cy="457200"/>
          </a:xfrm>
          <a:prstGeom prst="rect">
            <a:avLst/>
          </a:prstGeom>
          <a:solidFill>
            <a:srgbClr val="F0F4F8"/>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75504" y="2889504"/>
            <a:ext cx="1581912" cy="365760"/>
          </a:xfrm>
          <a:prstGeom prst="rect">
            <a:avLst/>
          </a:prstGeom>
          <a:noFill/>
        </p:spPr>
        <p:txBody>
          <a:bodyPr wrap="square">
            <a:spAutoFit/>
          </a:bodyPr>
          <a:lstStyle/>
          <a:p>
            <a:pPr algn="l"/>
            <a:r>
              <a:rPr sz="900" b="0" i="0">
                <a:solidFill>
                  <a:srgbClr val="CC3030"/>
                </a:solidFill>
              </a:rPr>
              <a:t>X</a:t>
            </a:r>
            <a:endParaRPr sz="900" b="0" i="0">
              <a:solidFill>
                <a:srgbClr val="CC3030"/>
              </a:solidFill>
            </a:endParaRPr>
          </a:p>
        </p:txBody>
      </p:sp>
      <p:sp>
        <p:nvSpPr>
          <p:cNvPr id="40" name="Rectangle 39"/>
          <p:cNvSpPr/>
          <p:nvPr/>
        </p:nvSpPr>
        <p:spPr>
          <a:xfrm>
            <a:off x="6825996" y="2779776"/>
            <a:ext cx="1691640" cy="457200"/>
          </a:xfrm>
          <a:prstGeom prst="rect">
            <a:avLst/>
          </a:prstGeom>
          <a:solidFill>
            <a:srgbClr val="F0F4F8"/>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917436" y="2889504"/>
            <a:ext cx="1581912" cy="365760"/>
          </a:xfrm>
          <a:prstGeom prst="rect">
            <a:avLst/>
          </a:prstGeom>
          <a:noFill/>
        </p:spPr>
        <p:txBody>
          <a:bodyPr wrap="square">
            <a:spAutoFit/>
          </a:bodyPr>
          <a:lstStyle/>
          <a:p>
            <a:pPr algn="l"/>
            <a:r>
              <a:rPr sz="900" b="0" i="0">
                <a:solidFill>
                  <a:srgbClr val="CC3030"/>
                </a:solidFill>
              </a:rPr>
              <a:t>X</a:t>
            </a:r>
            <a:endParaRPr sz="900" b="0" i="0">
              <a:solidFill>
                <a:srgbClr val="CC3030"/>
              </a:solidFill>
            </a:endParaRPr>
          </a:p>
        </p:txBody>
      </p:sp>
      <p:sp>
        <p:nvSpPr>
          <p:cNvPr id="42" name="Rectangle 41"/>
          <p:cNvSpPr/>
          <p:nvPr/>
        </p:nvSpPr>
        <p:spPr>
          <a:xfrm>
            <a:off x="8567928" y="2779776"/>
            <a:ext cx="2697480" cy="457200"/>
          </a:xfrm>
          <a:prstGeom prst="rect">
            <a:avLst/>
          </a:prstGeom>
          <a:solidFill>
            <a:srgbClr val="F0F4F8"/>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59368" y="2889504"/>
            <a:ext cx="2587752" cy="365760"/>
          </a:xfrm>
          <a:prstGeom prst="rect">
            <a:avLst/>
          </a:prstGeom>
          <a:noFill/>
        </p:spPr>
        <p:txBody>
          <a:bodyPr wrap="square">
            <a:spAutoFit/>
          </a:bodyPr>
          <a:lstStyle/>
          <a:p>
            <a:pPr algn="l"/>
            <a:r>
              <a:rPr sz="900" b="0" i="0">
                <a:solidFill>
                  <a:srgbClr val="FF6B35"/>
                </a:solidFill>
              </a:rPr>
              <a:t>Khong</a:t>
            </a:r>
            <a:endParaRPr sz="900" b="0" i="0">
              <a:solidFill>
                <a:srgbClr val="FF6B35"/>
              </a:solidFill>
            </a:endParaRPr>
          </a:p>
        </p:txBody>
      </p:sp>
      <p:sp>
        <p:nvSpPr>
          <p:cNvPr id="44" name="Rectangle 43"/>
          <p:cNvSpPr/>
          <p:nvPr/>
        </p:nvSpPr>
        <p:spPr>
          <a:xfrm>
            <a:off x="457200" y="3236976"/>
            <a:ext cx="2834640" cy="457200"/>
          </a:xfrm>
          <a:prstGeom prst="rect">
            <a:avLst/>
          </a:prstGeom>
          <a:solidFill>
            <a:srgbClr val="FFFFFF"/>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8640" y="3346704"/>
            <a:ext cx="2724912" cy="365760"/>
          </a:xfrm>
          <a:prstGeom prst="rect">
            <a:avLst/>
          </a:prstGeom>
          <a:noFill/>
        </p:spPr>
        <p:txBody>
          <a:bodyPr wrap="square">
            <a:spAutoFit/>
          </a:bodyPr>
          <a:lstStyle/>
          <a:p>
            <a:pPr algn="l"/>
            <a:r>
              <a:rPr sz="900" b="0" i="0">
                <a:solidFill>
                  <a:srgbClr val="1A2430"/>
                </a:solidFill>
              </a:rPr>
              <a:t>BERT + ASL (2025)</a:t>
            </a:r>
            <a:endParaRPr sz="900" b="0" i="0">
              <a:solidFill>
                <a:srgbClr val="1A2430"/>
              </a:solidFill>
            </a:endParaRPr>
          </a:p>
        </p:txBody>
      </p:sp>
      <p:sp>
        <p:nvSpPr>
          <p:cNvPr id="46" name="Rectangle 45"/>
          <p:cNvSpPr/>
          <p:nvPr/>
        </p:nvSpPr>
        <p:spPr>
          <a:xfrm>
            <a:off x="3342132" y="3236976"/>
            <a:ext cx="1691640" cy="457200"/>
          </a:xfrm>
          <a:prstGeom prst="rect">
            <a:avLst/>
          </a:prstGeom>
          <a:solidFill>
            <a:srgbClr val="FFFFFF"/>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433572" y="3346704"/>
            <a:ext cx="1581912" cy="365760"/>
          </a:xfrm>
          <a:prstGeom prst="rect">
            <a:avLst/>
          </a:prstGeom>
          <a:noFill/>
        </p:spPr>
        <p:txBody>
          <a:bodyPr wrap="square">
            <a:spAutoFit/>
          </a:bodyPr>
          <a:lstStyle/>
          <a:p>
            <a:pPr algn="l"/>
            <a:r>
              <a:rPr sz="900" b="0" i="0">
                <a:solidFill>
                  <a:srgbClr val="CC3030"/>
                </a:solidFill>
              </a:rPr>
              <a:t>X</a:t>
            </a:r>
            <a:endParaRPr sz="900" b="0" i="0">
              <a:solidFill>
                <a:srgbClr val="CC3030"/>
              </a:solidFill>
            </a:endParaRPr>
          </a:p>
        </p:txBody>
      </p:sp>
      <p:sp>
        <p:nvSpPr>
          <p:cNvPr id="48" name="Rectangle 47"/>
          <p:cNvSpPr/>
          <p:nvPr/>
        </p:nvSpPr>
        <p:spPr>
          <a:xfrm>
            <a:off x="5084064" y="3236976"/>
            <a:ext cx="1691640" cy="457200"/>
          </a:xfrm>
          <a:prstGeom prst="rect">
            <a:avLst/>
          </a:prstGeom>
          <a:solidFill>
            <a:srgbClr val="FFFFFF"/>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3346704"/>
            <a:ext cx="1581912" cy="365760"/>
          </a:xfrm>
          <a:prstGeom prst="rect">
            <a:avLst/>
          </a:prstGeom>
          <a:noFill/>
        </p:spPr>
        <p:txBody>
          <a:bodyPr wrap="square">
            <a:spAutoFit/>
          </a:bodyPr>
          <a:lstStyle/>
          <a:p>
            <a:pPr algn="l"/>
            <a:r>
              <a:rPr sz="900" b="0" i="0">
                <a:solidFill>
                  <a:srgbClr val="CC3030"/>
                </a:solidFill>
              </a:rPr>
              <a:t>X</a:t>
            </a:r>
            <a:endParaRPr sz="900" b="0" i="0">
              <a:solidFill>
                <a:srgbClr val="CC3030"/>
              </a:solidFill>
            </a:endParaRPr>
          </a:p>
        </p:txBody>
      </p:sp>
      <p:sp>
        <p:nvSpPr>
          <p:cNvPr id="50" name="Rectangle 49"/>
          <p:cNvSpPr/>
          <p:nvPr/>
        </p:nvSpPr>
        <p:spPr>
          <a:xfrm>
            <a:off x="6825996" y="3236976"/>
            <a:ext cx="1691640" cy="457200"/>
          </a:xfrm>
          <a:prstGeom prst="rect">
            <a:avLst/>
          </a:prstGeom>
          <a:solidFill>
            <a:srgbClr val="FFFFFF"/>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917436" y="3346704"/>
            <a:ext cx="1581912" cy="365760"/>
          </a:xfrm>
          <a:prstGeom prst="rect">
            <a:avLst/>
          </a:prstGeom>
          <a:noFill/>
        </p:spPr>
        <p:txBody>
          <a:bodyPr wrap="square">
            <a:spAutoFit/>
          </a:bodyPr>
          <a:lstStyle/>
          <a:p>
            <a:pPr algn="l"/>
            <a:r>
              <a:rPr sz="900" b="0" i="0">
                <a:solidFill>
                  <a:srgbClr val="00B878"/>
                </a:solidFill>
              </a:rPr>
              <a:t>Co</a:t>
            </a:r>
            <a:endParaRPr sz="900" b="0" i="0">
              <a:solidFill>
                <a:srgbClr val="00B878"/>
              </a:solidFill>
            </a:endParaRPr>
          </a:p>
        </p:txBody>
      </p:sp>
      <p:sp>
        <p:nvSpPr>
          <p:cNvPr id="52" name="Rectangle 51"/>
          <p:cNvSpPr/>
          <p:nvPr/>
        </p:nvSpPr>
        <p:spPr>
          <a:xfrm>
            <a:off x="8567928" y="3236976"/>
            <a:ext cx="2697480" cy="457200"/>
          </a:xfrm>
          <a:prstGeom prst="rect">
            <a:avLst/>
          </a:prstGeom>
          <a:solidFill>
            <a:srgbClr val="FFFFFF"/>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659368" y="3346704"/>
            <a:ext cx="2587752" cy="365760"/>
          </a:xfrm>
          <a:prstGeom prst="rect">
            <a:avLst/>
          </a:prstGeom>
          <a:noFill/>
        </p:spPr>
        <p:txBody>
          <a:bodyPr wrap="square">
            <a:spAutoFit/>
          </a:bodyPr>
          <a:lstStyle/>
          <a:p>
            <a:pPr algn="l"/>
            <a:r>
              <a:rPr sz="900" b="0" i="0">
                <a:solidFill>
                  <a:srgbClr val="FF6B35"/>
                </a:solidFill>
              </a:rPr>
              <a:t>Khong</a:t>
            </a:r>
            <a:endParaRPr sz="900" b="0" i="0">
              <a:solidFill>
                <a:srgbClr val="FF6B35"/>
              </a:solidFill>
            </a:endParaRPr>
          </a:p>
        </p:txBody>
      </p:sp>
      <p:sp>
        <p:nvSpPr>
          <p:cNvPr id="54" name="Rectangle 53"/>
          <p:cNvSpPr/>
          <p:nvPr/>
        </p:nvSpPr>
        <p:spPr>
          <a:xfrm>
            <a:off x="457200" y="3694176"/>
            <a:ext cx="2834640" cy="457200"/>
          </a:xfrm>
          <a:prstGeom prst="rect">
            <a:avLst/>
          </a:prstGeom>
          <a:solidFill>
            <a:srgbClr val="CCF0DC"/>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48640" y="3803904"/>
            <a:ext cx="2724912" cy="365760"/>
          </a:xfrm>
          <a:prstGeom prst="rect">
            <a:avLst/>
          </a:prstGeom>
          <a:noFill/>
        </p:spPr>
        <p:txBody>
          <a:bodyPr wrap="square">
            <a:spAutoFit/>
          </a:bodyPr>
          <a:lstStyle/>
          <a:p>
            <a:pPr algn="l"/>
            <a:r>
              <a:rPr sz="900" b="1" i="0">
                <a:solidFill>
                  <a:srgbClr val="0078C8"/>
                </a:solidFill>
              </a:rPr>
              <a:t>NHOM 8 (de tai nay)</a:t>
            </a:r>
            <a:endParaRPr sz="900" b="1" i="0">
              <a:solidFill>
                <a:srgbClr val="0078C8"/>
              </a:solidFill>
            </a:endParaRPr>
          </a:p>
        </p:txBody>
      </p:sp>
      <p:sp>
        <p:nvSpPr>
          <p:cNvPr id="56" name="Rectangle 55"/>
          <p:cNvSpPr/>
          <p:nvPr/>
        </p:nvSpPr>
        <p:spPr>
          <a:xfrm>
            <a:off x="3342132" y="3694176"/>
            <a:ext cx="1691640" cy="457200"/>
          </a:xfrm>
          <a:prstGeom prst="rect">
            <a:avLst/>
          </a:prstGeom>
          <a:solidFill>
            <a:srgbClr val="CCF0DC"/>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433572" y="3803904"/>
            <a:ext cx="1581912" cy="365760"/>
          </a:xfrm>
          <a:prstGeom prst="rect">
            <a:avLst/>
          </a:prstGeom>
          <a:noFill/>
        </p:spPr>
        <p:txBody>
          <a:bodyPr wrap="square">
            <a:spAutoFit/>
          </a:bodyPr>
          <a:lstStyle/>
          <a:p>
            <a:pPr algn="l"/>
            <a:r>
              <a:rPr sz="900" b="1" i="0">
                <a:solidFill>
                  <a:srgbClr val="00B878"/>
                </a:solidFill>
              </a:rPr>
              <a:t>Co</a:t>
            </a:r>
            <a:endParaRPr sz="900" b="1" i="0">
              <a:solidFill>
                <a:srgbClr val="00B878"/>
              </a:solidFill>
            </a:endParaRPr>
          </a:p>
        </p:txBody>
      </p:sp>
      <p:sp>
        <p:nvSpPr>
          <p:cNvPr id="58" name="Rectangle 57"/>
          <p:cNvSpPr/>
          <p:nvPr/>
        </p:nvSpPr>
        <p:spPr>
          <a:xfrm>
            <a:off x="5084064" y="3694176"/>
            <a:ext cx="1691640" cy="457200"/>
          </a:xfrm>
          <a:prstGeom prst="rect">
            <a:avLst/>
          </a:prstGeom>
          <a:solidFill>
            <a:srgbClr val="CCF0DC"/>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75504" y="3803904"/>
            <a:ext cx="1581912" cy="365760"/>
          </a:xfrm>
          <a:prstGeom prst="rect">
            <a:avLst/>
          </a:prstGeom>
          <a:noFill/>
        </p:spPr>
        <p:txBody>
          <a:bodyPr wrap="square">
            <a:spAutoFit/>
          </a:bodyPr>
          <a:lstStyle/>
          <a:p>
            <a:pPr algn="l"/>
            <a:r>
              <a:rPr sz="900" b="1" i="0">
                <a:solidFill>
                  <a:srgbClr val="00B878"/>
                </a:solidFill>
              </a:rPr>
              <a:t>Co</a:t>
            </a:r>
            <a:endParaRPr sz="900" b="1" i="0">
              <a:solidFill>
                <a:srgbClr val="00B878"/>
              </a:solidFill>
            </a:endParaRPr>
          </a:p>
        </p:txBody>
      </p:sp>
      <p:sp>
        <p:nvSpPr>
          <p:cNvPr id="60" name="Rectangle 59"/>
          <p:cNvSpPr/>
          <p:nvPr/>
        </p:nvSpPr>
        <p:spPr>
          <a:xfrm>
            <a:off x="6825996" y="3694176"/>
            <a:ext cx="1691640" cy="457200"/>
          </a:xfrm>
          <a:prstGeom prst="rect">
            <a:avLst/>
          </a:prstGeom>
          <a:solidFill>
            <a:srgbClr val="CCF0DC"/>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917436" y="3803904"/>
            <a:ext cx="1581912" cy="365760"/>
          </a:xfrm>
          <a:prstGeom prst="rect">
            <a:avLst/>
          </a:prstGeom>
          <a:noFill/>
        </p:spPr>
        <p:txBody>
          <a:bodyPr wrap="square">
            <a:spAutoFit/>
          </a:bodyPr>
          <a:lstStyle/>
          <a:p>
            <a:pPr algn="l"/>
            <a:r>
              <a:rPr sz="900" b="1" i="0">
                <a:solidFill>
                  <a:srgbClr val="00B878"/>
                </a:solidFill>
              </a:rPr>
              <a:t>Co</a:t>
            </a:r>
            <a:endParaRPr sz="900" b="1" i="0">
              <a:solidFill>
                <a:srgbClr val="00B878"/>
              </a:solidFill>
            </a:endParaRPr>
          </a:p>
        </p:txBody>
      </p:sp>
      <p:sp>
        <p:nvSpPr>
          <p:cNvPr id="62" name="Rectangle 61"/>
          <p:cNvSpPr/>
          <p:nvPr/>
        </p:nvSpPr>
        <p:spPr>
          <a:xfrm>
            <a:off x="8567928" y="3694176"/>
            <a:ext cx="2697480" cy="457200"/>
          </a:xfrm>
          <a:prstGeom prst="rect">
            <a:avLst/>
          </a:prstGeom>
          <a:solidFill>
            <a:srgbClr val="CCF0DC"/>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659368" y="3803904"/>
            <a:ext cx="2587752" cy="365760"/>
          </a:xfrm>
          <a:prstGeom prst="rect">
            <a:avLst/>
          </a:prstGeom>
          <a:noFill/>
        </p:spPr>
        <p:txBody>
          <a:bodyPr wrap="square">
            <a:spAutoFit/>
          </a:bodyPr>
          <a:lstStyle/>
          <a:p>
            <a:pPr algn="l"/>
            <a:r>
              <a:rPr sz="900" b="1" i="0">
                <a:solidFill>
                  <a:srgbClr val="FF6B35"/>
                </a:solidFill>
              </a:rPr>
              <a:t>Co (3 kich ban)</a:t>
            </a:r>
            <a:endParaRPr sz="900" b="1" i="0">
              <a:solidFill>
                <a:srgbClr val="FF6B35"/>
              </a:solidFill>
            </a:endParaRPr>
          </a:p>
        </p:txBody>
      </p:sp>
      <p:sp>
        <p:nvSpPr>
          <p:cNvPr id="64" name="Rectangle 63"/>
          <p:cNvSpPr/>
          <p:nvPr/>
        </p:nvSpPr>
        <p:spPr>
          <a:xfrm>
            <a:off x="457200" y="4261104"/>
            <a:ext cx="11274552" cy="457200"/>
          </a:xfrm>
          <a:prstGeom prst="rect">
            <a:avLst/>
          </a:prstGeom>
          <a:solidFill>
            <a:srgbClr val="E8F4FD"/>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40080" y="4315968"/>
            <a:ext cx="10908792" cy="365760"/>
          </a:xfrm>
          <a:prstGeom prst="rect">
            <a:avLst/>
          </a:prstGeom>
          <a:noFill/>
        </p:spPr>
        <p:txBody>
          <a:bodyPr wrap="square">
            <a:spAutoFit/>
          </a:bodyPr>
          <a:lstStyle/>
          <a:p>
            <a:pPr algn="l"/>
            <a:r>
              <a:rPr sz="900" b="0" i="0">
                <a:solidFill>
                  <a:srgbClr val="1A2430"/>
                </a:solidFill>
              </a:rPr>
              <a:t>Khoang trong chinh: Chua co paper nao ket hop du ca 4 yeu to dong thoi voi so sanh preprocessing day du. ViGoEmotions rat gan nhung chua test per-label threshold va ASL loss.</a:t>
            </a:r>
            <a:endParaRPr sz="900" b="0" i="0">
              <a:solidFill>
                <a:srgbClr val="1A2430"/>
              </a:solidFill>
            </a:endParaRPr>
          </a:p>
        </p:txBody>
      </p:sp>
      <p:sp>
        <p:nvSpPr>
          <p:cNvPr id="66" name="Rectangle 65"/>
          <p:cNvSpPr/>
          <p:nvPr/>
        </p:nvSpPr>
        <p:spPr>
          <a:xfrm>
            <a:off x="457200" y="5504688"/>
            <a:ext cx="11274552" cy="1078992"/>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31520" y="5577840"/>
            <a:ext cx="5486400" cy="256032"/>
          </a:xfrm>
          <a:prstGeom prst="rect">
            <a:avLst/>
          </a:prstGeom>
          <a:noFill/>
        </p:spPr>
        <p:txBody>
          <a:bodyPr wrap="square">
            <a:spAutoFit/>
          </a:bodyPr>
          <a:lstStyle/>
          <a:p>
            <a:pPr algn="l"/>
            <a:r>
              <a:rPr sz="750" b="1" i="0">
                <a:solidFill>
                  <a:srgbClr val="00B4D8"/>
                </a:solidFill>
              </a:rPr>
              <a:t>SUY LUAN &amp; DANH GIA (INFER):</a:t>
            </a:r>
            <a:endParaRPr sz="750" b="1" i="0">
              <a:solidFill>
                <a:srgbClr val="00B4D8"/>
              </a:solidFill>
            </a:endParaRPr>
          </a:p>
        </p:txBody>
      </p:sp>
      <p:sp>
        <p:nvSpPr>
          <p:cNvPr id="68" name="TextBox 67"/>
          <p:cNvSpPr txBox="1"/>
          <p:nvPr/>
        </p:nvSpPr>
        <p:spPr>
          <a:xfrm>
            <a:off x="731520" y="5843016"/>
            <a:ext cx="10725912" cy="704088"/>
          </a:xfrm>
          <a:prstGeom prst="rect">
            <a:avLst/>
          </a:prstGeom>
          <a:noFill/>
        </p:spPr>
        <p:txBody>
          <a:bodyPr wrap="square">
            <a:spAutoFit/>
          </a:bodyPr>
          <a:lstStyle/>
          <a:p>
            <a:pPr>
              <a:spcBef>
                <a:spcPts val="250"/>
              </a:spcBef>
            </a:pPr>
            <a:r>
              <a:rPr sz="950">
                <a:solidFill>
                  <a:srgbClr val="FFFFFF"/>
                </a:solidFill>
              </a:rPr>
              <a:t>Chua co nghien cuu nao ket hop dong thoi: tieng Viet + 27 cam xuc chi tiet + multi-label + so sanh day du preprocessing strategies. Day la khoang trong nhom dang lap day.</a:t>
            </a:r>
            <a:endParaRPr sz="950">
              <a:solidFill>
                <a:srgbClr val="FFFFFF"/>
              </a:solidFill>
            </a:endParaRPr>
          </a:p>
        </p:txBody>
      </p:sp>
      <p:sp>
        <p:nvSpPr>
          <p:cNvPr id="69" name="TextBox 68"/>
          <p:cNvSpPr txBox="1"/>
          <p:nvPr/>
        </p:nvSpPr>
        <p:spPr>
          <a:xfrm>
            <a:off x="457200" y="6611112"/>
            <a:ext cx="11274552" cy="228600"/>
          </a:xfrm>
          <a:prstGeom prst="rect">
            <a:avLst/>
          </a:prstGeom>
          <a:noFill/>
        </p:spPr>
        <p:txBody>
          <a:bodyPr wrap="square">
            <a:spAutoFit/>
          </a:bodyPr>
          <a:lstStyle/>
          <a:p>
            <a:pPr algn="l"/>
            <a:r>
              <a:rPr sz="700" b="0" i="1">
                <a:solidFill>
                  <a:srgbClr val="6B7C93"/>
                </a:solidFill>
              </a:rPr>
              <a:t>Tong hop tu khao sat 11 paper  |  Nhom 8, DAP391m FA26  |  Sep 2026</a:t>
            </a:r>
            <a:endParaRPr sz="700" b="0" i="1">
              <a:solidFill>
                <a:srgbClr val="6B7C93"/>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74320"/>
            <a:ext cx="11091672" cy="292608"/>
          </a:xfrm>
          <a:prstGeom prst="rect">
            <a:avLst/>
          </a:prstGeom>
          <a:noFill/>
        </p:spPr>
        <p:txBody>
          <a:bodyPr wrap="square">
            <a:spAutoFit/>
          </a:bodyPr>
          <a:lstStyle/>
          <a:p>
            <a:pPr algn="l"/>
            <a:r>
              <a:rPr sz="850" b="1" i="0">
                <a:solidFill>
                  <a:srgbClr val="00B4D8"/>
                </a:solidFill>
              </a:rPr>
              <a:t>KET NOI VOI RESEARCH QUESTIONS</a:t>
            </a:r>
            <a:endParaRPr sz="850" b="1" i="0">
              <a:solidFill>
                <a:srgbClr val="00B4D8"/>
              </a:solidFill>
            </a:endParaRPr>
          </a:p>
        </p:txBody>
      </p:sp>
      <p:sp>
        <p:nvSpPr>
          <p:cNvPr id="3" name="TextBox 2"/>
          <p:cNvSpPr txBox="1"/>
          <p:nvPr/>
        </p:nvSpPr>
        <p:spPr>
          <a:xfrm>
            <a:off x="548640" y="576072"/>
            <a:ext cx="11091672" cy="914400"/>
          </a:xfrm>
          <a:prstGeom prst="rect">
            <a:avLst/>
          </a:prstGeom>
          <a:noFill/>
        </p:spPr>
        <p:txBody>
          <a:bodyPr wrap="square">
            <a:spAutoFit/>
          </a:bodyPr>
          <a:lstStyle/>
          <a:p>
            <a:pPr algn="l"/>
            <a:r>
              <a:rPr sz="2600" b="1" i="0">
                <a:solidFill>
                  <a:srgbClr val="1A2430"/>
                </a:solidFill>
              </a:rPr>
              <a:t>11 Paper Backing Cho 3 Research Questions</a:t>
            </a:r>
            <a:endParaRPr sz="2600" b="1" i="0">
              <a:solidFill>
                <a:srgbClr val="1A2430"/>
              </a:solidFill>
            </a:endParaRPr>
          </a:p>
        </p:txBody>
      </p:sp>
      <p:sp>
        <p:nvSpPr>
          <p:cNvPr id="4" name="Rectangle 3"/>
          <p:cNvSpPr/>
          <p:nvPr/>
        </p:nvSpPr>
        <p:spPr>
          <a:xfrm>
            <a:off x="457200" y="1572768"/>
            <a:ext cx="3657600" cy="3886200"/>
          </a:xfrm>
          <a:prstGeom prst="rect">
            <a:avLst/>
          </a:prstGeom>
          <a:solidFill>
            <a:srgbClr val="F0F4F8"/>
          </a:solidFill>
          <a:ln w="1651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194560" y="1655064"/>
            <a:ext cx="1828800" cy="256032"/>
          </a:xfrm>
          <a:prstGeom prst="rect">
            <a:avLst/>
          </a:prstGeom>
          <a:noFill/>
        </p:spPr>
        <p:txBody>
          <a:bodyPr wrap="square">
            <a:spAutoFit/>
          </a:bodyPr>
          <a:lstStyle/>
          <a:p>
            <a:pPr algn="r"/>
            <a:r>
              <a:rPr sz="700" b="1" i="0">
                <a:solidFill>
                  <a:srgbClr val="6B7C93"/>
                </a:solidFill>
              </a:rPr>
              <a:t>B3 Visualization</a:t>
            </a:r>
            <a:endParaRPr sz="700" b="1" i="0">
              <a:solidFill>
                <a:srgbClr val="6B7C93"/>
              </a:solidFill>
            </a:endParaRPr>
          </a:p>
        </p:txBody>
      </p:sp>
      <p:sp>
        <p:nvSpPr>
          <p:cNvPr id="6" name="TextBox 5"/>
          <p:cNvSpPr txBox="1"/>
          <p:nvPr/>
        </p:nvSpPr>
        <p:spPr>
          <a:xfrm>
            <a:off x="621792" y="1664208"/>
            <a:ext cx="3328416" cy="384048"/>
          </a:xfrm>
          <a:prstGeom prst="rect">
            <a:avLst/>
          </a:prstGeom>
          <a:noFill/>
        </p:spPr>
        <p:txBody>
          <a:bodyPr wrap="square">
            <a:spAutoFit/>
          </a:bodyPr>
          <a:lstStyle/>
          <a:p>
            <a:pPr algn="l"/>
            <a:r>
              <a:rPr sz="1050" b="1" i="0">
                <a:solidFill>
                  <a:srgbClr val="1A2430"/>
                </a:solidFill>
              </a:rPr>
              <a:t>RQ1: Dac diem phan phoi nhan cam xuc?</a:t>
            </a:r>
            <a:endParaRPr sz="1050" b="1" i="0">
              <a:solidFill>
                <a:srgbClr val="1A2430"/>
              </a:solidFill>
            </a:endParaRPr>
          </a:p>
        </p:txBody>
      </p:sp>
      <p:sp>
        <p:nvSpPr>
          <p:cNvPr id="7" name="TextBox 6"/>
          <p:cNvSpPr txBox="1"/>
          <p:nvPr/>
        </p:nvSpPr>
        <p:spPr>
          <a:xfrm>
            <a:off x="621792" y="2084832"/>
            <a:ext cx="3328416" cy="3291840"/>
          </a:xfrm>
          <a:prstGeom prst="rect">
            <a:avLst/>
          </a:prstGeom>
          <a:noFill/>
        </p:spPr>
        <p:txBody>
          <a:bodyPr wrap="square">
            <a:spAutoFit/>
          </a:bodyPr>
          <a:lstStyle/>
          <a:p>
            <a:pPr>
              <a:spcBef>
                <a:spcPts val="250"/>
              </a:spcBef>
            </a:pPr>
            <a:r>
              <a:rPr sz="900">
                <a:solidFill>
                  <a:srgbClr val="1A2430"/>
                </a:solidFill>
              </a:rPr>
              <a:t>ViGoEmotions: phan phoi 27 nhan, imbalance ratio, co-occurrence matrix</a:t>
            </a:r>
            <a:endParaRPr sz="900">
              <a:solidFill>
                <a:srgbClr val="1A2430"/>
              </a:solidFill>
            </a:endParaRPr>
          </a:p>
          <a:p>
            <a:pPr>
              <a:spcBef>
                <a:spcPts val="250"/>
              </a:spcBef>
            </a:pPr>
            <a:r>
              <a:rPr sz="900">
                <a:solidFill>
                  <a:srgbClr val="1A2430"/>
                </a:solidFill>
              </a:rPr>
              <a:t>GoEmotions: phan phoi tham chieu tieng Anh de so sanh cross-language</a:t>
            </a:r>
            <a:endParaRPr sz="900">
              <a:solidFill>
                <a:srgbClr val="1A2430"/>
              </a:solidFill>
            </a:endParaRPr>
          </a:p>
          <a:p>
            <a:pPr>
              <a:spcBef>
                <a:spcPts val="250"/>
              </a:spcBef>
            </a:pPr>
            <a:r>
              <a:rPr sz="900">
                <a:solidFill>
                  <a:srgbClr val="1A2430"/>
                </a:solidFill>
              </a:rPr>
              <a:t>ViLexNorm: thong ke slang/teencode trong social media tieng Viet</a:t>
            </a:r>
            <a:endParaRPr sz="900">
              <a:solidFill>
                <a:srgbClr val="1A2430"/>
              </a:solidFill>
            </a:endParaRPr>
          </a:p>
          <a:p>
            <a:pPr>
              <a:spcBef>
                <a:spcPts val="250"/>
              </a:spcBef>
            </a:pPr>
            <a:r>
              <a:rPr sz="900">
                <a:solidFill>
                  <a:srgbClr val="1A2430"/>
                </a:solidFill>
              </a:rPr>
              <a:t>Biet truoc: phan phoi rat mat can bang, top 3 nhan chiem khoang 40%</a:t>
            </a:r>
            <a:endParaRPr sz="900">
              <a:solidFill>
                <a:srgbClr val="1A2430"/>
              </a:solidFill>
            </a:endParaRPr>
          </a:p>
          <a:p>
            <a:pPr>
              <a:spcBef>
                <a:spcPts val="250"/>
              </a:spcBef>
            </a:pPr>
            <a:r>
              <a:rPr sz="900">
                <a:solidFill>
                  <a:srgbClr val="1A2430"/>
                </a:solidFill>
              </a:rPr>
              <a:t>Dung cho: bar chart sorted, heatmap co-occurrence (B3 Visualization)</a:t>
            </a:r>
            <a:endParaRPr sz="900">
              <a:solidFill>
                <a:srgbClr val="1A2430"/>
              </a:solidFill>
            </a:endParaRPr>
          </a:p>
        </p:txBody>
      </p:sp>
      <p:sp>
        <p:nvSpPr>
          <p:cNvPr id="8" name="Rectangle 7"/>
          <p:cNvSpPr/>
          <p:nvPr/>
        </p:nvSpPr>
        <p:spPr>
          <a:xfrm>
            <a:off x="4265676" y="1572768"/>
            <a:ext cx="3657600" cy="3886200"/>
          </a:xfrm>
          <a:prstGeom prst="rect">
            <a:avLst/>
          </a:prstGeom>
          <a:solidFill>
            <a:srgbClr val="F0F4F8"/>
          </a:solidFill>
          <a:ln w="1651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03036" y="1655064"/>
            <a:ext cx="1828800" cy="256032"/>
          </a:xfrm>
          <a:prstGeom prst="rect">
            <a:avLst/>
          </a:prstGeom>
          <a:noFill/>
        </p:spPr>
        <p:txBody>
          <a:bodyPr wrap="square">
            <a:spAutoFit/>
          </a:bodyPr>
          <a:lstStyle/>
          <a:p>
            <a:pPr algn="r"/>
            <a:r>
              <a:rPr sz="700" b="1" i="0">
                <a:solidFill>
                  <a:srgbClr val="6B7C93"/>
                </a:solidFill>
              </a:rPr>
              <a:t>B5 Modelling</a:t>
            </a:r>
            <a:endParaRPr sz="700" b="1" i="0">
              <a:solidFill>
                <a:srgbClr val="6B7C93"/>
              </a:solidFill>
            </a:endParaRPr>
          </a:p>
        </p:txBody>
      </p:sp>
      <p:sp>
        <p:nvSpPr>
          <p:cNvPr id="10" name="TextBox 9"/>
          <p:cNvSpPr txBox="1"/>
          <p:nvPr/>
        </p:nvSpPr>
        <p:spPr>
          <a:xfrm>
            <a:off x="4430268" y="1664208"/>
            <a:ext cx="3328416" cy="384048"/>
          </a:xfrm>
          <a:prstGeom prst="rect">
            <a:avLst/>
          </a:prstGeom>
          <a:noFill/>
        </p:spPr>
        <p:txBody>
          <a:bodyPr wrap="square">
            <a:spAutoFit/>
          </a:bodyPr>
          <a:lstStyle/>
          <a:p>
            <a:pPr algn="l"/>
            <a:r>
              <a:rPr sz="1050" b="1" i="0">
                <a:solidFill>
                  <a:srgbClr val="1A2430"/>
                </a:solidFill>
              </a:rPr>
              <a:t>RQ2: Mo hinh nao phu hop nhat?</a:t>
            </a:r>
            <a:endParaRPr sz="1050" b="1" i="0">
              <a:solidFill>
                <a:srgbClr val="1A2430"/>
              </a:solidFill>
            </a:endParaRPr>
          </a:p>
        </p:txBody>
      </p:sp>
      <p:sp>
        <p:nvSpPr>
          <p:cNvPr id="11" name="TextBox 10"/>
          <p:cNvSpPr txBox="1"/>
          <p:nvPr/>
        </p:nvSpPr>
        <p:spPr>
          <a:xfrm>
            <a:off x="4430268" y="2084832"/>
            <a:ext cx="3328416" cy="3291840"/>
          </a:xfrm>
          <a:prstGeom prst="rect">
            <a:avLst/>
          </a:prstGeom>
          <a:noFill/>
        </p:spPr>
        <p:txBody>
          <a:bodyPr wrap="square">
            <a:spAutoFit/>
          </a:bodyPr>
          <a:lstStyle/>
          <a:p>
            <a:pPr>
              <a:spcBef>
                <a:spcPts val="250"/>
              </a:spcBef>
            </a:pPr>
            <a:r>
              <a:rPr sz="900">
                <a:solidFill>
                  <a:srgbClr val="1A2430"/>
                </a:solidFill>
              </a:rPr>
              <a:t>ViSoBERT: best baseline 61.50% F1-macro, domain phu hop (social media)</a:t>
            </a:r>
            <a:endParaRPr sz="900">
              <a:solidFill>
                <a:srgbClr val="1A2430"/>
              </a:solidFill>
            </a:endParaRPr>
          </a:p>
          <a:p>
            <a:pPr>
              <a:spcBef>
                <a:spcPts val="250"/>
              </a:spcBef>
            </a:pPr>
            <a:r>
              <a:rPr sz="900">
                <a:solidFill>
                  <a:srgbClr val="1A2430"/>
                </a:solidFill>
              </a:rPr>
              <a:t>PhoBERT, BamiBERT: so sanh kien truc PLM khac nhau</a:t>
            </a:r>
            <a:endParaRPr sz="900">
              <a:solidFill>
                <a:srgbClr val="1A2430"/>
              </a:solidFill>
            </a:endParaRPr>
          </a:p>
          <a:p>
            <a:pPr>
              <a:spcBef>
                <a:spcPts val="250"/>
              </a:spcBef>
            </a:pPr>
            <a:r>
              <a:rPr sz="900">
                <a:solidFill>
                  <a:srgbClr val="1A2430"/>
                </a:solidFill>
              </a:rPr>
              <a:t>BERT + ASL: loss function thay the cho imbalanced</a:t>
            </a:r>
            <a:endParaRPr sz="900">
              <a:solidFill>
                <a:srgbClr val="1A2430"/>
              </a:solidFill>
            </a:endParaRPr>
          </a:p>
          <a:p>
            <a:pPr>
              <a:spcBef>
                <a:spcPts val="250"/>
              </a:spcBef>
            </a:pPr>
            <a:r>
              <a:rPr sz="900">
                <a:solidFill>
                  <a:srgbClr val="1A2430"/>
                </a:solidFill>
              </a:rPr>
              <a:t>Emo Pillars: data augmentation bang LLM sinh tong hop</a:t>
            </a:r>
            <a:endParaRPr sz="900">
              <a:solidFill>
                <a:srgbClr val="1A2430"/>
              </a:solidFill>
            </a:endParaRPr>
          </a:p>
          <a:p>
            <a:pPr>
              <a:spcBef>
                <a:spcPts val="250"/>
              </a:spcBef>
            </a:pPr>
            <a:r>
              <a:rPr sz="900">
                <a:solidFill>
                  <a:srgbClr val="1A2430"/>
                </a:solidFill>
              </a:rPr>
              <a:t>LLMs Multi-label: per-label threshold tuning</a:t>
            </a:r>
            <a:endParaRPr sz="900">
              <a:solidFill>
                <a:srgbClr val="1A2430"/>
              </a:solidFill>
            </a:endParaRPr>
          </a:p>
          <a:p>
            <a:pPr>
              <a:spcBef>
                <a:spcPts val="250"/>
              </a:spcBef>
            </a:pPr>
            <a:r>
              <a:rPr sz="900">
                <a:solidFill>
                  <a:srgbClr val="1A2430"/>
                </a:solidFill>
              </a:rPr>
              <a:t>5+ mo hinh so sanh: du cho Review 1 yeu cau (B5 Modelling)</a:t>
            </a:r>
            <a:endParaRPr sz="900">
              <a:solidFill>
                <a:srgbClr val="1A2430"/>
              </a:solidFill>
            </a:endParaRPr>
          </a:p>
        </p:txBody>
      </p:sp>
      <p:sp>
        <p:nvSpPr>
          <p:cNvPr id="12" name="Rectangle 11"/>
          <p:cNvSpPr/>
          <p:nvPr/>
        </p:nvSpPr>
        <p:spPr>
          <a:xfrm>
            <a:off x="8074152" y="1572768"/>
            <a:ext cx="3657600" cy="3886200"/>
          </a:xfrm>
          <a:prstGeom prst="rect">
            <a:avLst/>
          </a:prstGeom>
          <a:solidFill>
            <a:srgbClr val="F0F4F8"/>
          </a:solidFill>
          <a:ln w="1651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11512" y="1655064"/>
            <a:ext cx="1828800" cy="256032"/>
          </a:xfrm>
          <a:prstGeom prst="rect">
            <a:avLst/>
          </a:prstGeom>
          <a:noFill/>
        </p:spPr>
        <p:txBody>
          <a:bodyPr wrap="square">
            <a:spAutoFit/>
          </a:bodyPr>
          <a:lstStyle/>
          <a:p>
            <a:pPr algn="r"/>
            <a:r>
              <a:rPr sz="700" b="1" i="0">
                <a:solidFill>
                  <a:srgbClr val="6B7C93"/>
                </a:solidFill>
              </a:rPr>
              <a:t>B2 Preprocessing</a:t>
            </a:r>
            <a:endParaRPr sz="700" b="1" i="0">
              <a:solidFill>
                <a:srgbClr val="6B7C93"/>
              </a:solidFill>
            </a:endParaRPr>
          </a:p>
        </p:txBody>
      </p:sp>
      <p:sp>
        <p:nvSpPr>
          <p:cNvPr id="14" name="TextBox 13"/>
          <p:cNvSpPr txBox="1"/>
          <p:nvPr/>
        </p:nvSpPr>
        <p:spPr>
          <a:xfrm>
            <a:off x="8238744" y="1664208"/>
            <a:ext cx="3328416" cy="384048"/>
          </a:xfrm>
          <a:prstGeom prst="rect">
            <a:avLst/>
          </a:prstGeom>
          <a:noFill/>
        </p:spPr>
        <p:txBody>
          <a:bodyPr wrap="square">
            <a:spAutoFit/>
          </a:bodyPr>
          <a:lstStyle/>
          <a:p>
            <a:pPr algn="l"/>
            <a:r>
              <a:rPr sz="1050" b="1" i="0">
                <a:solidFill>
                  <a:srgbClr val="1A2430"/>
                </a:solidFill>
              </a:rPr>
              <a:t>RQ3: Preprocessing nao tot nhat?</a:t>
            </a:r>
            <a:endParaRPr sz="1050" b="1" i="0">
              <a:solidFill>
                <a:srgbClr val="1A2430"/>
              </a:solidFill>
            </a:endParaRPr>
          </a:p>
        </p:txBody>
      </p:sp>
      <p:sp>
        <p:nvSpPr>
          <p:cNvPr id="15" name="TextBox 14"/>
          <p:cNvSpPr txBox="1"/>
          <p:nvPr/>
        </p:nvSpPr>
        <p:spPr>
          <a:xfrm>
            <a:off x="8238744" y="2084832"/>
            <a:ext cx="3328416" cy="3291840"/>
          </a:xfrm>
          <a:prstGeom prst="rect">
            <a:avLst/>
          </a:prstGeom>
          <a:noFill/>
        </p:spPr>
        <p:txBody>
          <a:bodyPr wrap="square">
            <a:spAutoFit/>
          </a:bodyPr>
          <a:lstStyle/>
          <a:p>
            <a:pPr>
              <a:spcBef>
                <a:spcPts val="250"/>
              </a:spcBef>
            </a:pPr>
            <a:r>
              <a:rPr sz="900">
                <a:solidFill>
                  <a:srgbClr val="1A2430"/>
                </a:solidFill>
              </a:rPr>
              <a:t>ViGoEmotions: 3 scenarios (keep emoji tot nhat, da xac nhan)</a:t>
            </a:r>
            <a:endParaRPr sz="900">
              <a:solidFill>
                <a:srgbClr val="1A2430"/>
              </a:solidFill>
            </a:endParaRPr>
          </a:p>
          <a:p>
            <a:pPr>
              <a:spcBef>
                <a:spcPts val="250"/>
              </a:spcBef>
            </a:pPr>
            <a:r>
              <a:rPr sz="900">
                <a:solidFill>
                  <a:srgbClr val="1A2430"/>
                </a:solidFill>
              </a:rPr>
              <a:t>ViLexNorm: tac dong cua lexical normalization voi ViSoBERT</a:t>
            </a:r>
            <a:endParaRPr sz="900">
              <a:solidFill>
                <a:srgbClr val="1A2430"/>
              </a:solidFill>
            </a:endParaRPr>
          </a:p>
          <a:p>
            <a:pPr>
              <a:spcBef>
                <a:spcPts val="250"/>
              </a:spcBef>
            </a:pPr>
            <a:r>
              <a:rPr sz="900">
                <a:solidFill>
                  <a:srgbClr val="1A2430"/>
                </a:solidFill>
              </a:rPr>
              <a:t>ViSoBERT: domain pretraining giam nhu cau normalize thu cong</a:t>
            </a:r>
            <a:endParaRPr sz="900">
              <a:solidFill>
                <a:srgbClr val="1A2430"/>
              </a:solidFill>
            </a:endParaRPr>
          </a:p>
          <a:p>
            <a:pPr>
              <a:spcBef>
                <a:spcPts val="250"/>
              </a:spcBef>
            </a:pPr>
            <a:r>
              <a:rPr sz="900">
                <a:solidFill>
                  <a:srgbClr val="1A2430"/>
                </a:solidFill>
              </a:rPr>
              <a:t>Thiet ke experiment: lowercase / keep vs convert vs remove emoji</a:t>
            </a:r>
            <a:endParaRPr sz="900">
              <a:solidFill>
                <a:srgbClr val="1A2430"/>
              </a:solidFill>
            </a:endParaRPr>
          </a:p>
          <a:p>
            <a:pPr>
              <a:spcBef>
                <a:spcPts val="250"/>
              </a:spcBef>
            </a:pPr>
            <a:r>
              <a:rPr sz="900">
                <a:solidFill>
                  <a:srgbClr val="1A2430"/>
                </a:solidFill>
              </a:rPr>
              <a:t>Metric: F1-macro so sanh giua cac kich ban (B2 Preprocessing)</a:t>
            </a:r>
            <a:endParaRPr sz="900">
              <a:solidFill>
                <a:srgbClr val="1A2430"/>
              </a:solidFill>
            </a:endParaRPr>
          </a:p>
        </p:txBody>
      </p:sp>
      <p:sp>
        <p:nvSpPr>
          <p:cNvPr id="16" name="Rectangle 15"/>
          <p:cNvSpPr/>
          <p:nvPr/>
        </p:nvSpPr>
        <p:spPr>
          <a:xfrm>
            <a:off x="457200" y="5504688"/>
            <a:ext cx="11274552" cy="1078992"/>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577840"/>
            <a:ext cx="5486400" cy="256032"/>
          </a:xfrm>
          <a:prstGeom prst="rect">
            <a:avLst/>
          </a:prstGeom>
          <a:noFill/>
        </p:spPr>
        <p:txBody>
          <a:bodyPr wrap="square">
            <a:spAutoFit/>
          </a:bodyPr>
          <a:lstStyle/>
          <a:p>
            <a:pPr algn="l"/>
            <a:r>
              <a:rPr sz="750" b="1" i="0">
                <a:solidFill>
                  <a:srgbClr val="00B4D8"/>
                </a:solidFill>
              </a:rPr>
              <a:t>SUY LUAN &amp; DANH GIA (INFER):</a:t>
            </a:r>
            <a:endParaRPr sz="750" b="1" i="0">
              <a:solidFill>
                <a:srgbClr val="00B4D8"/>
              </a:solidFill>
            </a:endParaRPr>
          </a:p>
        </p:txBody>
      </p:sp>
      <p:sp>
        <p:nvSpPr>
          <p:cNvPr id="18" name="TextBox 17"/>
          <p:cNvSpPr txBox="1"/>
          <p:nvPr/>
        </p:nvSpPr>
        <p:spPr>
          <a:xfrm>
            <a:off x="731520" y="5843016"/>
            <a:ext cx="10725912" cy="704088"/>
          </a:xfrm>
          <a:prstGeom prst="rect">
            <a:avLst/>
          </a:prstGeom>
          <a:noFill/>
        </p:spPr>
        <p:txBody>
          <a:bodyPr wrap="square">
            <a:spAutoFit/>
          </a:bodyPr>
          <a:lstStyle/>
          <a:p>
            <a:pPr>
              <a:spcBef>
                <a:spcPts val="250"/>
              </a:spcBef>
            </a:pPr>
            <a:r>
              <a:rPr sz="950">
                <a:solidFill>
                  <a:srgbClr val="FFFFFF"/>
                </a:solidFill>
              </a:rPr>
              <a:t>Moi RQ deu co it nhat 2 paper backing voi so lieu cu the. Research gap (Slide 8) duoc xac nhan boi chinh su thieu hut trong literature: chua co paper nao test du 4 yeu to dong thoi.</a:t>
            </a:r>
            <a:endParaRPr sz="950">
              <a:solidFill>
                <a:srgbClr val="FFFF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74320"/>
            <a:ext cx="11091672" cy="292608"/>
          </a:xfrm>
          <a:prstGeom prst="rect">
            <a:avLst/>
          </a:prstGeom>
          <a:noFill/>
        </p:spPr>
        <p:txBody>
          <a:bodyPr wrap="square">
            <a:spAutoFit/>
          </a:bodyPr>
          <a:lstStyle/>
          <a:p>
            <a:pPr algn="l"/>
            <a:r>
              <a:rPr sz="850" b="1" i="0">
                <a:solidFill>
                  <a:srgbClr val="00B4D8"/>
                </a:solidFill>
              </a:rPr>
              <a:t>TONG KET LITERATURE REVIEW</a:t>
            </a:r>
            <a:endParaRPr sz="850" b="1" i="0">
              <a:solidFill>
                <a:srgbClr val="00B4D8"/>
              </a:solidFill>
            </a:endParaRPr>
          </a:p>
        </p:txBody>
      </p:sp>
      <p:sp>
        <p:nvSpPr>
          <p:cNvPr id="3" name="TextBox 2"/>
          <p:cNvSpPr txBox="1"/>
          <p:nvPr/>
        </p:nvSpPr>
        <p:spPr>
          <a:xfrm>
            <a:off x="548640" y="576072"/>
            <a:ext cx="11091672" cy="914400"/>
          </a:xfrm>
          <a:prstGeom prst="rect">
            <a:avLst/>
          </a:prstGeom>
          <a:noFill/>
        </p:spPr>
        <p:txBody>
          <a:bodyPr wrap="square">
            <a:spAutoFit/>
          </a:bodyPr>
          <a:lstStyle/>
          <a:p>
            <a:pPr algn="l"/>
            <a:r>
              <a:rPr sz="2600" b="1" i="0">
                <a:solidFill>
                  <a:srgbClr val="1A2430"/>
                </a:solidFill>
              </a:rPr>
              <a:t>5 Insight Quan Trong Nhat Cho Project</a:t>
            </a:r>
            <a:endParaRPr sz="2600" b="1" i="0">
              <a:solidFill>
                <a:srgbClr val="1A2430"/>
              </a:solidFill>
            </a:endParaRPr>
          </a:p>
        </p:txBody>
      </p:sp>
      <p:sp>
        <p:nvSpPr>
          <p:cNvPr id="4" name="Rectangle 3"/>
          <p:cNvSpPr/>
          <p:nvPr/>
        </p:nvSpPr>
        <p:spPr>
          <a:xfrm>
            <a:off x="457200" y="1572768"/>
            <a:ext cx="3657600" cy="1691640"/>
          </a:xfrm>
          <a:prstGeom prst="rect">
            <a:avLst/>
          </a:prstGeom>
          <a:solidFill>
            <a:srgbClr val="F0F4F8"/>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572768"/>
            <a:ext cx="365760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1709928"/>
            <a:ext cx="3328416" cy="347472"/>
          </a:xfrm>
          <a:prstGeom prst="rect">
            <a:avLst/>
          </a:prstGeom>
          <a:noFill/>
        </p:spPr>
        <p:txBody>
          <a:bodyPr wrap="square">
            <a:spAutoFit/>
          </a:bodyPr>
          <a:lstStyle/>
          <a:p>
            <a:pPr algn="l"/>
            <a:r>
              <a:rPr sz="1050" b="1" i="0">
                <a:solidFill>
                  <a:srgbClr val="00B4D8"/>
                </a:solidFill>
              </a:rPr>
              <a:t>Giu emoji la quyet dinh dung</a:t>
            </a:r>
            <a:endParaRPr sz="1050" b="1" i="0">
              <a:solidFill>
                <a:srgbClr val="00B4D8"/>
              </a:solidFill>
            </a:endParaRPr>
          </a:p>
        </p:txBody>
      </p:sp>
      <p:sp>
        <p:nvSpPr>
          <p:cNvPr id="7" name="TextBox 6"/>
          <p:cNvSpPr txBox="1"/>
          <p:nvPr/>
        </p:nvSpPr>
        <p:spPr>
          <a:xfrm>
            <a:off x="621792" y="2103120"/>
            <a:ext cx="3328416" cy="1069848"/>
          </a:xfrm>
          <a:prstGeom prst="rect">
            <a:avLst/>
          </a:prstGeom>
          <a:noFill/>
        </p:spPr>
        <p:txBody>
          <a:bodyPr wrap="square">
            <a:spAutoFit/>
          </a:bodyPr>
          <a:lstStyle/>
          <a:p>
            <a:pPr>
              <a:spcBef>
                <a:spcPts val="250"/>
              </a:spcBef>
            </a:pPr>
            <a:r>
              <a:rPr sz="900">
                <a:solidFill>
                  <a:srgbClr val="1A2430"/>
                </a:solidFill>
              </a:rPr>
              <a:t>3 kich ban ViGoEmotions confirm: emoji mang nghia rieng theo van hoa cong dong mang tieng Viet. Scenario 1 (giu emoji) luon cho F1 cao nhat.</a:t>
            </a:r>
            <a:endParaRPr sz="900">
              <a:solidFill>
                <a:srgbClr val="1A2430"/>
              </a:solidFill>
            </a:endParaRPr>
          </a:p>
        </p:txBody>
      </p:sp>
      <p:sp>
        <p:nvSpPr>
          <p:cNvPr id="8" name="Rectangle 7"/>
          <p:cNvSpPr/>
          <p:nvPr/>
        </p:nvSpPr>
        <p:spPr>
          <a:xfrm>
            <a:off x="4265676" y="1572768"/>
            <a:ext cx="3657600" cy="1691640"/>
          </a:xfrm>
          <a:prstGeom prst="rect">
            <a:avLst/>
          </a:prstGeom>
          <a:solidFill>
            <a:srgbClr val="F0F4F8"/>
          </a:solidFill>
          <a:ln w="19050">
            <a:solidFill>
              <a:srgbClr val="007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65676" y="1572768"/>
            <a:ext cx="3657600" cy="64008"/>
          </a:xfrm>
          <a:prstGeom prst="rect">
            <a:avLst/>
          </a:prstGeom>
          <a:solidFill>
            <a:srgbClr val="007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30268" y="1709928"/>
            <a:ext cx="3328416" cy="347472"/>
          </a:xfrm>
          <a:prstGeom prst="rect">
            <a:avLst/>
          </a:prstGeom>
          <a:noFill/>
        </p:spPr>
        <p:txBody>
          <a:bodyPr wrap="square">
            <a:spAutoFit/>
          </a:bodyPr>
          <a:lstStyle/>
          <a:p>
            <a:pPr algn="l"/>
            <a:r>
              <a:rPr sz="1050" b="1" i="0">
                <a:solidFill>
                  <a:srgbClr val="0078C8"/>
                </a:solidFill>
              </a:rPr>
              <a:t>ViSoBERT la baseline tot nhat</a:t>
            </a:r>
            <a:endParaRPr sz="1050" b="1" i="0">
              <a:solidFill>
                <a:srgbClr val="0078C8"/>
              </a:solidFill>
            </a:endParaRPr>
          </a:p>
        </p:txBody>
      </p:sp>
      <p:sp>
        <p:nvSpPr>
          <p:cNvPr id="11" name="TextBox 10"/>
          <p:cNvSpPr txBox="1"/>
          <p:nvPr/>
        </p:nvSpPr>
        <p:spPr>
          <a:xfrm>
            <a:off x="4430268" y="2103120"/>
            <a:ext cx="3328416" cy="1069848"/>
          </a:xfrm>
          <a:prstGeom prst="rect">
            <a:avLst/>
          </a:prstGeom>
          <a:noFill/>
        </p:spPr>
        <p:txBody>
          <a:bodyPr wrap="square">
            <a:spAutoFit/>
          </a:bodyPr>
          <a:lstStyle/>
          <a:p>
            <a:pPr>
              <a:spcBef>
                <a:spcPts val="250"/>
              </a:spcBef>
            </a:pPr>
            <a:r>
              <a:rPr sz="900">
                <a:solidFill>
                  <a:srgbClr val="1A2430"/>
                </a:solidFill>
              </a:rPr>
              <a:t>Domain match: pretrain social media, giu emoji, F1-macro 61.50% tren ViGoEmotions. Diem khoi dau ro rang cho fine-tuning cua nhom.</a:t>
            </a:r>
            <a:endParaRPr sz="900">
              <a:solidFill>
                <a:srgbClr val="1A2430"/>
              </a:solidFill>
            </a:endParaRPr>
          </a:p>
        </p:txBody>
      </p:sp>
      <p:sp>
        <p:nvSpPr>
          <p:cNvPr id="12" name="Rectangle 11"/>
          <p:cNvSpPr/>
          <p:nvPr/>
        </p:nvSpPr>
        <p:spPr>
          <a:xfrm>
            <a:off x="8074152" y="1572768"/>
            <a:ext cx="3657600" cy="1691640"/>
          </a:xfrm>
          <a:prstGeom prst="rect">
            <a:avLst/>
          </a:prstGeom>
          <a:solidFill>
            <a:srgbClr val="F0F4F8"/>
          </a:solidFill>
          <a:ln w="19050">
            <a:solidFill>
              <a:srgbClr val="00B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74152" y="1572768"/>
            <a:ext cx="3657600" cy="64008"/>
          </a:xfrm>
          <a:prstGeom prst="rect">
            <a:avLst/>
          </a:prstGeom>
          <a:solidFill>
            <a:srgbClr val="00B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38744" y="1709928"/>
            <a:ext cx="3328416" cy="347472"/>
          </a:xfrm>
          <a:prstGeom prst="rect">
            <a:avLst/>
          </a:prstGeom>
          <a:noFill/>
        </p:spPr>
        <p:txBody>
          <a:bodyPr wrap="square">
            <a:spAutoFit/>
          </a:bodyPr>
          <a:lstStyle/>
          <a:p>
            <a:pPr algn="l"/>
            <a:r>
              <a:rPr sz="1050" b="1" i="0">
                <a:solidFill>
                  <a:srgbClr val="00B878"/>
                </a:solidFill>
              </a:rPr>
              <a:t>Per-label threshold uu tien implement</a:t>
            </a:r>
            <a:endParaRPr sz="1050" b="1" i="0">
              <a:solidFill>
                <a:srgbClr val="00B878"/>
              </a:solidFill>
            </a:endParaRPr>
          </a:p>
        </p:txBody>
      </p:sp>
      <p:sp>
        <p:nvSpPr>
          <p:cNvPr id="15" name="TextBox 14"/>
          <p:cNvSpPr txBox="1"/>
          <p:nvPr/>
        </p:nvSpPr>
        <p:spPr>
          <a:xfrm>
            <a:off x="8238744" y="2103120"/>
            <a:ext cx="3328416" cy="1069848"/>
          </a:xfrm>
          <a:prstGeom prst="rect">
            <a:avLst/>
          </a:prstGeom>
          <a:noFill/>
        </p:spPr>
        <p:txBody>
          <a:bodyPr wrap="square">
            <a:spAutoFit/>
          </a:bodyPr>
          <a:lstStyle/>
          <a:p>
            <a:pPr>
              <a:spcBef>
                <a:spcPts val="250"/>
              </a:spcBef>
            </a:pPr>
            <a:r>
              <a:rPr sz="900">
                <a:solidFill>
                  <a:srgbClr val="1A2430"/>
                </a:solidFill>
              </a:rPr>
              <a:t>Global 0.5 la suboptimal. Per-label threshold cai thien F1 tu 0.27 len 0.43 theo LLMs Multi-label paper. Low effort, high impact.</a:t>
            </a:r>
            <a:endParaRPr sz="900">
              <a:solidFill>
                <a:srgbClr val="1A2430"/>
              </a:solidFill>
            </a:endParaRPr>
          </a:p>
        </p:txBody>
      </p:sp>
      <p:sp>
        <p:nvSpPr>
          <p:cNvPr id="16" name="Rectangle 15"/>
          <p:cNvSpPr/>
          <p:nvPr/>
        </p:nvSpPr>
        <p:spPr>
          <a:xfrm>
            <a:off x="457200" y="3447288"/>
            <a:ext cx="5577840" cy="1691640"/>
          </a:xfrm>
          <a:prstGeom prst="rect">
            <a:avLst/>
          </a:prstGeom>
          <a:solidFill>
            <a:srgbClr val="F0F4F8"/>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447288"/>
            <a:ext cx="5577840" cy="6400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 y="3584448"/>
            <a:ext cx="5248656" cy="347472"/>
          </a:xfrm>
          <a:prstGeom prst="rect">
            <a:avLst/>
          </a:prstGeom>
          <a:noFill/>
        </p:spPr>
        <p:txBody>
          <a:bodyPr wrap="square">
            <a:spAutoFit/>
          </a:bodyPr>
          <a:lstStyle/>
          <a:p>
            <a:pPr algn="l"/>
            <a:r>
              <a:rPr sz="1050" b="1" i="0">
                <a:solidFill>
                  <a:srgbClr val="FF6B35"/>
                </a:solidFill>
              </a:rPr>
              <a:t>Asymmetric Loss: doi loss function la du</a:t>
            </a:r>
            <a:endParaRPr sz="1050" b="1" i="0">
              <a:solidFill>
                <a:srgbClr val="FF6B35"/>
              </a:solidFill>
            </a:endParaRPr>
          </a:p>
        </p:txBody>
      </p:sp>
      <p:sp>
        <p:nvSpPr>
          <p:cNvPr id="19" name="TextBox 18"/>
          <p:cNvSpPr txBox="1"/>
          <p:nvPr/>
        </p:nvSpPr>
        <p:spPr>
          <a:xfrm>
            <a:off x="621792" y="3977640"/>
            <a:ext cx="5248656" cy="1069848"/>
          </a:xfrm>
          <a:prstGeom prst="rect">
            <a:avLst/>
          </a:prstGeom>
          <a:noFill/>
        </p:spPr>
        <p:txBody>
          <a:bodyPr wrap="square">
            <a:spAutoFit/>
          </a:bodyPr>
          <a:lstStyle/>
          <a:p>
            <a:pPr>
              <a:spcBef>
                <a:spcPts val="250"/>
              </a:spcBef>
            </a:pPr>
            <a:r>
              <a:rPr sz="900">
                <a:solidFill>
                  <a:srgbClr val="1A2430"/>
                </a:solidFill>
              </a:rPr>
              <a:t>+0.08 F1-macro tren GoEmotions chi bang thay BCE bang ASL. Khong can them data. Do kho implement rat thap.</a:t>
            </a:r>
            <a:endParaRPr sz="900">
              <a:solidFill>
                <a:srgbClr val="1A2430"/>
              </a:solidFill>
            </a:endParaRPr>
          </a:p>
        </p:txBody>
      </p:sp>
      <p:sp>
        <p:nvSpPr>
          <p:cNvPr id="20" name="Rectangle 19"/>
          <p:cNvSpPr/>
          <p:nvPr/>
        </p:nvSpPr>
        <p:spPr>
          <a:xfrm>
            <a:off x="6153912" y="3447288"/>
            <a:ext cx="5577840" cy="1691640"/>
          </a:xfrm>
          <a:prstGeom prst="rect">
            <a:avLst/>
          </a:prstGeom>
          <a:solidFill>
            <a:srgbClr val="F0F4F8"/>
          </a:solidFill>
          <a:ln w="19050">
            <a:solidFill>
              <a:srgbClr val="A06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53912" y="3447288"/>
            <a:ext cx="5577840" cy="64008"/>
          </a:xfrm>
          <a:prstGeom prst="rect">
            <a:avLst/>
          </a:prstGeom>
          <a:solidFill>
            <a:srgbClr val="A06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18504" y="3584448"/>
            <a:ext cx="5248656" cy="347472"/>
          </a:xfrm>
          <a:prstGeom prst="rect">
            <a:avLst/>
          </a:prstGeom>
          <a:noFill/>
        </p:spPr>
        <p:txBody>
          <a:bodyPr wrap="square">
            <a:spAutoFit/>
          </a:bodyPr>
          <a:lstStyle/>
          <a:p>
            <a:pPr algn="l"/>
            <a:r>
              <a:rPr sz="1050" b="1" i="0">
                <a:solidFill>
                  <a:srgbClr val="A060D0"/>
                </a:solidFill>
              </a:rPr>
              <a:t>Khong can oversample du lieu</a:t>
            </a:r>
            <a:endParaRPr sz="1050" b="1" i="0">
              <a:solidFill>
                <a:srgbClr val="A060D0"/>
              </a:solidFill>
            </a:endParaRPr>
          </a:p>
        </p:txBody>
      </p:sp>
      <p:sp>
        <p:nvSpPr>
          <p:cNvPr id="23" name="TextBox 22"/>
          <p:cNvSpPr txBox="1"/>
          <p:nvPr/>
        </p:nvSpPr>
        <p:spPr>
          <a:xfrm>
            <a:off x="6318504" y="3977640"/>
            <a:ext cx="5248656" cy="1069848"/>
          </a:xfrm>
          <a:prstGeom prst="rect">
            <a:avLst/>
          </a:prstGeom>
          <a:noFill/>
        </p:spPr>
        <p:txBody>
          <a:bodyPr wrap="square">
            <a:spAutoFit/>
          </a:bodyPr>
          <a:lstStyle/>
          <a:p>
            <a:pPr>
              <a:spcBef>
                <a:spcPts val="250"/>
              </a:spcBef>
            </a:pPr>
            <a:r>
              <a:rPr sz="900">
                <a:solidFill>
                  <a:srgbClr val="1A2430"/>
                </a:solidFill>
              </a:rPr>
              <a:t>ViHateT5 (ACL 2024) xac nhan: giu phan phoi tu nhien tot hon can bang. Can kiem chung voi 27-class setting cua nhom.</a:t>
            </a:r>
            <a:endParaRPr sz="900">
              <a:solidFill>
                <a:srgbClr val="1A2430"/>
              </a:solidFill>
            </a:endParaRPr>
          </a:p>
        </p:txBody>
      </p:sp>
      <p:sp>
        <p:nvSpPr>
          <p:cNvPr id="24" name="Rectangle 23"/>
          <p:cNvSpPr/>
          <p:nvPr/>
        </p:nvSpPr>
        <p:spPr>
          <a:xfrm>
            <a:off x="457200" y="5504688"/>
            <a:ext cx="11274552" cy="1078992"/>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5577840"/>
            <a:ext cx="5486400" cy="256032"/>
          </a:xfrm>
          <a:prstGeom prst="rect">
            <a:avLst/>
          </a:prstGeom>
          <a:noFill/>
        </p:spPr>
        <p:txBody>
          <a:bodyPr wrap="square">
            <a:spAutoFit/>
          </a:bodyPr>
          <a:lstStyle/>
          <a:p>
            <a:pPr algn="l"/>
            <a:r>
              <a:rPr sz="750" b="1" i="0">
                <a:solidFill>
                  <a:srgbClr val="00B4D8"/>
                </a:solidFill>
              </a:rPr>
              <a:t>SUY LUAN &amp; DANH GIA (INFER):</a:t>
            </a:r>
            <a:endParaRPr sz="750" b="1" i="0">
              <a:solidFill>
                <a:srgbClr val="00B4D8"/>
              </a:solidFill>
            </a:endParaRPr>
          </a:p>
        </p:txBody>
      </p:sp>
      <p:sp>
        <p:nvSpPr>
          <p:cNvPr id="26" name="TextBox 25"/>
          <p:cNvSpPr txBox="1"/>
          <p:nvPr/>
        </p:nvSpPr>
        <p:spPr>
          <a:xfrm>
            <a:off x="731520" y="5843016"/>
            <a:ext cx="10725912" cy="704088"/>
          </a:xfrm>
          <a:prstGeom prst="rect">
            <a:avLst/>
          </a:prstGeom>
          <a:noFill/>
        </p:spPr>
        <p:txBody>
          <a:bodyPr wrap="square">
            <a:spAutoFit/>
          </a:bodyPr>
          <a:lstStyle/>
          <a:p>
            <a:pPr>
              <a:spcBef>
                <a:spcPts val="250"/>
              </a:spcBef>
            </a:pPr>
            <a:r>
              <a:rPr sz="950">
                <a:solidFill>
                  <a:srgbClr val="FFFFFF"/>
                </a:solidFill>
              </a:rPr>
              <a:t>Next steps: (1) Fine-tune ViSoBERT (baseline), (2) Per-label threshold, (3) So sanh BCE vs ASL, (4) Ghi nhan ket qua tung preprocessing scenario. Muc tieu: vuot baseline 61.50% F1-macro.</a:t>
            </a:r>
            <a:endParaRPr sz="950">
              <a:solidFill>
                <a:srgbClr val="FFFFFF"/>
              </a:solidFill>
            </a:endParaRPr>
          </a:p>
        </p:txBody>
      </p:sp>
      <p:sp>
        <p:nvSpPr>
          <p:cNvPr id="27" name="TextBox 26"/>
          <p:cNvSpPr txBox="1"/>
          <p:nvPr/>
        </p:nvSpPr>
        <p:spPr>
          <a:xfrm>
            <a:off x="457200" y="6611112"/>
            <a:ext cx="11274552" cy="228600"/>
          </a:xfrm>
          <a:prstGeom prst="rect">
            <a:avLst/>
          </a:prstGeom>
          <a:noFill/>
        </p:spPr>
        <p:txBody>
          <a:bodyPr wrap="square">
            <a:spAutoFit/>
          </a:bodyPr>
          <a:lstStyle/>
          <a:p>
            <a:pPr algn="l"/>
            <a:r>
              <a:rPr sz="700" b="0" i="1">
                <a:solidFill>
                  <a:srgbClr val="6B7C93"/>
                </a:solidFill>
              </a:rPr>
              <a:t>11 paper khao sat  |  Nhom 8, DAP391m FA26  |  Sep 2026</a:t>
            </a:r>
            <a:endParaRPr sz="700" b="0" i="1">
              <a:solidFill>
                <a:srgbClr val="6B7C93"/>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10509</Words>
  <Application>WPS Presentation</Application>
  <PresentationFormat>On-screen Show (4:3)</PresentationFormat>
  <Paragraphs>386</Paragraphs>
  <Slides>10</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10</vt:i4>
      </vt:variant>
    </vt:vector>
  </HeadingPairs>
  <TitlesOfParts>
    <vt:vector size="18" baseType="lpstr">
      <vt:lpstr>Arial</vt:lpstr>
      <vt:lpstr>SimSun</vt:lpstr>
      <vt:lpstr>Wingdings</vt:lpstr>
      <vt:lpstr>Arial</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Gia Phuc (Gia Phuc)</cp:lastModifiedBy>
  <cp:revision>2</cp:revision>
  <dcterms:created xsi:type="dcterms:W3CDTF">2013-01-27T09:14:00Z</dcterms:created>
  <dcterms:modified xsi:type="dcterms:W3CDTF">2026-09-21T08:42:48Z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754ABBEFEAFC4DB19626471FF85BBF59_12</vt:lpwstr>
  </property>
  <property fmtid="{D5CDD505-2E9C-101B-9397-08002B2CF9AE}" pid="3" name="KSOProductBuildVer">
    <vt:lpwstr>1033-12.1.0.28485</vt:lpwstr>
  </property>
</Properties>
</file>
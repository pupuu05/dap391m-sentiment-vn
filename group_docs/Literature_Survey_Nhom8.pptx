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6400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2926080" cy="365760"/>
          </a:xfrm>
          <a:prstGeom prst="rect">
            <a:avLst/>
          </a:prstGeom>
          <a:solidFill>
            <a:srgbClr val="12243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4572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DAP391m  |  Nhom 8  |  Literature Survey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Literature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B4D8"/>
                </a:solidFill>
              </a:rPr>
              <a:t>and Project Feasibility Assessment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63240"/>
            <a:ext cx="4572000" cy="36576"/>
          </a:xfrm>
          <a:prstGeom prst="rect">
            <a:avLst/>
          </a:prstGeom>
          <a:solidFill>
            <a:srgbClr val="008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8"/>
                </a:solidFill>
              </a:rPr>
              <a:t>Fine-grained Multi-label Emotion Detection for Vietnamese Social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C93"/>
                </a:solidFill>
              </a:rPr>
              <a:t>Nhom 8: Gia Phuc  /  Khoa  /  Quy    |    DAP391m FA26    |   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4D8"/>
                </a:solidFill>
              </a:rPr>
              <a:t>PROBLEM CONTEXT AND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</a:rPr>
              <a:t>Why Fine-grained Emotion Matters for Vietnamese Social 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72768"/>
            <a:ext cx="3566160" cy="3886200"/>
          </a:xfrm>
          <a:prstGeom prst="rect">
            <a:avLst/>
          </a:prstGeom>
          <a:solidFill>
            <a:srgbClr val="F0F4F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35661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682496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D8"/>
                </a:solidFill>
              </a:rPr>
              <a:t>Sentiment vs Fine-grained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103120"/>
            <a:ext cx="3236976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Sentiment: 3 labels -- positive / negative / neutral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  Sufficient for star-rating aggregation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Fine-grained: 27 specific emotion labels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  admiration, grief, anger, confusion...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/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Example: same phrase can be admiration OR surprise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"Oi troi oi sao hay the nay"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  -&gt; joy + admiration OR surprise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2524" y="1572768"/>
            <a:ext cx="3566160" cy="3886200"/>
          </a:xfrm>
          <a:prstGeom prst="rect">
            <a:avLst/>
          </a:prstGeom>
          <a:solidFill>
            <a:srgbClr val="F0F4F8"/>
          </a:solidFill>
          <a:ln w="19050">
            <a:solidFill>
              <a:srgbClr val="00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92524" y="1572768"/>
            <a:ext cx="3566160" cy="6400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7116" y="1682496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8C8"/>
                </a:solidFill>
              </a:rPr>
              <a:t>Vietnamese Social Media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7116" y="2103120"/>
            <a:ext cx="3236976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77M internet users in Vietnam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73% use social media (We Are Social 2024)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/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GoEmotions [ACL 2020]: 27-label taxonomy for English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Vietnamese: no fine-grained multi-label dataset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  before ViGoEmotions in 2026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/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Gap: existing VN tools cover 3-class sentiment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7848" y="1572768"/>
            <a:ext cx="3566160" cy="3886200"/>
          </a:xfrm>
          <a:prstGeom prst="rect">
            <a:avLst/>
          </a:prstGeom>
          <a:solidFill>
            <a:srgbClr val="F0F4F8"/>
          </a:solidFill>
          <a:ln w="19050">
            <a:solidFill>
              <a:srgbClr val="00B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27848" y="1572768"/>
            <a:ext cx="3566160" cy="64008"/>
          </a:xfrm>
          <a:prstGeom prst="rect">
            <a:avLst/>
          </a:prstGeom>
          <a:solidFill>
            <a:srgbClr val="00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682496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878"/>
                </a:solidFill>
              </a:rPr>
              <a:t>Target Use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03120"/>
            <a:ext cx="3236976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Customer feedback triage on Vietnamese social media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/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Managers need to know: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  not just negative, but: angry? disappointed? worried?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/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Operationally important emotions: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  anger, disappointment, fear, grief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  (rare or difficult labels = still business-critical)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504688"/>
            <a:ext cx="11274552" cy="10789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B4D8"/>
                </a:solidFill>
              </a:rPr>
              <a:t>INFER: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43016"/>
            <a:ext cx="1072591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50">
                <a:solidFill>
                  <a:srgbClr val="FFFFFF"/>
                </a:solidFill>
              </a:rPr>
              <a:t>Fine-grained emotion detection requires 27-label multi-label classification -- a significantly harder task than 3-class sentiment. Vietnamese social media has scale but lacked a suitable dataset before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4D8"/>
                </a:solidFill>
              </a:rPr>
              <a:t>SURVEY OBJECTIVE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</a:rPr>
              <a:t>What This Literature Survey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72768"/>
            <a:ext cx="11274552" cy="822960"/>
          </a:xfrm>
          <a:prstGeom prst="rect">
            <a:avLst/>
          </a:prstGeom>
          <a:solidFill>
            <a:srgbClr val="DFF0F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8C8"/>
                </a:solidFill>
              </a:rPr>
              <a:t>Objective: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45920"/>
            <a:ext cx="8988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430"/>
                </a:solidFill>
              </a:rPr>
              <a:t>Identify established findings, open gaps, and feasibility conditions for applying training-level (ASL) and decision-level (per-label threshold) interventions to ViGoEmotions.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32888"/>
            <a:ext cx="5394960" cy="2926080"/>
          </a:xfrm>
          <a:prstGeom prst="rect">
            <a:avLst/>
          </a:prstGeom>
          <a:solidFill>
            <a:srgbClr val="F0F4F8"/>
          </a:solidFill>
          <a:ln w="16510">
            <a:solidFill>
              <a:srgbClr val="00B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624328"/>
            <a:ext cx="5065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878"/>
                </a:solidFill>
              </a:rPr>
              <a:t>IN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990088"/>
            <a:ext cx="506577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1. Datasets -- ViGoEmotions and GoEmotions taxonomy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2. Vietnamese PLMs -- ViSoBERT and PhoBERT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3. Preprocessing -- 3 scenarios from paper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4. Imbalance-aware training -- ASL loss function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5. Decision-level thresholding -- per-label vs global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532888"/>
            <a:ext cx="5394960" cy="2926080"/>
          </a:xfrm>
          <a:prstGeom prst="rect">
            <a:avLst/>
          </a:prstGeom>
          <a:solidFill>
            <a:srgbClr val="F0F4F8"/>
          </a:solidFill>
          <a:ln w="16510">
            <a:solidFill>
              <a:srgbClr val="CC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2624328"/>
            <a:ext cx="5065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3030"/>
                </a:solidFill>
              </a:rPr>
              <a:t>OUT OF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2990088"/>
            <a:ext cx="506577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Calibration methods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Multimodal inputs (image + text)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LLM-based data augmentation (Emo Pillars)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New architecture proposals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Cross-platform user study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504688"/>
            <a:ext cx="11274552" cy="10789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B4D8"/>
                </a:solidFill>
              </a:rPr>
              <a:t>INFER: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43016"/>
            <a:ext cx="1072591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50">
                <a:solidFill>
                  <a:srgbClr val="FFFFFF"/>
                </a:solidFill>
              </a:rPr>
              <a:t>The survey is bounded to 4 core areas that directly feed into the project's experimental design: dataset, PLM selection, preprocessing, and loss/threshold strategies.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4D8"/>
                </a:solidFill>
              </a:rPr>
              <a:t>SURVEY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</a:rPr>
              <a:t>Four Clusters: From Dataset to Applied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89204" y="1755648"/>
            <a:ext cx="2651760" cy="2743200"/>
          </a:xfrm>
          <a:prstGeom prst="rect">
            <a:avLst/>
          </a:prstGeom>
          <a:solidFill>
            <a:srgbClr val="F0F4F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9204" y="1755648"/>
            <a:ext cx="26517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6364" y="186537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Cluster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" y="2139696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430"/>
                </a:solidFill>
              </a:rPr>
              <a:t>Dataset and Taxonomy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" y="29443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C93"/>
                </a:solidFill>
              </a:rPr>
              <a:t>GoEmotions, ViGoEmotions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6684" y="3017520"/>
            <a:ext cx="109728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86684" y="2926080"/>
            <a:ext cx="137160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2132" y="1755648"/>
            <a:ext cx="2651760" cy="2743200"/>
          </a:xfrm>
          <a:prstGeom prst="rect">
            <a:avLst/>
          </a:prstGeom>
          <a:solidFill>
            <a:srgbClr val="F0F4F8"/>
          </a:solidFill>
          <a:ln w="25400">
            <a:solidFill>
              <a:srgbClr val="00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2132" y="1755648"/>
            <a:ext cx="2651760" cy="6400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9292" y="186537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8C8"/>
                </a:solidFill>
              </a:rPr>
              <a:t>Cluster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9292" y="2139696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430"/>
                </a:solidFill>
              </a:rPr>
              <a:t>Vietnamese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9292" y="29443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C93"/>
                </a:solidFill>
              </a:rPr>
              <a:t>ViSoBERT, PhoBERT, ViLexNorm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9612" y="3017520"/>
            <a:ext cx="109728" cy="3657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9612" y="2926080"/>
            <a:ext cx="137160" cy="219456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5060" y="1755648"/>
            <a:ext cx="2651760" cy="2743200"/>
          </a:xfrm>
          <a:prstGeom prst="rect">
            <a:avLst/>
          </a:prstGeom>
          <a:solidFill>
            <a:srgbClr val="F0F4F8"/>
          </a:solidFill>
          <a:ln w="25400">
            <a:solidFill>
              <a:srgbClr val="00B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5060" y="1755648"/>
            <a:ext cx="2651760" cy="64008"/>
          </a:xfrm>
          <a:prstGeom prst="rect">
            <a:avLst/>
          </a:prstGeom>
          <a:solidFill>
            <a:srgbClr val="00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2220" y="186537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878"/>
                </a:solidFill>
              </a:rPr>
              <a:t>Cluster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2139696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430"/>
                </a:solidFill>
              </a:rPr>
              <a:t>Imbalance-aware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2220" y="29443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C93"/>
                </a:solidFill>
              </a:rPr>
              <a:t>ASL Loss, BCE + pos_weight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92540" y="3017520"/>
            <a:ext cx="109728" cy="36576"/>
          </a:xfrm>
          <a:prstGeom prst="rect">
            <a:avLst/>
          </a:prstGeom>
          <a:solidFill>
            <a:srgbClr val="00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92540" y="2926080"/>
            <a:ext cx="137160" cy="219456"/>
          </a:xfrm>
          <a:prstGeom prst="rect">
            <a:avLst/>
          </a:prstGeom>
          <a:solidFill>
            <a:srgbClr val="00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47988" y="1755648"/>
            <a:ext cx="2651760" cy="2743200"/>
          </a:xfrm>
          <a:prstGeom prst="rect">
            <a:avLst/>
          </a:prstGeom>
          <a:solidFill>
            <a:srgbClr val="F0F4F8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7988" y="1755648"/>
            <a:ext cx="265176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5148" y="186537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35"/>
                </a:solidFill>
              </a:rPr>
              <a:t>Cluster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5148" y="2139696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430"/>
                </a:solidFill>
              </a:rPr>
              <a:t>Thresholding and Applied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5148" y="29443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C93"/>
                </a:solidFill>
              </a:rPr>
              <a:t>Per-label threshold, Decision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" y="4636008"/>
            <a:ext cx="11210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B7C93"/>
                </a:solidFill>
              </a:rPr>
              <a:t>Literature -&gt; gap identification -&gt; design choices -&gt; feasibility confirmation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504688"/>
            <a:ext cx="11274552" cy="10789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577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B4D8"/>
                </a:solidFill>
              </a:rPr>
              <a:t>INFER: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43016"/>
            <a:ext cx="1072591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50">
                <a:solidFill>
                  <a:srgbClr val="FFFFFF"/>
                </a:solidFill>
              </a:rPr>
              <a:t>Each cluster answers a specific design question. Together they form the evidentiary basis for RQ2 (training-level ASL + decision-level threshold) and the feasibility claim.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4D8"/>
                </a:solidFill>
              </a:rPr>
              <a:t>CLUSTER 1: DATASET AND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</a:rPr>
              <a:t>GoEmotions (EN) vs ViGoEmotions (VI)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72768"/>
            <a:ext cx="4297680" cy="3886200"/>
          </a:xfrm>
          <a:prstGeom prst="rect">
            <a:avLst/>
          </a:prstGeom>
          <a:solidFill>
            <a:srgbClr val="F0F4F8"/>
          </a:solidFill>
          <a:ln w="1651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64208"/>
            <a:ext cx="3968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CLUSTER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029968"/>
            <a:ext cx="39684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8C8"/>
                </a:solidFill>
              </a:rPr>
              <a:t>Question: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258568"/>
            <a:ext cx="3968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Does the 27-label GoEmotions taxonomy transfer reliably to Vietnamese social media?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761488"/>
            <a:ext cx="39684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8C8"/>
                </a:solidFill>
              </a:rPr>
              <a:t>Finding: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990088"/>
            <a:ext cx="3968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ViGoEmotions confirms transfer: 20,664 samples, 28 labels, LLM proposals + human verification. Only 40.82% LLM-human agreement -- human annotation is essential.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493008"/>
            <a:ext cx="39684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8C8"/>
                </a:solidFill>
              </a:rPr>
              <a:t>Limitation: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721608"/>
            <a:ext cx="3968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Platform metadata incomplete. Inter-annotator Kappa reported per label but overall reliability threshold not stated in paper.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224528"/>
            <a:ext cx="39684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8C8"/>
                </a:solidFill>
              </a:rPr>
              <a:t>Implication: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453128"/>
            <a:ext cx="3968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ViGoEmotions is the only dataset combining: Vietnamese + 27 fine-grained labels + multi-label + social media scale. Use as-is, do not re-annotate.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664208"/>
            <a:ext cx="2286000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2352" y="171907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664208"/>
            <a:ext cx="2286000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171907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GoEmotions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1664208"/>
            <a:ext cx="2286000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74352" y="171907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ViGoEmotions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993392"/>
            <a:ext cx="228600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2352" y="206654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Language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1993392"/>
            <a:ext cx="228600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8352" y="206654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English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1993392"/>
            <a:ext cx="228600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352" y="206654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78C8"/>
                </a:solidFill>
              </a:rPr>
              <a:t>Vietnamese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237744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02352" y="24505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Source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237744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88352" y="24505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Reddit (58k)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237744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4352" y="24505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78C8"/>
                </a:solidFill>
              </a:rPr>
              <a:t>FB/TikTok/YT (20.6k)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2761488"/>
            <a:ext cx="228600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02352" y="28346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Labels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2761488"/>
            <a:ext cx="228600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88352" y="28346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27 + neutral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2761488"/>
            <a:ext cx="228600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74352" y="28346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78C8"/>
                </a:solidFill>
              </a:rPr>
              <a:t>27 + neutral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314553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02352" y="321868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Task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314553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88352" y="321868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Multi-label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0" y="314553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74352" y="321868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78C8"/>
                </a:solidFill>
              </a:rPr>
              <a:t>Multi-label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0" y="3529584"/>
            <a:ext cx="228600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02352" y="360273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Baseline F1-macro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0" y="3529584"/>
            <a:ext cx="228600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88352" y="360273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BERT ~0.46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01200" y="3529584"/>
            <a:ext cx="228600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74352" y="360273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78C8"/>
                </a:solidFill>
              </a:rPr>
              <a:t>ViSoBERT 61.50%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3913632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02352" y="398678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Annotation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0" y="3913632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88352" y="398678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3 annotators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01200" y="3913632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74352" y="398678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78C8"/>
                </a:solidFill>
              </a:rPr>
              <a:t>LLM + human verify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0" y="4297680"/>
            <a:ext cx="228600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02352" y="437083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Year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4297680"/>
            <a:ext cx="228600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88352" y="437083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ACL 2020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01200" y="4297680"/>
            <a:ext cx="228600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74352" y="437083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78C8"/>
                </a:solidFill>
              </a:rPr>
              <a:t>EACL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504688"/>
            <a:ext cx="11274552" cy="10789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5577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B4D8"/>
                </a:solidFill>
              </a:rPr>
              <a:t>INFER: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5843016"/>
            <a:ext cx="1072591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50">
                <a:solidFill>
                  <a:srgbClr val="FFFFFF"/>
                </a:solidFill>
              </a:rPr>
              <a:t>GoEmotions established the 27-label taxonomy; ViGoEmotions validated it for Vietnamese. The baseline gap (BERT 0.46 vs ViSoBERT 0.615) reflects both domain and language improvement.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4D8"/>
                </a:solidFill>
              </a:rPr>
              <a:t>VIGOEMOTION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</a:rPr>
              <a:t>Key Statistics and Label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72768"/>
            <a:ext cx="4389120" cy="3886200"/>
          </a:xfrm>
          <a:prstGeom prst="rect">
            <a:avLst/>
          </a:prstGeom>
          <a:solidFill>
            <a:srgbClr val="F0F4F8"/>
          </a:solidFill>
          <a:ln w="1651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64208"/>
            <a:ext cx="4059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8C8"/>
                </a:solidFill>
              </a:rPr>
              <a:t>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029968"/>
            <a:ext cx="405993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20,664 Vietnamese social media comments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28 labels: 27 fine-grained emotions + neutral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Multi-label: avg ~1.91 labels/comment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Sources: Facebook, TikTok, YouTube, Threads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/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Split: Train 16,531  /  Val 2,066  /  Test 2,067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/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Annotation pipeline: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3 LLMs propose labels per sample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Human verifies each proposal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LLM-human agreement: only 40.82%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=&gt; emotion labeling requires human judgment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/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Baseline: ViSoBERT + Scenario 1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F1-macro: 61.50%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F1-weighted: 63.26%</a:t>
            </a:r>
          </a:p>
        </p:txBody>
      </p:sp>
      <p:pic>
        <p:nvPicPr>
          <p:cNvPr id="7" name="Picture 6" descr="label_distribution_bar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72768"/>
            <a:ext cx="6611112" cy="3886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504688"/>
            <a:ext cx="11274552" cy="10789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B4D8"/>
                </a:solidFill>
              </a:rPr>
              <a:t>INFER: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43016"/>
            <a:ext cx="1072591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50">
                <a:solidFill>
                  <a:srgbClr val="FFFFFF"/>
                </a:solidFill>
              </a:rPr>
              <a:t>Class imbalance is severe: top 3 labels (amusement/sadness/annoyance) account for ~26% of all label instances. Bottom labels have ~3-4x fewer samples. This directly motivates ASL loss and per-label threshold.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11112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B7C93"/>
                </a:solidFill>
              </a:rPr>
              <a:t>Nguyen et al. (2026), EACL 2026  |  Chart: label_distribution_barchart.png from 01_eda.ipynb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4D8"/>
                </a:solidFill>
              </a:rPr>
              <a:t>CLUSTER 2: VIETNAMESE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</a:rPr>
              <a:t>ViSoBERT, PhoBERT, ViLexNorm -- Domain Alignment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72768"/>
            <a:ext cx="3657600" cy="3886200"/>
          </a:xfrm>
          <a:prstGeom prst="rect">
            <a:avLst/>
          </a:prstGeom>
          <a:solidFill>
            <a:srgbClr val="DFF0F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0" y="16642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1">
                <a:solidFill>
                  <a:srgbClr val="6B7C93"/>
                </a:solidFill>
              </a:rPr>
              <a:t>EMNLP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6420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C8"/>
                </a:solidFill>
              </a:rPr>
              <a:t>ViSoBERT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29968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B4D8"/>
                </a:solidFill>
              </a:rPr>
              <a:t>Best fit for ViGoEmotions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22576"/>
            <a:ext cx="332841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Architecture: XLM-R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Training data: 1GB Vietnamese social media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Facebook, TikTok, YouTube (2016-2022)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Keeps emoji during tokenization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Achieves 61.50% F1-macro on ViGoEmotions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=&gt; Primary backbone for ablation A0-D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5676" y="1572768"/>
            <a:ext cx="3657600" cy="3886200"/>
          </a:xfrm>
          <a:prstGeom prst="rect">
            <a:avLst/>
          </a:prstGeom>
          <a:solidFill>
            <a:srgbClr val="F0F4F8"/>
          </a:solidFill>
          <a:ln w="190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7356" y="16642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1">
                <a:solidFill>
                  <a:srgbClr val="6B7C93"/>
                </a:solidFill>
              </a:rPr>
              <a:t>EMNLP 2020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0268" y="166420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430"/>
                </a:solidFill>
              </a:rPr>
              <a:t>PhoBERT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268" y="2029968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78C8"/>
                </a:solidFill>
              </a:rPr>
              <a:t>Formal Vietnamese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0268" y="2322576"/>
            <a:ext cx="332841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Architecture: RoBERTa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Training data: 20GB formal Vietnamese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News, books, Wikipedia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Requires VnCoreNLP tokenizer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Domain mismatch: formal vs social media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=&gt; Comparison backbone (config A only)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1572768"/>
            <a:ext cx="3657600" cy="3886200"/>
          </a:xfrm>
          <a:prstGeom prst="rect">
            <a:avLst/>
          </a:prstGeom>
          <a:solidFill>
            <a:srgbClr val="F0F4F8"/>
          </a:solidFill>
          <a:ln w="1905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85832" y="16642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1">
                <a:solidFill>
                  <a:srgbClr val="6B7C93"/>
                </a:solidFill>
              </a:rPr>
              <a:t>COLING 2022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166420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430"/>
                </a:solidFill>
              </a:rPr>
              <a:t>ViLexNorm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029968"/>
            <a:ext cx="3328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B878"/>
                </a:solidFill>
              </a:rPr>
              <a:t>Preprocessing utility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322576"/>
            <a:ext cx="332841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12,600 normalization pairs (slang -&gt; standard)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Examples: ko-&gt;khong, mk-&gt;minh, bik-&gt;biet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Provides ViSoLex tool for auto-normalization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B2 preprocessing: apply lightly before tokenize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Caution: heavy normalization hurts ViSoBERT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=&gt; B2 Scenario 1 applies minimal normalization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504688"/>
            <a:ext cx="11274552" cy="10789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B4D8"/>
                </a:solidFill>
              </a:rPr>
              <a:t>INFER: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43016"/>
            <a:ext cx="1072591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50">
                <a:solidFill>
                  <a:srgbClr val="FFFFFF"/>
                </a:solidFill>
              </a:rPr>
              <a:t>ViSoBERT domain alignment is the core reason it outperforms PhoBERT on ViGoEmotions. Pretraining on social media + emoji retention = less preprocessing needed + better token coverage.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611112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B7C93"/>
                </a:solidFill>
              </a:rPr>
              <a:t>Nguyen et al. (2023), EMNLP  |  Nguyen &amp; Tuan (2020), EMNLP  |  Nguyen et al. (2022), COLING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4D8"/>
                </a:solidFill>
              </a:rPr>
              <a:t>CLUSTER 3: IMBALANCE-AWARE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</a:rPr>
              <a:t>Why BCE Fails and How ASL Addresses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72768"/>
            <a:ext cx="5303520" cy="3886200"/>
          </a:xfrm>
          <a:prstGeom prst="rect">
            <a:avLst/>
          </a:prstGeom>
          <a:solidFill>
            <a:srgbClr val="F0F4F8"/>
          </a:solidFill>
          <a:ln w="16510">
            <a:solidFill>
              <a:srgbClr val="00B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64208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878"/>
                </a:solidFill>
              </a:rPr>
              <a:t>CLUSTER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029968"/>
            <a:ext cx="4974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8C8"/>
                </a:solidFill>
              </a:rPr>
              <a:t>Question: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258568"/>
            <a:ext cx="4974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Does replacing BCE with Asymmetric Loss (ASL) consistently improve F1-macro on fine-grained multi-label emotion data?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834640"/>
            <a:ext cx="4974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8C8"/>
                </a:solidFill>
              </a:rPr>
              <a:t>Finding: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063240"/>
            <a:ext cx="4974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BERT+ASL [2025] on GoEmotions: F1-macro 0.46-&gt;0.54 (+0.08) by changing loss only. ASL down-weights easy negatives via gamma- &gt; gamma+, clipping low-prob negatives to 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639312"/>
            <a:ext cx="4974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8C8"/>
                </a:solidFill>
              </a:rPr>
              <a:t>Limitation: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867912"/>
            <a:ext cx="4974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Result is from GoEmotions (English). No test on Vietnamese or ViGoEmotions. Optimal hyperparameters may differ across datasets and backbones.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443984"/>
            <a:ext cx="4974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8C8"/>
                </a:solidFill>
              </a:rPr>
              <a:t>Implication: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672584"/>
            <a:ext cx="4974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ASL is a low-effort training intervention. Start with paper defaults (gamma+=0, gamma-=4, m=0.05). Config C in ablation = isolated ASL effect.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572768"/>
            <a:ext cx="5696712" cy="38862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68249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430"/>
                </a:solidFill>
              </a:rPr>
              <a:t>How ASL 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2350008"/>
            <a:ext cx="137160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331720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430"/>
                </a:solidFill>
              </a:rPr>
              <a:t>In multi-label: most labels are negative per sample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218688"/>
            <a:ext cx="137160" cy="137160"/>
          </a:xfrm>
          <a:prstGeom prst="rect">
            <a:avLst/>
          </a:prstGeom>
          <a:solidFill>
            <a:srgbClr val="C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200400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430"/>
                </a:solidFill>
              </a:rPr>
              <a:t>BCE: all negatives get same gradient weight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4041648"/>
            <a:ext cx="137160" cy="137160"/>
          </a:xfrm>
          <a:prstGeom prst="rect">
            <a:avLst/>
          </a:prstGeom>
          <a:solidFill>
            <a:srgbClr val="C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023360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430"/>
                </a:solidFill>
              </a:rPr>
              <a:t>=&gt; Easy negatives dominate, mask hard positives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4864608"/>
            <a:ext cx="137160" cy="137160"/>
          </a:xfrm>
          <a:prstGeom prst="rect">
            <a:avLst/>
          </a:prstGeom>
          <a:solidFill>
            <a:srgbClr val="00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846320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430"/>
                </a:solidFill>
              </a:rPr>
              <a:t>ASL: gamma- down-weights easy negatives (gamma-=4)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5687568"/>
            <a:ext cx="137160" cy="137160"/>
          </a:xfrm>
          <a:prstGeom prst="rect">
            <a:avLst/>
          </a:prstGeom>
          <a:solidFill>
            <a:srgbClr val="00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5669280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430"/>
                </a:solidFill>
              </a:rPr>
              <a:t>ASL: gamma+ = 0, keeps positive gradient intact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6419088"/>
            <a:ext cx="137160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6400800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430"/>
                </a:solidFill>
              </a:rPr>
              <a:t>Result: model focuses on true positives + hard negatives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4681728"/>
            <a:ext cx="5367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C93"/>
                </a:solidFill>
              </a:rPr>
              <a:t>Ablation config C = ASL only (no per-label threshold)
Ablation config D = ASL + per-label threshold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504688"/>
            <a:ext cx="11274552" cy="10789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577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B4D8"/>
                </a:solidFill>
              </a:rPr>
              <a:t>INFER: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43016"/>
            <a:ext cx="1072591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50">
                <a:solidFill>
                  <a:srgbClr val="FFFFFF"/>
                </a:solidFill>
              </a:rPr>
              <a:t>ASL addresses a structural problem in BCE for multi-label: 27 classes means 26 negatives per positive. Config C isolates ASL's effect; Config A0 isolates pos_weight's effect.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611112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B7C93"/>
                </a:solidFill>
              </a:rPr>
              <a:t>Ramakrishnan &amp; Babu (2025)  |  Ben-Baruch et al. (2021), ICCV -- Asymmetric Loss paper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4D8"/>
                </a:solidFill>
              </a:rPr>
              <a:t>CLUSTER 4: THRESHOLDING AND APPLIED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</a:rPr>
              <a:t>Per-label Threshold as Decision-level Intervention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72768"/>
            <a:ext cx="5303520" cy="3886200"/>
          </a:xfrm>
          <a:prstGeom prst="rect">
            <a:avLst/>
          </a:prstGeom>
          <a:solidFill>
            <a:srgbClr val="F0F4F8"/>
          </a:solidFill>
          <a:ln w="1651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64208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35"/>
                </a:solidFill>
              </a:rPr>
              <a:t>CLUSTER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029968"/>
            <a:ext cx="4974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8C8"/>
                </a:solidFill>
              </a:rPr>
              <a:t>Question: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258568"/>
            <a:ext cx="4974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Does per-label threshold tuning improve F1-macro compared to a global threshold of 0.5?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834640"/>
            <a:ext cx="4974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8C8"/>
                </a:solidFill>
              </a:rPr>
              <a:t>Finding: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063240"/>
            <a:ext cx="4974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LLMs Multi-label [EMNLP 2025]: per-label threshold raises F1 from 0.27 to 0.43 (+0.16). Rare labels need lower thresholds (model under-confident); frequent labels may need higher.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639312"/>
            <a:ext cx="4974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8C8"/>
                </a:solidFill>
              </a:rPr>
              <a:t>Limitation: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867912"/>
            <a:ext cx="4974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Threshold must be selected on val set ONLY. Tuning on test = data leakage. Grid search is slow for 28 labels; step 0.05 over [0.1, 0.9] = 17 values x 28 labels = 476 evaluations.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443984"/>
            <a:ext cx="4974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8C8"/>
                </a:solidFill>
              </a:rPr>
              <a:t>Implication: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672584"/>
            <a:ext cx="4974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Configs B and D use per-label threshold. Tuning objective: per-label F1 on val. Thresholds locked in thresholds.json before test evaluation.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572768"/>
            <a:ext cx="5696712" cy="388620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68249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430"/>
                </a:solidFill>
              </a:rPr>
              <a:t>Decision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2148840"/>
            <a:ext cx="109728" cy="1097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03120"/>
            <a:ext cx="5102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Model outputs: probability vector [p_0, p_1, ..., p_27]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843784"/>
            <a:ext cx="109728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798064"/>
            <a:ext cx="5102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Global threshold 0.5: label_i = 1 if p_i &gt; 0.5 for ALL 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3191256"/>
            <a:ext cx="109728" cy="109728"/>
          </a:xfrm>
          <a:prstGeom prst="rect">
            <a:avLst/>
          </a:prstGeom>
          <a:solidFill>
            <a:srgbClr val="CC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145536"/>
            <a:ext cx="5102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=&gt; Rare labels: p rarely reaches 0.5 =&gt; always 0 =&gt; recall=0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3886200"/>
            <a:ext cx="109728" cy="109728"/>
          </a:xfrm>
          <a:prstGeom prst="rect">
            <a:avLst/>
          </a:prstGeom>
          <a:solidFill>
            <a:srgbClr val="00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840480"/>
            <a:ext cx="5102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Per-label threshold: label_i = 1 if p_i &gt; t_i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4233672"/>
            <a:ext cx="109728" cy="109728"/>
          </a:xfrm>
          <a:prstGeom prst="rect">
            <a:avLst/>
          </a:prstGeom>
          <a:solidFill>
            <a:srgbClr val="00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187952"/>
            <a:ext cx="5102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  t_i tuned per label on val set (grid [0.1, 0.9], step 0.05)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4581144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535424"/>
            <a:ext cx="5102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=&gt; Rare labels get lower t_i =&gt; better recall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9632" y="4928616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882896"/>
            <a:ext cx="5102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430"/>
                </a:solidFill>
              </a:rPr>
              <a:t>=&gt; Frequent labels keep high t_i =&gt; precision preserved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504688"/>
            <a:ext cx="11274552" cy="10789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577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B4D8"/>
                </a:solidFill>
              </a:rPr>
              <a:t>INFER: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43016"/>
            <a:ext cx="1072591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50">
                <a:solidFill>
                  <a:srgbClr val="FFFFFF"/>
                </a:solidFill>
              </a:rPr>
              <a:t>Per-label threshold is a decision-layer intervention: no retraining needed. Configs B and D use it. CRITICAL: tune only on val set; lock thresholds.json before running test evaluation.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611112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B7C93"/>
                </a:solidFill>
              </a:rPr>
              <a:t>[LLMs Multi-label, EMNLP 2025]  |  Lipton et al. (2014) -- threshold-moving for imbalanced classification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4D8"/>
                </a:solidFill>
              </a:rPr>
              <a:t>LITERATURE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</a:rPr>
              <a:t>What the Literature Has and Has Not Established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72768"/>
            <a:ext cx="5394960" cy="3886200"/>
          </a:xfrm>
          <a:prstGeom prst="rect">
            <a:avLst/>
          </a:prstGeom>
          <a:solidFill>
            <a:srgbClr val="F0F4F8"/>
          </a:solidFill>
          <a:ln w="19050">
            <a:solidFill>
              <a:srgbClr val="00B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64208"/>
            <a:ext cx="5065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878"/>
                </a:solidFill>
              </a:rPr>
              <a:t>ESTABLISHED (by existing literature)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048256"/>
            <a:ext cx="5065776" cy="33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1. Keeping emoji is best preprocessing for social media emotion (ViGoEmotions Scenario 1).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2. ViSoBERT outperforms PhoBERT on Vietnamese social media NLP due to domain alignment.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3. Per-label threshold tuning significantly improves F1-macro over global 0.5 threshold.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4. ASL loss improves F1-macro over BCE on English fine-grained emotion (GoEmotions +0.08).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5. Class imbalance in fine-grained emotion datasets does not benefit from simple oversampling (ViHateT5).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572768"/>
            <a:ext cx="5394960" cy="3886200"/>
          </a:xfrm>
          <a:prstGeom prst="rect">
            <a:avLst/>
          </a:prstGeom>
          <a:solidFill>
            <a:srgbClr val="F0F4F8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1664208"/>
            <a:ext cx="5065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6B35"/>
                </a:solidFill>
              </a:rPr>
              <a:t>NOT YET ESTABLISHED (open questions)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1072" y="2048256"/>
            <a:ext cx="5065776" cy="33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1. Whether ASL improves Vietnamese emotion detection specifically on ViGoEmotions.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2. Whether ASL + per-label threshold (combined) outperforms each individually.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3. Whether the precision-recall trade-off from thresholding is stable across 3+ random seeds.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4. Whether rare/difficult/ambiguous labels benefit differently from ASL vs threshold tuning.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5. Which preprocessing scenario is optimal when ASL loss is used (not just BCE + pos_weight).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504688"/>
            <a:ext cx="11274552" cy="10789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B4D8"/>
                </a:solidFill>
              </a:rPr>
              <a:t>INFER: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43016"/>
            <a:ext cx="1072591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50">
                <a:solidFill>
                  <a:srgbClr val="FFFFFF"/>
                </a:solidFill>
              </a:rPr>
              <a:t>The literature provides strong motivation and precedent. All five 'not yet established' points are directly addressable by the A0-D ablation on ViGoEmotions -- that is the project's core contribution.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4D8"/>
                </a:solidFill>
              </a:rP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</a:rPr>
              <a:t>The Question This Project Addresses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72768"/>
            <a:ext cx="11274552" cy="10058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Central Claim: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56816"/>
            <a:ext cx="10817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Training-level (ASL) and decision-level (per-label threshold) interventions induce different precision-recall trade-offs across emotion categories. Their combined effect on ViGoEmotions is unknown.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88336"/>
            <a:ext cx="5500116" cy="2770632"/>
          </a:xfrm>
          <a:prstGeom prst="rect">
            <a:avLst/>
          </a:prstGeom>
          <a:solidFill>
            <a:srgbClr val="F0F4F8"/>
          </a:solidFill>
          <a:ln w="16510">
            <a:solidFill>
              <a:srgbClr val="CC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779776"/>
            <a:ext cx="51709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3030"/>
                </a:solidFill>
              </a:rPr>
              <a:t>Still Unclear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145536"/>
            <a:ext cx="5170932" cy="22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1. Does ASL improve ViGoEmotions F1-macro?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   (paper tested English GoEmotions only)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2. ASL + threshold vs each alone -- which wins?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   (no controlled comparison exists)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3. Does the benefit hold across 3 random seeds?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   (seed variance not reported in ASL literature)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4. Do operationally important labels (anger, grief)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   benefit more from threshold or from ASL?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1636" y="2688336"/>
            <a:ext cx="5500116" cy="2770632"/>
          </a:xfrm>
          <a:prstGeom prst="rect">
            <a:avLst/>
          </a:prstGeom>
          <a:solidFill>
            <a:srgbClr val="F0F4F8"/>
          </a:solidFill>
          <a:ln w="1651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6228" y="2779776"/>
            <a:ext cx="51709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This Project Addresses It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6228" y="3145536"/>
            <a:ext cx="5170932" cy="22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Ablation matrix A0, A, B, C, D on ViGoEmotions: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  A0: BCE plain (isolates pos_weight effect)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  A: BCE + pos_weight (paper-aligned baseline)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  B: BCE + pos_weight + per-label threshold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  C: ASL only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  D: ASL + per-label threshold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All configs: ViSoBERT, Scenario 1, 3+ seeds</a:t>
            </a:r>
          </a:p>
          <a:p>
            <a:pPr>
              <a:spcBef>
                <a:spcPts val="250"/>
              </a:spcBef>
            </a:pPr>
            <a:r>
              <a:rPr sz="950">
                <a:solidFill>
                  <a:srgbClr val="1A2430"/>
                </a:solidFill>
              </a:rPr>
              <a:t>Evaluation: Macro F1, operational recall, per-label 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504688"/>
            <a:ext cx="11274552" cy="10789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B4D8"/>
                </a:solidFill>
              </a:rPr>
              <a:t>INFER: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43016"/>
            <a:ext cx="1072591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50">
                <a:solidFill>
                  <a:srgbClr val="FFFFFF"/>
                </a:solidFill>
              </a:rPr>
              <a:t>The gap is specific and testable. The ablation design is complete. No new architecture needed -- backbone is ViSoBERT throughout. Applied Data Science framing: system evaluation, not method proposal.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4D8"/>
                </a:solidFill>
              </a:rPr>
              <a:t>FEASIBILITY AND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</a:rPr>
              <a:t>Can We Build This? Where Does It Fit?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72768"/>
            <a:ext cx="3566160" cy="3886200"/>
          </a:xfrm>
          <a:prstGeom prst="rect">
            <a:avLst/>
          </a:prstGeom>
          <a:solidFill>
            <a:srgbClr val="F0F4F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35661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682496"/>
            <a:ext cx="3236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D8"/>
                </a:solidFill>
              </a:rPr>
              <a:t>Technical Feasibility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84832"/>
            <a:ext cx="3236976" cy="3282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GPU: 6-8GB VRAM needed for ViSoBERT fine-tune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Verified by 00_feasibility_check.ipynb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Runtime: ~30-40 min per config per seed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5 configs x 3 seeds = ~15 runs total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/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Code: transformers + torch (standard stack)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Loss: ASL implemented in 20 lines of Python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Threshold: grid search, no external library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/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VERDICT: Technically feasible on available GPU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2524" y="1572768"/>
            <a:ext cx="3566160" cy="3886200"/>
          </a:xfrm>
          <a:prstGeom prst="rect">
            <a:avLst/>
          </a:prstGeom>
          <a:solidFill>
            <a:srgbClr val="F0F4F8"/>
          </a:solidFill>
          <a:ln w="19050">
            <a:solidFill>
              <a:srgbClr val="00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92524" y="1572768"/>
            <a:ext cx="3566160" cy="6400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7116" y="1682496"/>
            <a:ext cx="3236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8C8"/>
                </a:solidFill>
              </a:rPr>
              <a:t>Scope Feasibility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7116" y="2084832"/>
            <a:ext cx="3236976" cy="3282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Dataset: ViGoEmotions available locally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Backbone: ViSoBERT on HuggingFace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Preprocessing: underthesea + ViLexNorm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/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Timeline: 5 configs x 3 seeds in weeks 4-5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With 1 week buffer for reruns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/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Fallback if GPU OOM: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Reduce batch size + gradient accumulation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Mixed precision (fp16)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/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VERDICT: Achievable within 10-week timeline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7848" y="1572768"/>
            <a:ext cx="3566160" cy="3886200"/>
          </a:xfrm>
          <a:prstGeom prst="rect">
            <a:avLst/>
          </a:prstGeom>
          <a:solidFill>
            <a:srgbClr val="F0F4F8"/>
          </a:solidFill>
          <a:ln w="19050">
            <a:solidFill>
              <a:srgbClr val="00B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27848" y="1572768"/>
            <a:ext cx="3566160" cy="64008"/>
          </a:xfrm>
          <a:prstGeom prst="rect">
            <a:avLst/>
          </a:prstGeom>
          <a:solidFill>
            <a:srgbClr val="00B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682496"/>
            <a:ext cx="3236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878"/>
                </a:solidFill>
              </a:rPr>
              <a:t>Scope Boundaries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084832"/>
            <a:ext cx="3236976" cy="3282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NOT claiming: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- New model architecture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- SOTA on all benchmarks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- Production deployment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- Cross-platform user study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/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CLAIMING: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- Controlled ablation comparison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- Evidence about trade-offs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- Reproducible pipeline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  - Demo prototype (Streamlit)</a:t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/>
            </a:r>
          </a:p>
          <a:p>
            <a:pPr>
              <a:spcBef>
                <a:spcPts val="250"/>
              </a:spcBef>
            </a:pPr>
            <a:r>
              <a:rPr sz="900">
                <a:solidFill>
                  <a:srgbClr val="1A2430"/>
                </a:solidFill>
              </a:rPr>
              <a:t>VERDICT: Applied Data Science framing -- evaluating trade-offs, not proposing new methods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504688"/>
            <a:ext cx="11274552" cy="10789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B4D8"/>
                </a:solidFill>
              </a:rPr>
              <a:t>INFER: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43016"/>
            <a:ext cx="1072591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"/>
              </a:spcBef>
            </a:pPr>
            <a:r>
              <a:rPr sz="950">
                <a:solidFill>
                  <a:srgbClr val="FFFFFF"/>
                </a:solidFill>
              </a:rPr>
              <a:t>Feasibility is confirmed on three dimensions: technical (GPU verified), scope (dataset + backbone available), and framing (Applied DS -- no new method needed). Risk: VRAM OOM has mitigation plan.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B4D8"/>
                </a:solidFill>
              </a:rPr>
              <a:t>RESEARCH QUESTIONS, NEXT STEPS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76072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430"/>
                </a:solidFill>
              </a:rPr>
              <a:t>Summary and 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72768"/>
            <a:ext cx="6583680" cy="3886200"/>
          </a:xfrm>
          <a:prstGeom prst="rect">
            <a:avLst/>
          </a:prstGeom>
          <a:solidFill>
            <a:srgbClr val="F0F4F8"/>
          </a:solidFill>
          <a:ln w="1651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64208"/>
            <a:ext cx="6254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8C8"/>
                </a:solidFill>
              </a:rPr>
              <a:t>Research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048256"/>
            <a:ext cx="625449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1A2430"/>
                </a:solidFill>
              </a:rPr>
              <a:t>RQ1 (B3): How are the 28 emotion labels distributed across rare / difficult / ambiguous / operationally important axes?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A2430"/>
                </a:solidFill>
              </a:rPr>
              <a:t>RQ2 (B5): How do ASL (training-level) and per-label threshold (decision-level) differ in their Macro F1 vs. operational recall trade-offs?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A2430"/>
                </a:solidFill>
              </a:rPr>
              <a:t>RQ3 (B2): How stable are these trade-offs across preprocessing scenarios and random seeds?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401568"/>
            <a:ext cx="6254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8C8"/>
                </a:solidFill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785616"/>
            <a:ext cx="62544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1A2430"/>
                </a:solidFill>
              </a:rPr>
              <a:t>1. Data audit: verify schema, labels, split sizes, duplicates, platform metadata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2430"/>
                </a:solidFill>
              </a:rPr>
              <a:t>2. Feasibility check: forward + backward pass, VRAM, runtime per batch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2430"/>
                </a:solidFill>
              </a:rPr>
              <a:t>3. Paper-aligned baseline: ViSoBERT Config A, seed 42, target ~61.50% F1-macro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727448"/>
            <a:ext cx="62544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C93"/>
                </a:solidFill>
              </a:rPr>
              <a:t>Key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5093208"/>
            <a:ext cx="62544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750">
                <a:solidFill>
                  <a:srgbClr val="6B7C93"/>
                </a:solidFill>
              </a:rPr>
              <a:t>Nguyen et al. (2026), EACL -- ViGoEmotions  |  Demszky et al. (2020), ACL -- GoEmotions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6B7C93"/>
                </a:solidFill>
              </a:rPr>
              <a:t>Nguyen et al. (2023), EMNLP -- ViSoBERT  |  Nguyen &amp; Tuan (2020), EMNLP -- PhoBERT</a:t>
            </a:r>
          </a:p>
          <a:p>
            <a:pPr>
              <a:spcBef>
                <a:spcPts val="200"/>
              </a:spcBef>
            </a:pPr>
            <a:r>
              <a:rPr sz="750">
                <a:solidFill>
                  <a:srgbClr val="6B7C93"/>
                </a:solidFill>
              </a:rPr>
              <a:t>[Ramakrishnan &amp; Babu, 2025] -- BERT+ASL  |  [Anon, EMNLP 2025] -- LLMs Multi-label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572768"/>
            <a:ext cx="4416552" cy="3886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26196" y="2967228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5001768"/>
            <a:ext cx="4050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C93"/>
                </a:solidFill>
              </a:rPr>
              <a:t>Nhom 8 / DAP391m FA26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
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38999" y="0"/>
            <a:ext cx="4953000" cy="4953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3048000"/>
            <a:ext cx="3810000" cy="3810000"/>
          </a:xfrm>
          <a:prstGeom prst="rect">
            <a:avLst/>
          </a:prstGeom>
        </p:spPr>
      </p:pic>
      <p:pic>
        <p:nvPicPr>
          <p:cNvPr id="4" name="Image 2" descr="line">    </p:cNvPr>
          <p:cNvPicPr>
            <a:picLocks noChangeAspect="1"/>
          </p:cNvPicPr>
          <p:nvPr/>
        </p:nvPicPr>
        <p:blipFill>
          <a:blip r:embed="rId3"/>
          <a:srcRect l="-87" r="-87" t="0" b="0"/>
          <a:stretch/>
        </p:blipFill>
        <p:spPr>
          <a:xfrm>
            <a:off x="812712" y="1841500"/>
            <a:ext cx="762000" cy="380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12712" y="1967949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6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DAP391M · FA26 · LITERATURE SURVEY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12712" y="2435159"/>
            <a:ext cx="9810749" cy="124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F2F0E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Literature Survey and Project Feasibility Assessment</a:t>
            </a:r>
            <a:endParaRPr lang="en-US" sz="4200" dirty="0"/>
          </a:p>
        </p:txBody>
      </p:sp>
      <p:sp>
        <p:nvSpPr>
          <p:cNvPr id="7" name="Text 2"/>
          <p:cNvSpPr/>
          <p:nvPr/>
        </p:nvSpPr>
        <p:spPr>
          <a:xfrm>
            <a:off x="812712" y="3905140"/>
            <a:ext cx="9156699" cy="35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i="1" dirty="0">
                <a:solidFill>
                  <a:srgbClr val="CDD3D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Phát Hiện Cảm Xúc Chi Tiết Trên Văn Bản Tiếng Việt Mạng Xã Hội</a:t>
            </a:r>
            <a:endParaRPr lang="en-US" sz="1900" dirty="0"/>
          </a:p>
        </p:txBody>
      </p:sp>
      <p:sp>
        <p:nvSpPr>
          <p:cNvPr id="8" name="Shape 3"/>
          <p:cNvSpPr/>
          <p:nvPr/>
        </p:nvSpPr>
        <p:spPr>
          <a:xfrm>
            <a:off x="815887" y="4488083"/>
            <a:ext cx="1886854" cy="398683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65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984801" y="4580819"/>
            <a:ext cx="1599825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C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 Emotion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2810625" y="4488083"/>
            <a:ext cx="2113293" cy="398683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65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979539" y="4580819"/>
            <a:ext cx="1828728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C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Multi-label Classification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031801" y="4488083"/>
            <a:ext cx="1527131" cy="398683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65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00716" y="4580819"/>
            <a:ext cx="1240102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C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Vietnamese NLP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666816" y="4488083"/>
            <a:ext cx="1258689" cy="398683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65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835731" y="4580819"/>
            <a:ext cx="97166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C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712" y="6238434"/>
            <a:ext cx="228656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8: Gia Phúc · Khoa · Quý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447057" y="6238434"/>
            <a:ext cx="198997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DAP391m FA26 ·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2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CONTEXT AND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0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Sentiment Isn’t Enough for Vietnamese Social Media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887" y="1702682"/>
            <a:ext cx="3397294" cy="3221015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623" y="1909741"/>
            <a:ext cx="30465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vs. Fine-grained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5623" y="2211917"/>
            <a:ext cx="3046556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Sentiment: 3 nhãn (positive / negative / neutral) — đủ cho star-rating.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5623" y="2733366"/>
            <a:ext cx="3046556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Fine-grained: 27 nhãn cụ thể (admiration, grief, anger, confusion…).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5623" y="3254816"/>
            <a:ext cx="3046556" cy="674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dụ: “&amp;Ocirc;i trời ôi sao hay thế này” có thể là joy + admiration HOẶC surprise.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7242" y="1702682"/>
            <a:ext cx="3397404" cy="3221015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6979" y="1909741"/>
            <a:ext cx="3046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Vietnamese Social Media 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6979" y="2211917"/>
            <a:ext cx="3046669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 triệu người dùng internet VN, 73% dùng mạng xã hội (We Are Social 2024).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6979" y="2733366"/>
            <a:ext cx="3046669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GoEmotions [ACL 2020]: định nghĩa taxonomy 27 nhãn cho tiếng Anh.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6979" y="3254816"/>
            <a:ext cx="3046669" cy="674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Tiếng Việt: chưa có dữ liệu fine-grained multi-label tương đương trước ViGoEmotions 2026.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08" y="1702682"/>
            <a:ext cx="3397404" cy="3221015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8445" y="1909741"/>
            <a:ext cx="3046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Use Case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98445" y="2211917"/>
            <a:ext cx="3046669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feedback triage trên mạng xã hội Việt Nam.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98445" y="2733366"/>
            <a:ext cx="3046669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cần biết không chỉ “negative” — mà là giận dữ? thất vọng? lo lắng?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8445" y="3254816"/>
            <a:ext cx="3046669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Nhãn hiếm hoặc khó vẫn có thể quan trọng với business.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712" y="5130050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762" y="5130050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5701" y="5269729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 emotion detection đòi hỏi multi-label classification với 27 nhãn — khó hơn đáng kể so với 3-class sentiment. MXH Việt Nam có quy mô nhưng thiếu dataset phù hợp trước 2026.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712" y="6238434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88816" y="6238434"/>
            <a:ext cx="541051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OBJECTIVE AND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0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This Survey Covers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2712" y="1674042"/>
            <a:ext cx="10566576" cy="815799"/>
          </a:xfrm>
          <a:prstGeom prst="roundRect">
            <a:avLst>
              <a:gd name="adj" fmla="val 10897"/>
            </a:avLst>
          </a:prstGeom>
          <a:solidFill>
            <a:srgbClr val="1F2734"/>
          </a:solidFill>
          <a:ln/>
        </p:spPr>
      </p:sp>
      <p:sp>
        <p:nvSpPr>
          <p:cNvPr id="5" name="Text 3"/>
          <p:cNvSpPr/>
          <p:nvPr/>
        </p:nvSpPr>
        <p:spPr>
          <a:xfrm>
            <a:off x="1028568" y="1851754"/>
            <a:ext cx="1043891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Objective:</a:t>
            </a:r>
            <a:r>
              <a:rPr lang="en-US" sz="1250" dirty="0">
                <a:solidFill>
                  <a:srgbClr val="F2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Xác định các phát hiện đã thiết lập, khoảng trống mở, và điều kiện khả thi để áp dụng can thiệp mức huấn luyện (ASL) và mức quyết định (per-label threshold) lên ViGoEmotions.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5887" y="2670727"/>
            <a:ext cx="5188082" cy="2278437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6350">
            <a:solidFill>
              <a:srgbClr val="CF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5623" y="2865107"/>
            <a:ext cx="4891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5623" y="3167284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Datasets — ViGoEmotions và GoEmotions taxonomy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5623" y="3469349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Vietnamese PLMs — ViSoBERT và PhoBERT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5623" y="3771415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Preprocessing — 3 kịch bản từ paper gốc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5623" y="4073482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Imbalance-aware training — hàm loss ASL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5623" y="4375547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Decision-level thresholding — per-label vs global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8030" y="2670727"/>
            <a:ext cx="5188082" cy="2278437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6350">
            <a:solidFill>
              <a:srgbClr val="EEDD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7767" y="2865107"/>
            <a:ext cx="4891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7767" y="3167284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Calibration methods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7767" y="3469349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Multimodal inputs (ảnh + văn bản)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7767" y="3771415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LLM-based data augmentation (Emo Pillars)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7767" y="4073482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Đề xuất kiến trúc mới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7767" y="4375547"/>
            <a:ext cx="48910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Cross-platform user study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712" y="5130051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762" y="5130051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701" y="5269728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giới hạn trong 4 mảng cốt lõi, trực tiếp phục vụ thiết kế thực nghiệm của dự án: dataset, lựa chọn PLM, tiền xử lý, và chiến lược loss/threshold.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87604" y="6238435"/>
            <a:ext cx="54226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2"/>
            <a:ext cx="10883573" cy="216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MAP</a:t>
            </a:r>
            <a:endParaRPr lang="en-US" sz="1088" dirty="0"/>
          </a:p>
        </p:txBody>
      </p:sp>
      <p:sp>
        <p:nvSpPr>
          <p:cNvPr id="3" name="Text 1"/>
          <p:cNvSpPr/>
          <p:nvPr/>
        </p:nvSpPr>
        <p:spPr>
          <a:xfrm>
            <a:off x="812712" y="1080052"/>
            <a:ext cx="10883573" cy="378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24"/>
              </a:lnSpc>
              <a:buNone/>
            </a:pPr>
            <a:r>
              <a:rPr lang="en-US" sz="2455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Clusters, One Research Path</a:t>
            </a:r>
            <a:endParaRPr lang="en-US" sz="245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12" y="1636559"/>
          <a:ext cx="10566355" cy="2734799"/>
        </p:xfrm>
        <a:graphic>
          <a:graphicData uri="http://schemas.openxmlformats.org/drawingml/2006/table">
            <a:tbl>
              <a:tblPr/>
              <a:tblGrid>
                <a:gridCol w="3522118"/>
                <a:gridCol w="3522118"/>
                <a:gridCol w="3522118"/>
              </a:tblGrid>
              <a:tr h="546916"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b="1" dirty="0">
                          <a:solidFill>
                            <a:srgbClr val="F2F0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b="1" dirty="0">
                          <a:solidFill>
                            <a:srgbClr val="F2F0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Tiêu đề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b="1" dirty="0">
                          <a:solidFill>
                            <a:srgbClr val="F2F0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Papers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46916"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Dataset and Taxonomy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GoEmotions, ViGoEmotions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916"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Vietnamese Models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ViSoBERT, PhoBERT, ViLexNorm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026"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Imbalance-aware Training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ASL Loss, BCE + pos_weight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026"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Thresholding and Applied Evaluation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009"/>
                        </a:lnSpc>
                        <a:buNone/>
                      </a:pPr>
                      <a:r>
                        <a:rPr lang="en-US" sz="1435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Per-label threshold, Decision layer</a:t>
                      </a:r>
                      <a:endParaRPr lang="en-US" sz="143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712" y="4569575"/>
            <a:ext cx="1039592" cy="416278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/>
        </p:spPr>
      </p:sp>
      <p:sp>
        <p:nvSpPr>
          <p:cNvPr id="6" name="Text 3"/>
          <p:cNvSpPr/>
          <p:nvPr/>
        </p:nvSpPr>
        <p:spPr>
          <a:xfrm>
            <a:off x="977746" y="4671109"/>
            <a:ext cx="76032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1941160" y="4701425"/>
            <a:ext cx="279356" cy="1523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09371" y="4569575"/>
            <a:ext cx="1634794" cy="416278"/>
          </a:xfrm>
          <a:prstGeom prst="roundRect">
            <a:avLst>
              <a:gd name="adj" fmla="val 50000"/>
            </a:avLst>
          </a:prstGeom>
          <a:solidFill>
            <a:srgbClr val="F8ECE0"/>
          </a:solidFill>
          <a:ln/>
        </p:spPr>
      </p:sp>
      <p:sp>
        <p:nvSpPr>
          <p:cNvPr id="9" name="Text 5"/>
          <p:cNvSpPr/>
          <p:nvPr/>
        </p:nvSpPr>
        <p:spPr>
          <a:xfrm>
            <a:off x="2474405" y="4671109"/>
            <a:ext cx="135552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identification</a:t>
            </a:r>
            <a:endParaRPr lang="en-US" sz="12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4033021" y="4701425"/>
            <a:ext cx="279356" cy="15235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01233" y="4569575"/>
            <a:ext cx="1458185" cy="416278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/>
        </p:spPr>
      </p:sp>
      <p:sp>
        <p:nvSpPr>
          <p:cNvPr id="12" name="Text 7"/>
          <p:cNvSpPr/>
          <p:nvPr/>
        </p:nvSpPr>
        <p:spPr>
          <a:xfrm>
            <a:off x="4566267" y="4671109"/>
            <a:ext cx="117891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choices</a:t>
            </a:r>
            <a:endParaRPr lang="en-US" sz="1200" dirty="0"/>
          </a:p>
        </p:txBody>
      </p:sp>
      <p:pic>
        <p:nvPicPr>
          <p:cNvPr id="13" name="Image 2" descr="arrow-right">    </p:cNvPr>
          <p:cNvPicPr>
            <a:picLocks noChangeAspect="1"/>
          </p:cNvPicPr>
          <p:nvPr/>
        </p:nvPicPr>
        <p:blipFill>
          <a:blip r:embed="rId3"/>
          <a:srcRect l="-7" r="-7" t="0" b="0"/>
          <a:stretch/>
        </p:blipFill>
        <p:spPr>
          <a:xfrm>
            <a:off x="5948274" y="4701425"/>
            <a:ext cx="279356" cy="1523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16486" y="4569575"/>
            <a:ext cx="2058679" cy="41627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/>
        </p:spPr>
      </p:sp>
      <p:sp>
        <p:nvSpPr>
          <p:cNvPr id="15" name="Text 9"/>
          <p:cNvSpPr/>
          <p:nvPr/>
        </p:nvSpPr>
        <p:spPr>
          <a:xfrm>
            <a:off x="6481519" y="4671109"/>
            <a:ext cx="17804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 confirmation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12712" y="5169849"/>
            <a:ext cx="10566576" cy="672152"/>
          </a:xfrm>
          <a:prstGeom prst="roundRect">
            <a:avLst>
              <a:gd name="adj" fmla="val 7558"/>
            </a:avLst>
          </a:prstGeom>
          <a:solidFill>
            <a:srgbClr val="E3EFEC"/>
          </a:solidFill>
          <a:ln/>
        </p:spPr>
      </p:sp>
      <p:sp>
        <p:nvSpPr>
          <p:cNvPr id="17" name="Shape 11"/>
          <p:cNvSpPr/>
          <p:nvPr/>
        </p:nvSpPr>
        <p:spPr>
          <a:xfrm>
            <a:off x="831762" y="5169849"/>
            <a:ext cx="0" cy="672152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025701" y="5309526"/>
            <a:ext cx="10481150" cy="41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177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Mỗi cluster trả lời một câu hỏi thiết kế cụ thể. Cùng nhau, chúng tạo nền tảng bằng chứng cho RQ2 (ASL + threshold) và khẳng định tính khả thi.</a:t>
            </a:r>
            <a:endParaRPr lang="en-US" sz="1177" dirty="0"/>
          </a:p>
        </p:txBody>
      </p:sp>
      <p:sp>
        <p:nvSpPr>
          <p:cNvPr id="19" name="Text 13"/>
          <p:cNvSpPr/>
          <p:nvPr/>
        </p:nvSpPr>
        <p:spPr>
          <a:xfrm>
            <a:off x="812712" y="6238433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883304" y="6238433"/>
            <a:ext cx="54656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1 · DATASET AND 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0"/>
            <a:ext cx="1088357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the 27-Label Taxonomy Transfer to Vietnamese?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887" y="1648113"/>
            <a:ext cx="5042120" cy="647832"/>
          </a:xfrm>
          <a:prstGeom prst="roundRect">
            <a:avLst>
              <a:gd name="adj" fmla="val 13233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1" y="1778992"/>
            <a:ext cx="4845420" cy="41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Question:</a:t>
            </a:r>
            <a:r>
              <a:rPr lang="en-US" sz="1095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the 27-label GoEmotions taxonomy transfer reliably to Vietnamese social media?</a:t>
            </a:r>
            <a:endParaRPr lang="en-US" sz="1095" dirty="0"/>
          </a:p>
        </p:txBody>
      </p:sp>
      <p:sp>
        <p:nvSpPr>
          <p:cNvPr id="6" name="Shape 4"/>
          <p:cNvSpPr/>
          <p:nvPr/>
        </p:nvSpPr>
        <p:spPr>
          <a:xfrm>
            <a:off x="815887" y="2403828"/>
            <a:ext cx="5042120" cy="840868"/>
          </a:xfrm>
          <a:prstGeom prst="roundRect">
            <a:avLst>
              <a:gd name="adj" fmla="val 10195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4801" y="2534710"/>
            <a:ext cx="4845420" cy="604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155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Finding:</a:t>
            </a:r>
            <a:r>
              <a:rPr lang="en-US" sz="1155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ViGoEmotions xác nhận transfer: 20,664 mẫu, 28 nhãn, LLM đề xuất + người xác minh. Chỉ 40.82% LLM-human agreement.</a:t>
            </a:r>
            <a:endParaRPr lang="en-US" sz="1155" dirty="0"/>
          </a:p>
        </p:txBody>
      </p:sp>
      <p:sp>
        <p:nvSpPr>
          <p:cNvPr id="8" name="Shape 6"/>
          <p:cNvSpPr/>
          <p:nvPr/>
        </p:nvSpPr>
        <p:spPr>
          <a:xfrm>
            <a:off x="815887" y="3352580"/>
            <a:ext cx="5042120" cy="647832"/>
          </a:xfrm>
          <a:prstGeom prst="roundRect">
            <a:avLst>
              <a:gd name="adj" fmla="val 13233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01" y="3483462"/>
            <a:ext cx="4845420" cy="41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095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Limitation:</a:t>
            </a:r>
            <a:r>
              <a:rPr lang="en-US" sz="1095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Platform metadata không đầy đủ. Ngưỡng độ tin cậy tổng thể (Kappa) chưa được nêu rõ.</a:t>
            </a:r>
            <a:endParaRPr lang="en-US" sz="1095" dirty="0"/>
          </a:p>
        </p:txBody>
      </p:sp>
      <p:sp>
        <p:nvSpPr>
          <p:cNvPr id="10" name="Shape 8"/>
          <p:cNvSpPr/>
          <p:nvPr/>
        </p:nvSpPr>
        <p:spPr>
          <a:xfrm>
            <a:off x="815887" y="4108298"/>
            <a:ext cx="5042120" cy="840868"/>
          </a:xfrm>
          <a:prstGeom prst="roundRect">
            <a:avLst>
              <a:gd name="adj" fmla="val 10195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1" y="4239177"/>
            <a:ext cx="4845420" cy="604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Implication:</a:t>
            </a:r>
            <a:r>
              <a:rPr lang="en-US" sz="1088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ViGoEmotions là dataset duy nhất kết hợp tiếng Việt + 27 nhãn fine-grained + multi-label + quy mô MXH. Dùng nguyên bản, không re-annotate.</a:t>
            </a:r>
            <a:endParaRPr lang="en-US" sz="1088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64360" y="1644938"/>
          <a:ext cx="5314928" cy="4606837"/>
        </p:xfrm>
        <a:graphic>
          <a:graphicData uri="http://schemas.openxmlformats.org/drawingml/2006/table">
            <a:tbl>
              <a:tblPr/>
              <a:tblGrid>
                <a:gridCol w="1771643"/>
                <a:gridCol w="1771643"/>
                <a:gridCol w="1771643"/>
              </a:tblGrid>
              <a:tr h="46919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2F0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2F0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GoEmotions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2F0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ViGoEmotions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6919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Language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English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Vietnamese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62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Reddit (58k)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FB/TikTok/YT (20.6k)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9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Labels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 + neutral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 + neutral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9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Task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Multi-label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Multi-label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62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Baseline F1-macro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 ~0.46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ViSoBERT 61.50%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62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Annotation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annotators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LLM + human verify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9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ACL 2020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30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EACL 2026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12712" y="5130053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14" name="Shape 11"/>
          <p:cNvSpPr/>
          <p:nvPr/>
        </p:nvSpPr>
        <p:spPr>
          <a:xfrm>
            <a:off x="831762" y="5130053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5701" y="5269728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GoEmotions thiết lập taxonomy 27 nhãn; ViGoEmotions xác thực nó cho tiếng Việt. Khoảng cách baseline (BERT 0.46 vs ViSoBERT 0.615) phản ánh cải thiện cả domain lẫn ngôn ngữ.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891351" y="6238435"/>
            <a:ext cx="538515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0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ViGoEmotions: Scale and Imbalance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887" y="1677215"/>
            <a:ext cx="4497409" cy="327194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623" y="1871597"/>
            <a:ext cx="4179675" cy="25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20,664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bình luận mạng xã hội tiếng Việt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5623" y="2237054"/>
            <a:ext cx="4179675" cy="25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nhãn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27 cảm xúc chi tiết + neutral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35623" y="2602508"/>
            <a:ext cx="4179675" cy="25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Multi-label: trung bình </a:t>
            </a: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~1.91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nhãn/bình luận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35623" y="2967965"/>
            <a:ext cx="4179675" cy="25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Nguồn: Facebook, TikTok, YouTube, Threads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5623" y="3333310"/>
            <a:ext cx="4179675" cy="25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Split: Train </a:t>
            </a: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16,531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Val </a:t>
            </a: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2,066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Test </a:t>
            </a: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2,067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35623" y="3698766"/>
            <a:ext cx="41796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Annotation: 3 LLM đề xuất → người xác minh (agreement chỉ </a:t>
            </a: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40.82%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35623" y="4294408"/>
            <a:ext cx="41796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ViSoBERT + Scenario 1: F1-macro </a:t>
            </a:r>
            <a:r>
              <a:rPr lang="en-US" sz="125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61.50%</a:t>
            </a:r>
            <a:r>
              <a:rPr lang="en-US" sz="12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F1-weighted 63.26%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22824" y="1677215"/>
            <a:ext cx="5853288" cy="327194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pic>
        <p:nvPicPr>
          <p:cNvPr id="13" name="Image 0" descr="Label Distribution - ViGoEmotions Train Set, horizontal bar chart of 28 emotion lab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04416" y="1833454"/>
            <a:ext cx="2888699" cy="259302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04416" y="4502658"/>
            <a:ext cx="5654807" cy="31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19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3: amusement (2868), sadness (2785), annoyance (2662) · Thấp nhất: relief (635) · Tỷ lệ 4.52×</a:t>
            </a:r>
            <a:endParaRPr lang="en-US" sz="919" dirty="0"/>
          </a:p>
        </p:txBody>
      </p:sp>
      <p:sp>
        <p:nvSpPr>
          <p:cNvPr id="15" name="Shape 12"/>
          <p:cNvSpPr/>
          <p:nvPr/>
        </p:nvSpPr>
        <p:spPr>
          <a:xfrm>
            <a:off x="812712" y="5130050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16" name="Shape 13"/>
          <p:cNvSpPr/>
          <p:nvPr/>
        </p:nvSpPr>
        <p:spPr>
          <a:xfrm>
            <a:off x="831762" y="5130050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5701" y="5269728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Mất cân bằng lớp nghiêm trọng: top-3 nhãn chiếm ~26% tổng label instances; nhãn ở đáy ít hơn 3-4×. Đây là lý do cần ASL loss và per-label threshold.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887273" y="6238435"/>
            <a:ext cx="54259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2 · VIETNAMESE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0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Choosing the Right Vietnamese Backbone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9062" y="1680390"/>
            <a:ext cx="3390944" cy="3265598"/>
          </a:xfrm>
          <a:prstGeom prst="roundRect">
            <a:avLst>
              <a:gd name="adj" fmla="val 2917"/>
            </a:avLst>
          </a:prstGeom>
          <a:solidFill>
            <a:srgbClr val="E3EFEC"/>
          </a:solidFill>
          <a:ln w="12700">
            <a:solidFill>
              <a:srgbClr val="0E6F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267" y="1858807"/>
            <a:ext cx="30987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ViSoBERT · best fit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0267" y="2148306"/>
            <a:ext cx="3098789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Kiến trúc: XLM-R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10267" y="2426010"/>
            <a:ext cx="3098789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liệu: 1GB MXH tiếng Việt (FB, TikTok, YT, 2016–2022)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0267" y="2905237"/>
            <a:ext cx="3098789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Giữ emoji khi tokenize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10267" y="3182938"/>
            <a:ext cx="3098789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F1-macro </a:t>
            </a:r>
            <a:r>
              <a:rPr lang="en-US" sz="1150" b="1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61.50%</a:t>
            </a:r>
            <a:r>
              <a:rPr lang="en-US" sz="11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trên ViGoEmotions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0267" y="3460641"/>
            <a:ext cx="3098789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Backbone chính cho ablation A0–D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10267" y="3738342"/>
            <a:ext cx="3098789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EMNLP 2023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7242" y="1677215"/>
            <a:ext cx="3397404" cy="327194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1623" y="1858807"/>
            <a:ext cx="30989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PhoBERT · comparison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1623" y="2148306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Kiến trúc: RoBERTa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1623" y="2426010"/>
            <a:ext cx="3098902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liệu: 20GB tiếng Việt trang trọng (báo, sách, Wikipedia)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1623" y="2905237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Cần tokenizer VnCoreNLP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1623" y="3182938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mismatch: trang trọng vs MXH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1623" y="3460641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Backbone so sánh (chỉ config A)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1623" y="3738342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b="1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EMNLP 2020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78708" y="1677215"/>
            <a:ext cx="3397404" cy="327194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3089" y="1858807"/>
            <a:ext cx="30989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ViLexNorm · preprocessing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73089" y="2148306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12,600 cặp chuẩn hoá (tiếng lóng → chuẩn)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73089" y="2426010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VD: ko→không, mk→mình, bik→biết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73089" y="2703711"/>
            <a:ext cx="3098902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Cung cấp công cụ ViSoLex tự động chuẩn hoá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73089" y="3182938"/>
            <a:ext cx="3098902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Lưu ý: chuẩn hoá quá mức làm giảm hiệu năng ViSoBERT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73089" y="3662164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Scenario 1 chỉ chuẩn hoá tối thiểu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73089" y="3939868"/>
            <a:ext cx="3098902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b="1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COLING 2022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712" y="5130050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1762" y="5130050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701" y="5269728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Sự phù hợp domain của ViSoBERT là lý do cốt lõi nó vượt trội hơn PhoBERT. Pretrain trên MXH + giữ emoji = ít tiền xử lý hơn + coverage token tốt hơn.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898518" y="6238435"/>
            <a:ext cx="53134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3 · IMBALANCE-AWARE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0"/>
            <a:ext cx="1088357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ASL Loss Beat BCE on Fine-Grained Labels?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887" y="1648110"/>
            <a:ext cx="4990526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1" y="1778992"/>
            <a:ext cx="479227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replacing BCE with Asymmetric Loss (ASL) consistently improve F1-macro?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887" y="2444176"/>
            <a:ext cx="4990526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4801" y="2575058"/>
            <a:ext cx="479227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BERT+ASL [2025] trên GoEmotions: F1-macro 0.46→0.54 (+0.08) chỉ bằng đổi loss.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887" y="3240243"/>
            <a:ext cx="4990526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01" y="3371121"/>
            <a:ext cx="479227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Kết quả từ GoEmotions (tiếng Anh). Chưa test trên ViGoEmotions.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887" y="4036309"/>
            <a:ext cx="4990526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1" y="4167184"/>
            <a:ext cx="479227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ASL là can thiệp training ít tốn công. Bắt đầu với default (γ+=0, γ-=4, m=0.05).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15941" y="1648110"/>
            <a:ext cx="5360171" cy="33010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7533" y="1804349"/>
            <a:ext cx="514689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ASL 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7533" y="2053168"/>
            <a:ext cx="5146896" cy="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Trong multi-label: hầu hết nhãn là negative</a:t>
            </a:r>
            <a:endParaRPr lang="en-US" sz="1100" dirty="0"/>
          </a:p>
        </p:txBody>
      </p:sp>
      <p:pic>
        <p:nvPicPr>
          <p:cNvPr id="15" name="Image 0" descr="arrow-down">    </p:cNvPr>
          <p:cNvPicPr>
            <a:picLocks noChangeAspect="1"/>
          </p:cNvPicPr>
          <p:nvPr/>
        </p:nvPicPr>
        <p:blipFill>
          <a:blip r:embed="rId1"/>
          <a:srcRect l="-14" r="-14" t="0" b="0"/>
          <a:stretch/>
        </p:blipFill>
        <p:spPr>
          <a:xfrm>
            <a:off x="6197533" y="2288205"/>
            <a:ext cx="127000" cy="1523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97533" y="2491271"/>
            <a:ext cx="5146896" cy="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BCE: mọi negative nhận trọng số gradient như nhau</a:t>
            </a:r>
            <a:endParaRPr lang="en-US" sz="1100" dirty="0"/>
          </a:p>
        </p:txBody>
      </p:sp>
      <p:pic>
        <p:nvPicPr>
          <p:cNvPr id="17" name="Image 1" descr="arrow-down">    </p:cNvPr>
          <p:cNvPicPr>
            <a:picLocks noChangeAspect="1"/>
          </p:cNvPicPr>
          <p:nvPr/>
        </p:nvPicPr>
        <p:blipFill>
          <a:blip r:embed="rId2"/>
          <a:srcRect l="-14" r="-14" t="0" b="0"/>
          <a:stretch/>
        </p:blipFill>
        <p:spPr>
          <a:xfrm>
            <a:off x="6197533" y="2726311"/>
            <a:ext cx="127000" cy="1523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97533" y="2929378"/>
            <a:ext cx="5146896" cy="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Easy negatives lấn át, che khất hard positives</a:t>
            </a:r>
            <a:endParaRPr lang="en-US" sz="1100" dirty="0"/>
          </a:p>
        </p:txBody>
      </p:sp>
      <p:pic>
        <p:nvPicPr>
          <p:cNvPr id="19" name="Image 2" descr="arrow-down">    </p:cNvPr>
          <p:cNvPicPr>
            <a:picLocks noChangeAspect="1"/>
          </p:cNvPicPr>
          <p:nvPr/>
        </p:nvPicPr>
        <p:blipFill>
          <a:blip r:embed="rId3"/>
          <a:srcRect l="-14" r="-14" t="0" b="0"/>
          <a:stretch/>
        </p:blipFill>
        <p:spPr>
          <a:xfrm>
            <a:off x="6197533" y="3164418"/>
            <a:ext cx="127000" cy="1523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97533" y="3367484"/>
            <a:ext cx="5146896" cy="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ASL: γ- giảm trọng số easy negatives (γ-=4)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97533" y="3602521"/>
            <a:ext cx="5146896" cy="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ASL: γ+=0, giữ nguyên gradient positive</a:t>
            </a:r>
            <a:endParaRPr lang="en-US" sz="1100" dirty="0"/>
          </a:p>
        </p:txBody>
      </p:sp>
      <p:pic>
        <p:nvPicPr>
          <p:cNvPr id="22" name="Image 3" descr="arrow-down">    </p:cNvPr>
          <p:cNvPicPr>
            <a:picLocks noChangeAspect="1"/>
          </p:cNvPicPr>
          <p:nvPr/>
        </p:nvPicPr>
        <p:blipFill>
          <a:blip r:embed="rId4"/>
          <a:srcRect l="-14" r="-14" t="0" b="0"/>
          <a:stretch/>
        </p:blipFill>
        <p:spPr>
          <a:xfrm>
            <a:off x="6197533" y="3837561"/>
            <a:ext cx="127000" cy="1523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97533" y="4040631"/>
            <a:ext cx="5146896" cy="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quả: model tập trung vào true positives + hard negatives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197533" y="4275668"/>
            <a:ext cx="4996987" cy="359282"/>
          </a:xfrm>
          <a:prstGeom prst="roundRect">
            <a:avLst>
              <a:gd name="adj" fmla="val 17674"/>
            </a:avLst>
          </a:prstGeom>
          <a:solidFill>
            <a:srgbClr val="E3EFEC"/>
          </a:solidFill>
          <a:ln/>
        </p:spPr>
      </p:sp>
      <p:sp>
        <p:nvSpPr>
          <p:cNvPr id="25" name="Text 19"/>
          <p:cNvSpPr/>
          <p:nvPr/>
        </p:nvSpPr>
        <p:spPr>
          <a:xfrm>
            <a:off x="6311745" y="4364524"/>
            <a:ext cx="491162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C = chỉ ASL · Config D = ASL + per-label threshold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12712" y="5130053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27" name="Shape 21"/>
          <p:cNvSpPr/>
          <p:nvPr/>
        </p:nvSpPr>
        <p:spPr>
          <a:xfrm>
            <a:off x="831762" y="5130053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25701" y="5269728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ASL giải quyết vấn đề cấu trúc của BCE trong multi-label: 27 lớp nghĩa là 26 negative cho mỗi positive. Config C tách riêng hiệu ứng ASL; Config A0 tách riêng hiệu ứng pos_weight.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12712" y="6238432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0887494" y="6238432"/>
            <a:ext cx="54237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4 · THRESHOLDING AND APPLIED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3"/>
            <a:ext cx="1088357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Per-Label Threshold vs. Global 0.5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887" y="1648116"/>
            <a:ext cx="5175294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1" y="1778992"/>
            <a:ext cx="498258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per-label threshold tuning improve F1-macro vs. a global threshold of 0.5?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887" y="2444179"/>
            <a:ext cx="5175294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4801" y="2575061"/>
            <a:ext cx="498258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LLMs Multi-label [EMNLP 2025]: per-label threshold nâng F1 từ 0.27 lên 0.43 (+0.16).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887" y="3240243"/>
            <a:ext cx="5175294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01" y="3371124"/>
            <a:ext cx="498258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Threshold phải chọn trên val set. Tune trên test = data leakage. Grid: 17×28=476 đánh giá.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887" y="4036312"/>
            <a:ext cx="5175294" cy="688181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1" y="4167188"/>
            <a:ext cx="4982589" cy="45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Implication:</a:t>
            </a:r>
            <a:r>
              <a:rPr lang="en-US" sz="12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Config B, D dùng per-label threshold. Khoá thresholds.json trước khi đánh giá trên test.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0708" y="1648116"/>
            <a:ext cx="5175404" cy="978782"/>
          </a:xfrm>
          <a:prstGeom prst="roundRect">
            <a:avLst>
              <a:gd name="adj" fmla="val 8758"/>
            </a:avLst>
          </a:prstGeom>
          <a:solidFill>
            <a:srgbClr val="F8ECE0"/>
          </a:solidFill>
          <a:ln w="6350">
            <a:solidFill>
              <a:srgbClr val="EE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9623" y="1791674"/>
            <a:ext cx="498270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threshold 0.5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9623" y="2055595"/>
            <a:ext cx="4982703" cy="21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5C56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label_i = 1 nếu p_i &gt; 0.5 với MỌI 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9623" y="2294824"/>
            <a:ext cx="4982703" cy="21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Nhãn hiếm: p hiếm khi đạt 0.5 → luôn dự đoán 0 → recall =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0708" y="2734779"/>
            <a:ext cx="5175404" cy="1218009"/>
          </a:xfrm>
          <a:prstGeom prst="roundRect">
            <a:avLst>
              <a:gd name="adj" fmla="val 7038"/>
            </a:avLst>
          </a:prstGeom>
          <a:solidFill>
            <a:srgbClr val="E3EFEC"/>
          </a:solidFill>
          <a:ln w="6350">
            <a:solidFill>
              <a:srgbClr val="CF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9623" y="2878336"/>
            <a:ext cx="498270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Per-label threshold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9623" y="3142258"/>
            <a:ext cx="4982703" cy="21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label_i = 1 nếu p_i &gt; t_i (t_i tune trên val, grid [0.1,0.9], bước 0.05)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9623" y="3381487"/>
            <a:ext cx="4982703" cy="21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Nhãn hiếm: t_i thấp hơn → recall tốt hơn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9623" y="3620715"/>
            <a:ext cx="4982703" cy="21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Nhãn phổ biến: giữ t_i cao → precision được bảo toàn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712" y="5130056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22" name="Shape 20"/>
          <p:cNvSpPr/>
          <p:nvPr/>
        </p:nvSpPr>
        <p:spPr>
          <a:xfrm>
            <a:off x="831762" y="5130056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701" y="5269731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Per-label threshold là can thiệp decision-layer: không cần train lại. Config B, D dùng nó. QUAN TRỌNG: chỉ tune trên val set; khoá thresholds.json trước khi chạy test.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87273" y="6238435"/>
            <a:ext cx="54259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3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We Know — and What We Don’t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887" y="1677219"/>
            <a:ext cx="5188082" cy="327194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6350">
            <a:solidFill>
              <a:srgbClr val="CF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945" y="1858807"/>
            <a:ext cx="49171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2945" y="2148309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Giữ emoji là tiền xử lý tốt nhất cho fine-grained emotion trên MXH (ViGoEmotions Scenario 1).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22945" y="2627536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ViSoBERT vượt trội PhoBERT trên NLP MXH tiếng Việt nhờ domain alignment.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22945" y="3106762"/>
            <a:ext cx="4917184" cy="22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Per-label threshold cải thiện đáng kể F1-macro so với global 0.5.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2945" y="3384463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ASL loss cải thiện F1-macro so với BCE trên fine-grained emotion tiếng Anh (GoEmotions +0.08).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2945" y="3863690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Class imbalance không hưởng lợi từ oversampling đơn giản (ViHateT5).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8030" y="1677219"/>
            <a:ext cx="5188082" cy="327194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6350">
            <a:solidFill>
              <a:srgbClr val="EEDD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5089" y="1858807"/>
            <a:ext cx="49171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ESTABLISHED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95089" y="2148309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ASL có cải thiện emotion detection tiếng Việt trên ViGoEmotions không?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95089" y="2627536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ASL + per-label threshold (kết hợp) có vượt trội từng cái riêng lẻ không?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5089" y="3106762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Trade-off precision-recall có ổn định qua 3+ random seeds không?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95089" y="3585989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Nhãn hiếm/khó/mơ hồ có hưởng lợi khác nhau từ ASL vs threshold tuning không?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95089" y="4065215"/>
            <a:ext cx="4917184" cy="428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Kịch bản tiền xử lý nào tối ưu khi dùng ASL loss (không chỉ BCE + pos_weight)?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712" y="5130050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19" name="Shape 17"/>
          <p:cNvSpPr/>
          <p:nvPr/>
        </p:nvSpPr>
        <p:spPr>
          <a:xfrm>
            <a:off x="831762" y="5130050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5701" y="5269731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cung cấp động lực và tiền lệ mạnh. Cả 5 điểm “chưa được thiết lập” đều có thể giải quyết trực tiếp bằng ablation A0–D trên ViGoEmotions — đó là đóng góp cốt lõi của dự án.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19795" y="6238435"/>
            <a:ext cx="5100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6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203635"/>
            <a:ext cx="10137774" cy="1131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Training-level (ASL) và decision-level (per-label threshold) tạo ra các đánh đổi precision–recall khác nhau giữa các nhóm cảm xúc. Hiệu ứng kết hợp của chúng trên ViGoEmotions vẫn chưa được biết.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887" y="2490484"/>
            <a:ext cx="4787238" cy="2507632"/>
          </a:xfrm>
          <a:prstGeom prst="roundRect">
            <a:avLst>
              <a:gd name="adj" fmla="val 3419"/>
            </a:avLst>
          </a:prstGeom>
          <a:solidFill>
            <a:srgbClr val="1F2734"/>
          </a:solidFill>
          <a:ln w="6350">
            <a:solidFill>
              <a:srgbClr val="303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267" y="2659397"/>
            <a:ext cx="453043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Unclear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0267" y="2933681"/>
            <a:ext cx="4530432" cy="405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ASL có cải thiện F1-macro trên ViGoEmotions không? (paper chỉ test GoEmotions tiếng Anh)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0267" y="3389753"/>
            <a:ext cx="4530432" cy="405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ASL + threshold vs từng cái riêng — cái nào thắng? (chưa có so sánh có kiểm soát)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0267" y="3845830"/>
            <a:ext cx="4530432" cy="405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Lợi ích có ổn định qua 3 random seeds không? (seed variance chưa được báo cáo)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0267" y="4301908"/>
            <a:ext cx="4530432" cy="405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Nhãn quan trọng vận hành (anger, grief) hưởng lợi nhiều hơn từ threshold hay ASL?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12653" y="2490484"/>
            <a:ext cx="5563460" cy="2507632"/>
          </a:xfrm>
          <a:prstGeom prst="roundRect">
            <a:avLst>
              <a:gd name="adj" fmla="val 3419"/>
            </a:avLst>
          </a:prstGeom>
          <a:solidFill>
            <a:srgbClr val="1F2734"/>
          </a:solidFill>
          <a:ln w="6350">
            <a:solidFill>
              <a:srgbClr val="30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7033" y="2659397"/>
            <a:ext cx="532993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Addresses It By — Ablation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07033" y="2921000"/>
            <a:ext cx="53299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</a:t>
            </a: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BCE plain (tách hiệu ứng pos_weight)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07033" y="3166070"/>
            <a:ext cx="53299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BCE + pos_weight (baseline theo paper)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7033" y="3411141"/>
            <a:ext cx="53299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BCE + pos_weight + per-label threshold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7033" y="3656211"/>
            <a:ext cx="53299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ASL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07033" y="3901281"/>
            <a:ext cx="53299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r>
              <a:rPr lang="en-US" sz="1100" dirty="0">
                <a:solidFill>
                  <a:srgbClr val="CDD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ASL + per-label threshold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7033" y="4146352"/>
            <a:ext cx="5174698" cy="473825"/>
          </a:xfrm>
          <a:prstGeom prst="roundRect">
            <a:avLst>
              <a:gd name="adj" fmla="val 10721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567" y="4209852"/>
            <a:ext cx="5120780" cy="37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AAB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Tất cả config: ViSoBERT, Scenario 1, 3+ seeds · Metrics: Macro F1, operational recall, per-label F1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712" y="5179002"/>
            <a:ext cx="10566576" cy="663002"/>
          </a:xfrm>
          <a:prstGeom prst="roundRect">
            <a:avLst>
              <a:gd name="adj" fmla="val 7662"/>
            </a:avLst>
          </a:prstGeom>
          <a:solidFill>
            <a:srgbClr val="232C3D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762" y="5179002"/>
            <a:ext cx="0" cy="663002"/>
          </a:xfrm>
          <a:prstGeom prst="line">
            <a:avLst/>
          </a:prstGeom>
          <a:noFill/>
          <a:ln w="38100">
            <a:solidFill>
              <a:srgbClr val="7FD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3023" y="5306002"/>
            <a:ext cx="10507267" cy="43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DD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cụ thể và có thể kiểm định được. Không cần kiến trúc mới — backbone là ViSoBERT xuyên suốt. Applied Data Science framing: đánh giá hệ thống, không đề xuất phương pháp mới.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53970" y="6238435"/>
            <a:ext cx="475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 AND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3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Is This Project Achievable in 10 Weeks?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887" y="1664537"/>
            <a:ext cx="3414271" cy="3297303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7479" y="1833451"/>
            <a:ext cx="31426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7479" y="2088666"/>
            <a:ext cx="3142619" cy="399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GPU: 6–8GB VRAM cho ViSoBERT fine-tune (đã kiểm tra: 00_feasibility_check.ipynb)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97479" y="2519939"/>
            <a:ext cx="3142619" cy="21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Runtime: ~30–40 phút / config / seed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7479" y="2764123"/>
            <a:ext cx="3142619" cy="21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config × 3 seed = ~15 lượt chạy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7479" y="3008313"/>
            <a:ext cx="3142619" cy="21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Code: transformers + torch (stack chuẩn)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7479" y="3252502"/>
            <a:ext cx="3142619" cy="399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ASL: 20 dòng Python · Threshold: grid search, không cần thư viện ngoài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97479" y="4445112"/>
            <a:ext cx="3051087" cy="347817"/>
          </a:xfrm>
          <a:prstGeom prst="roundRect">
            <a:avLst>
              <a:gd name="adj" fmla="val 18257"/>
            </a:avLst>
          </a:prstGeom>
          <a:solidFill>
            <a:srgbClr val="E3EFEC"/>
          </a:solidFill>
          <a:ln/>
        </p:spPr>
      </p:sp>
      <p:sp>
        <p:nvSpPr>
          <p:cNvPr id="12" name="Text 10"/>
          <p:cNvSpPr/>
          <p:nvPr/>
        </p:nvSpPr>
        <p:spPr>
          <a:xfrm>
            <a:off x="1111691" y="4521287"/>
            <a:ext cx="2907343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VERDICT: Khả thi về kỹ thuật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8864" y="1664537"/>
            <a:ext cx="3414271" cy="3297303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0456" y="1833451"/>
            <a:ext cx="31426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Feasibility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0456" y="2088666"/>
            <a:ext cx="3142619" cy="21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 ViGoEmotions có sẵn 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0456" y="2332856"/>
            <a:ext cx="3142619" cy="21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Backbone: ViSoBERT trên HuggingFace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0456" y="2577046"/>
            <a:ext cx="3142619" cy="21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Tiền xử lý: underthesea + ViLexNorm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0456" y="2821229"/>
            <a:ext cx="3142619" cy="399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Timeline: 5×3 ở tuần 4–5, dự phòng 1 tuần cho rerun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0456" y="3252502"/>
            <a:ext cx="3142619" cy="399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nếu GPU OOM: giảm batch size + gradient accumulation, fp16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0456" y="4445112"/>
            <a:ext cx="3051087" cy="347817"/>
          </a:xfrm>
          <a:prstGeom prst="roundRect">
            <a:avLst>
              <a:gd name="adj" fmla="val 18257"/>
            </a:avLst>
          </a:prstGeom>
          <a:solidFill>
            <a:srgbClr val="E3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4684668" y="4521287"/>
            <a:ext cx="2907343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VERDICT: Khả thi trong timeline 10 tuần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61841" y="1664537"/>
            <a:ext cx="3414271" cy="3297303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3433" y="1833451"/>
            <a:ext cx="31426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Boundaries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43433" y="2088666"/>
            <a:ext cx="3142619" cy="58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9C4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KH&amp;Ocirc;NG claim: kiến trúc mới / SOTA toàn benchmark / production / cross-platform study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43433" y="2707022"/>
            <a:ext cx="3142619" cy="58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CLAIM: ablation có kiểm soát / bằng chứng về trade-off / pipeline tái lập được / demo Streamlit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43433" y="4249651"/>
            <a:ext cx="3051087" cy="543278"/>
          </a:xfrm>
          <a:prstGeom prst="roundRect">
            <a:avLst>
              <a:gd name="adj" fmla="val 11688"/>
            </a:avLst>
          </a:prstGeom>
          <a:solidFill>
            <a:srgbClr val="E3EFEC"/>
          </a:solidFill>
          <a:ln/>
        </p:spPr>
      </p:sp>
      <p:sp>
        <p:nvSpPr>
          <p:cNvPr id="27" name="Text 25"/>
          <p:cNvSpPr/>
          <p:nvPr/>
        </p:nvSpPr>
        <p:spPr>
          <a:xfrm>
            <a:off x="8257646" y="4325826"/>
            <a:ext cx="2907343" cy="416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VERDICT: Applied DS framing — đánh giá trade-off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2712" y="5130050"/>
            <a:ext cx="10566576" cy="711950"/>
          </a:xfrm>
          <a:prstGeom prst="roundRect">
            <a:avLst>
              <a:gd name="adj" fmla="val 7135"/>
            </a:avLst>
          </a:prstGeom>
          <a:solidFill>
            <a:srgbClr val="E3EFE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1762" y="5130050"/>
            <a:ext cx="0" cy="711950"/>
          </a:xfrm>
          <a:prstGeom prst="line">
            <a:avLst/>
          </a:prstGeom>
          <a:noFill/>
          <a:ln w="38100">
            <a:solidFill>
              <a:srgbClr val="0E6F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701" y="5269731"/>
            <a:ext cx="104811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Tính khả thi được xác nhận trên 3 khía cạnh: kỹ thuật (GPU đã kiểm tra), phạm vi (dataset + backbone có sẵn), và framing (Applied DS). Rủi ro: VRAM OOM đã có kế hoạch giảm thiểu.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22991" y="6238435"/>
            <a:ext cx="50687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3"/>
            <a:ext cx="1088357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QUESTIONS AND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12" y="1102103"/>
            <a:ext cx="10883573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161B2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Survey to Experiment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887" y="1664537"/>
            <a:ext cx="3414271" cy="1120885"/>
          </a:xfrm>
          <a:prstGeom prst="roundRect">
            <a:avLst>
              <a:gd name="adj" fmla="val 764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1" y="1808100"/>
            <a:ext cx="316873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RQ1 (B3)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4801" y="2072022"/>
            <a:ext cx="3168736" cy="59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 nhãn cảm xúc (28 nhãn) phân bố thế nào theo trục hiếm / khó / mơ hồ / quan trọng vận hành?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8864" y="1664537"/>
            <a:ext cx="3414271" cy="1120885"/>
          </a:xfrm>
          <a:prstGeom prst="roundRect">
            <a:avLst>
              <a:gd name="adj" fmla="val 764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7778" y="1808100"/>
            <a:ext cx="316873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RQ2 (B5)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7778" y="2072022"/>
            <a:ext cx="3168736" cy="59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ASL (training-level) và per-label threshold (decision-level) khác nhau thế nào về trade-off Macro F1 vs. operational recall?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61841" y="1664537"/>
            <a:ext cx="3414271" cy="1120885"/>
          </a:xfrm>
          <a:prstGeom prst="roundRect">
            <a:avLst>
              <a:gd name="adj" fmla="val 764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0756" y="1808100"/>
            <a:ext cx="316873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RQ3 (B2)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0756" y="2072022"/>
            <a:ext cx="3168736" cy="405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2B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 đánh đổi này ổn định thế nào qua các kịch bản tiền xử lý và random seed?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712" y="2953631"/>
            <a:ext cx="3420621" cy="848651"/>
          </a:xfrm>
          <a:prstGeom prst="roundRect">
            <a:avLst>
              <a:gd name="adj" fmla="val 10475"/>
            </a:avLst>
          </a:prstGeom>
          <a:solidFill>
            <a:srgbClr val="E3EFEC"/>
          </a:solidFill>
          <a:ln/>
        </p:spPr>
      </p:sp>
      <p:sp>
        <p:nvSpPr>
          <p:cNvPr id="14" name="Text 12"/>
          <p:cNvSpPr/>
          <p:nvPr/>
        </p:nvSpPr>
        <p:spPr>
          <a:xfrm>
            <a:off x="977746" y="3080631"/>
            <a:ext cx="3183270" cy="22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 audit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77746" y="3323171"/>
            <a:ext cx="3183270" cy="37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tra schema, nhãn, kích thước split, trùng lặp, metadata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5689" y="2953631"/>
            <a:ext cx="3420621" cy="848651"/>
          </a:xfrm>
          <a:prstGeom prst="roundRect">
            <a:avLst>
              <a:gd name="adj" fmla="val 10475"/>
            </a:avLst>
          </a:prstGeom>
          <a:solidFill>
            <a:srgbClr val="E3EFEC"/>
          </a:solidFill>
          <a:ln/>
        </p:spPr>
      </p:sp>
      <p:sp>
        <p:nvSpPr>
          <p:cNvPr id="17" name="Text 15"/>
          <p:cNvSpPr/>
          <p:nvPr/>
        </p:nvSpPr>
        <p:spPr>
          <a:xfrm>
            <a:off x="4550723" y="3080631"/>
            <a:ext cx="3183270" cy="22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Feasibility check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50723" y="3323171"/>
            <a:ext cx="3183270" cy="37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+ backward pass, VRAM, runtime / batch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8666" y="2953631"/>
            <a:ext cx="3420621" cy="848651"/>
          </a:xfrm>
          <a:prstGeom prst="roundRect">
            <a:avLst>
              <a:gd name="adj" fmla="val 10475"/>
            </a:avLst>
          </a:prstGeom>
          <a:solidFill>
            <a:srgbClr val="E3EFEC"/>
          </a:solidFill>
          <a:ln/>
        </p:spPr>
      </p:sp>
      <p:sp>
        <p:nvSpPr>
          <p:cNvPr id="20" name="Text 18"/>
          <p:cNvSpPr/>
          <p:nvPr/>
        </p:nvSpPr>
        <p:spPr>
          <a:xfrm>
            <a:off x="8123700" y="3080631"/>
            <a:ext cx="3183270" cy="22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B5C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Paper-aligned baseline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23700" y="3323171"/>
            <a:ext cx="3183270" cy="37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A2E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ViSoBERT Config A, seed 42, mục tiêu ~61.50% F1-macro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887" y="3970493"/>
            <a:ext cx="10560226" cy="1136870"/>
          </a:xfrm>
          <a:prstGeom prst="roundRect">
            <a:avLst>
              <a:gd name="adj" fmla="val 754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7479" y="4101374"/>
            <a:ext cx="10502952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61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7479" y="4360335"/>
            <a:ext cx="5120666" cy="20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Nguyen et al. (2026), EACL — ViGoEmotions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7479" y="4578393"/>
            <a:ext cx="5120666" cy="20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Demszky et al. (2020), ACL — GoEmotions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7479" y="4796458"/>
            <a:ext cx="5120666" cy="20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Nguyen et al. (2023), EMNLP — ViSoBERT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23000" y="4360335"/>
            <a:ext cx="5120666" cy="20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Nguyen &amp; Tuan (2020), EMNLP — PhoBERT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23000" y="4578393"/>
            <a:ext cx="5120666" cy="20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Ramakrishnan &amp; Babu (2025) — BERT+ASL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23000" y="4796458"/>
            <a:ext cx="5120666" cy="20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[Anon, EMNLP 2025] — LLMs Multi-label threshold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2712" y="6238435"/>
            <a:ext cx="185359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Nhóm 8 · DAP391m FA26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21779" y="6238435"/>
            <a:ext cx="508088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46999" y="2413000"/>
            <a:ext cx="4445000" cy="444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12468" y="2548930"/>
            <a:ext cx="3261961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D6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DAP391M · FA26 · LITERATURE SURVEY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58061" y="2957823"/>
            <a:ext cx="21381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2F0E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 &amp; A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4352616" y="4024536"/>
            <a:ext cx="35913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CDD3D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Cảm ơn — Nhóm 8: Gia Phúc · Khoa · Quý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Survey and Project Feasibility Assessment — ViGoEmotions</dc:title>
  <dc:subject>PptxGenJS Presentation</dc:subject>
  <dc:creator>PptxGenJS</dc:creator>
  <cp:lastModifiedBy>PptxGenJS</cp:lastModifiedBy>
  <cp:revision>1</cp:revision>
  <dcterms:created xsi:type="dcterms:W3CDTF">2026-09-23T14:16:42Z</dcterms:created>
  <dcterms:modified xsi:type="dcterms:W3CDTF">2026-09-23T14:16:42Z</dcterms:modified>
</cp:coreProperties>
</file>
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3"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196"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11B"/>
                </a:solidFill>
                <a:latin typeface="Calibri"/>
              </a:defRPr>
            </a:pPr>
            <a:r>
              <a:rPr lang="it-IT" sz="1300" b="0" i="0" u="none" strike="noStrike">
                <a:solidFill>
                  <a:srgbClr val="13211B"/>
                </a:solidFill>
                <a:latin typeface="Calibri"/>
              </a:rPr>
              <a:t>Accuracy (%) — same model, different dataset</a:t>
            </a:r>
          </a:p>
        </c:rich>
      </c:tx>
      <c:overlay val="0"/>
    </c:title>
    <c:autoTitleDeleted val="0"/>
    <c:plotArea>
      <c:layout/>
      <c:barChart>
        <c:barDir val="col"/>
        <c:grouping val="clustered"/>
        <c:varyColors val="0"/>
        <c:ser>
          <c:idx val="0"/>
          <c:order val="0"/>
          <c:tx>
            <c:strRef>
              <c:f>Sheet1!$B$1</c:f>
              <c:strCache>
                <c:ptCount val="1"/>
                <c:pt idx="0">
                  <c:v>Lab (PlantVillage)</c:v>
                </c:pt>
              </c:strCache>
            </c:strRef>
          </c:tx>
          <c:spPr>
            <a:solidFill>
              <a:srgbClr val="6E9443"/>
            </a:solidFill>
            <a:effectLst/>
          </c:spPr>
          <c:invertIfNegative val="0"/>
          <c:dLbls>
            <c:numFmt formatCode="0.00" sourceLinked="0"/>
            <c:spPr>
              <a:noFill/>
              <a:ln>
                <a:noFill/>
              </a:ln>
              <a:effectLst/>
            </c:spPr>
            <c:txPr>
              <a:bodyPr/>
              <a:lstStyle/>
              <a:p>
                <a:pPr>
                  <a:defRPr sz="1100" b="0" i="0" u="none" strike="noStrike">
                    <a:solidFill>
                      <a:srgbClr val="13211B"/>
                    </a:solidFill>
                    <a:latin typeface="Calibri"/>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ViT-Base [5]</c:v>
                </c:pt>
                <c:pt idx="1">
                  <c:v>Federated TL [6]</c:v>
                </c:pt>
                <c:pt idx="2">
                  <c:v>AG-Vision [12]</c:v>
                </c:pt>
              </c:strCache>
            </c:strRef>
          </c:cat>
          <c:val>
            <c:numRef>
              <c:f>Sheet1!$B$2:$B$4</c:f>
              <c:numCache>
                <c:formatCode>General</c:formatCode>
                <c:ptCount val="3"/>
                <c:pt idx="0">
                  <c:v>99.17</c:v>
                </c:pt>
                <c:pt idx="1">
                  <c:v>94</c:v>
                </c:pt>
                <c:pt idx="2">
                  <c:v>99.97</c:v>
                </c:pt>
              </c:numCache>
            </c:numRef>
          </c:val>
          <c:extLst>
            <c:ext xmlns:c16="http://schemas.microsoft.com/office/drawing/2014/chart" uri="{C3380CC4-5D6E-409C-BE32-E72D297353CC}">
              <c16:uniqueId val="{00000000-27E1-4581-A89D-5E3310CBAF21}"/>
            </c:ext>
          </c:extLst>
        </c:ser>
        <c:ser>
          <c:idx val="1"/>
          <c:order val="1"/>
          <c:tx>
            <c:strRef>
              <c:f>Sheet1!$C$1</c:f>
              <c:strCache>
                <c:ptCount val="1"/>
                <c:pt idx="0">
                  <c:v>Field</c:v>
                </c:pt>
              </c:strCache>
            </c:strRef>
          </c:tx>
          <c:spPr>
            <a:solidFill>
              <a:srgbClr val="C62828"/>
            </a:solidFill>
            <a:effectLst/>
          </c:spPr>
          <c:invertIfNegative val="0"/>
          <c:dLbls>
            <c:numFmt formatCode="0.00" sourceLinked="0"/>
            <c:spPr>
              <a:noFill/>
              <a:ln>
                <a:noFill/>
              </a:ln>
              <a:effectLst/>
            </c:spPr>
            <c:txPr>
              <a:bodyPr/>
              <a:lstStyle/>
              <a:p>
                <a:pPr>
                  <a:defRPr sz="1100" b="0" i="0" u="none" strike="noStrike">
                    <a:solidFill>
                      <a:srgbClr val="13211B"/>
                    </a:solidFill>
                    <a:latin typeface="Calibri"/>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ViT-Base [5]</c:v>
                </c:pt>
                <c:pt idx="1">
                  <c:v>Federated TL [6]</c:v>
                </c:pt>
                <c:pt idx="2">
                  <c:v>AG-Vision [12]</c:v>
                </c:pt>
              </c:strCache>
            </c:strRef>
          </c:cat>
          <c:val>
            <c:numRef>
              <c:f>Sheet1!$C$2:$C$4</c:f>
              <c:numCache>
                <c:formatCode>General</c:formatCode>
                <c:ptCount val="3"/>
                <c:pt idx="0">
                  <c:v>77.27</c:v>
                </c:pt>
                <c:pt idx="1">
                  <c:v>49</c:v>
                </c:pt>
                <c:pt idx="2">
                  <c:v>96.97</c:v>
                </c:pt>
              </c:numCache>
            </c:numRef>
          </c:val>
          <c:extLst>
            <c:ext xmlns:c16="http://schemas.microsoft.com/office/drawing/2014/chart" uri="{C3380CC4-5D6E-409C-BE32-E72D297353CC}">
              <c16:uniqueId val="{00000001-27E1-4581-A89D-5E3310CBAF2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3211B"/>
                </a:solidFill>
                <a:latin typeface="Calibri"/>
              </a:defRPr>
            </a:pPr>
            <a:endParaRPr lang="vi-VN"/>
          </a:p>
        </c:txPr>
        <c:crossAx val="2094734552"/>
        <c:crosses val="autoZero"/>
        <c:auto val="1"/>
        <c:lblAlgn val="ctr"/>
        <c:lblOffset val="100"/>
        <c:noMultiLvlLbl val="1"/>
      </c:catAx>
      <c:valAx>
        <c:axId val="2094734552"/>
        <c:scaling>
          <c:orientation val="minMax"/>
          <c:max val="11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6E7C72"/>
              </a:solidFill>
              <a:latin typeface="Calibri"/>
              <a:cs typeface="Calibri"/>
            </a:defRPr>
          </a:pPr>
          <a:endParaRPr lang="vi-VN"/>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11B"/>
                </a:solidFill>
                <a:latin typeface="Calibri"/>
              </a:defRPr>
            </a:pPr>
            <a:r>
              <a:rPr lang="en-US" sz="1300" b="0" i="0" u="none" strike="noStrike">
                <a:solidFill>
                  <a:srgbClr val="13211B"/>
                </a:solidFill>
                <a:latin typeface="Calibri"/>
              </a:rPr>
              <a:t>Lab ceiling: four years, under 1 point of gain</a:t>
            </a:r>
          </a:p>
        </c:rich>
      </c:tx>
      <c:overlay val="0"/>
    </c:title>
    <c:autoTitleDeleted val="0"/>
    <c:plotArea>
      <c:layout/>
      <c:lineChart>
        <c:grouping val="standard"/>
        <c:varyColors val="0"/>
        <c:ser>
          <c:idx val="0"/>
          <c:order val="0"/>
          <c:tx>
            <c:strRef>
              <c:f>Sheet1!$B$1</c:f>
              <c:strCache>
                <c:ptCount val="1"/>
                <c:pt idx="0">
                  <c:v>Accuracy on PlantVillage (%)</c:v>
                </c:pt>
              </c:strCache>
            </c:strRef>
          </c:tx>
          <c:spPr>
            <a:ln w="38100" cap="flat">
              <a:solidFill>
                <a:srgbClr val="2C5F2D"/>
              </a:solidFill>
              <a:prstDash val="solid"/>
              <a:round/>
            </a:ln>
            <a:effectLst/>
          </c:spPr>
          <c:marker>
            <c:symbol val="circle"/>
            <c:size val="8"/>
            <c:spPr>
              <a:solidFill>
                <a:srgbClr val="2C5F2D"/>
              </a:solidFill>
              <a:ln w="9525" cap="flat">
                <a:solidFill>
                  <a:srgbClr val="2C5F2D"/>
                </a:solidFill>
                <a:prstDash val="solid"/>
                <a:round/>
              </a:ln>
              <a:effectLst/>
            </c:spPr>
          </c:marker>
          <c:dLbls>
            <c:numFmt formatCode="0.00" sourceLinked="0"/>
            <c:spPr>
              <a:noFill/>
              <a:ln>
                <a:noFill/>
              </a:ln>
              <a:effectLst/>
            </c:spPr>
            <c:txPr>
              <a:bodyPr/>
              <a:lstStyle/>
              <a:p>
                <a:pPr>
                  <a:defRPr sz="1100" b="0" i="0" u="none" strike="noStrike">
                    <a:solidFill>
                      <a:srgbClr val="13211B"/>
                    </a:solidFill>
                    <a:latin typeface="Calibri"/>
                  </a:defRPr>
                </a:pPr>
                <a:endParaRPr lang="vi-V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2022
ToLeD</c:v>
                </c:pt>
                <c:pt idx="1">
                  <c:v>2023
Ulutaş</c:v>
                </c:pt>
                <c:pt idx="2">
                  <c:v>2025
Sharma</c:v>
                </c:pt>
                <c:pt idx="3">
                  <c:v>2026
AG-Vision</c:v>
                </c:pt>
              </c:strCache>
            </c:strRef>
          </c:cat>
          <c:val>
            <c:numRef>
              <c:f>Sheet1!$B$2:$B$5</c:f>
              <c:numCache>
                <c:formatCode>General</c:formatCode>
                <c:ptCount val="4"/>
                <c:pt idx="0">
                  <c:v>99</c:v>
                </c:pt>
                <c:pt idx="1">
                  <c:v>99.6</c:v>
                </c:pt>
                <c:pt idx="2">
                  <c:v>99.91</c:v>
                </c:pt>
                <c:pt idx="3">
                  <c:v>99.97</c:v>
                </c:pt>
              </c:numCache>
            </c:numRef>
          </c:val>
          <c:smooth val="0"/>
          <c:extLst>
            <c:ext xmlns:c16="http://schemas.microsoft.com/office/drawing/2014/chart" uri="{C3380CC4-5D6E-409C-BE32-E72D297353CC}">
              <c16:uniqueId val="{00000000-E40E-4F79-ABC0-2498DF00BB37}"/>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E7C72"/>
                </a:solidFill>
                <a:latin typeface="Calibri"/>
              </a:defRPr>
            </a:pPr>
            <a:endParaRPr lang="vi-VN"/>
          </a:p>
        </c:txPr>
        <c:crossAx val="2094734552"/>
        <c:crosses val="autoZero"/>
        <c:auto val="1"/>
        <c:lblAlgn val="ctr"/>
        <c:lblOffset val="100"/>
        <c:noMultiLvlLbl val="1"/>
      </c:catAx>
      <c:valAx>
        <c:axId val="2094734552"/>
        <c:scaling>
          <c:orientation val="minMax"/>
          <c:max val="100.3"/>
          <c:min val="98.5"/>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11B"/>
                </a:solidFill>
                <a:latin typeface="Calibri"/>
              </a:defRPr>
            </a:pPr>
            <a:r>
              <a:rPr lang="en-US" sz="1300" b="0" i="0" u="none" strike="noStrike">
                <a:solidFill>
                  <a:srgbClr val="13211B"/>
                </a:solidFill>
                <a:latin typeface="Calibri"/>
              </a:rPr>
              <a:t>One model, two metrics, two different stories</a:t>
            </a:r>
          </a:p>
        </c:rich>
      </c:tx>
      <c:overlay val="0"/>
    </c:title>
    <c:autoTitleDeleted val="0"/>
    <c:plotArea>
      <c:layout/>
      <c:barChart>
        <c:barDir val="col"/>
        <c:grouping val="clustered"/>
        <c:varyColors val="0"/>
        <c:ser>
          <c:idx val="0"/>
          <c:order val="0"/>
          <c:tx>
            <c:strRef>
              <c:f>Sheet1!$B$1</c:f>
              <c:strCache>
                <c:ptCount val="1"/>
                <c:pt idx="0">
                  <c:v>mAP@0.5</c:v>
                </c:pt>
              </c:strCache>
            </c:strRef>
          </c:tx>
          <c:spPr>
            <a:solidFill>
              <a:srgbClr val="6E9443"/>
            </a:solidFill>
            <a:effectLst/>
          </c:spPr>
          <c:invertIfNegative val="0"/>
          <c:dLbls>
            <c:numFmt formatCode="0.0" sourceLinked="0"/>
            <c:spPr>
              <a:noFill/>
              <a:ln>
                <a:noFill/>
              </a:ln>
              <a:effectLst/>
            </c:spPr>
            <c:txPr>
              <a:bodyPr/>
              <a:lstStyle/>
              <a:p>
                <a:pPr>
                  <a:defRPr sz="1100" b="0" i="0" u="none" strike="noStrike">
                    <a:solidFill>
                      <a:srgbClr val="13211B"/>
                    </a:solidFill>
                    <a:latin typeface="Calibri"/>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Chen YOLOv8n+ [22]
(field)</c:v>
                </c:pt>
                <c:pt idx="1">
                  <c:v>YOLOv11n–DeiT [21]
(TLDDCV)</c:v>
                </c:pt>
              </c:strCache>
            </c:strRef>
          </c:cat>
          <c:val>
            <c:numRef>
              <c:f>Sheet1!$B$2:$B$3</c:f>
              <c:numCache>
                <c:formatCode>General</c:formatCode>
                <c:ptCount val="2"/>
                <c:pt idx="0">
                  <c:v>81.8</c:v>
                </c:pt>
                <c:pt idx="1">
                  <c:v>87</c:v>
                </c:pt>
              </c:numCache>
            </c:numRef>
          </c:val>
          <c:extLst>
            <c:ext xmlns:c16="http://schemas.microsoft.com/office/drawing/2014/chart" uri="{C3380CC4-5D6E-409C-BE32-E72D297353CC}">
              <c16:uniqueId val="{00000000-4DCE-4EDA-A10F-33AA79E32C69}"/>
            </c:ext>
          </c:extLst>
        </c:ser>
        <c:ser>
          <c:idx val="1"/>
          <c:order val="1"/>
          <c:tx>
            <c:strRef>
              <c:f>Sheet1!$C$1</c:f>
              <c:strCache>
                <c:ptCount val="1"/>
                <c:pt idx="0">
                  <c:v>mAP@0.5:0.95</c:v>
                </c:pt>
              </c:strCache>
            </c:strRef>
          </c:tx>
          <c:spPr>
            <a:solidFill>
              <a:srgbClr val="C62828"/>
            </a:solidFill>
            <a:effectLst/>
          </c:spPr>
          <c:invertIfNegative val="0"/>
          <c:dLbls>
            <c:numFmt formatCode="0.0" sourceLinked="0"/>
            <c:spPr>
              <a:noFill/>
              <a:ln>
                <a:noFill/>
              </a:ln>
              <a:effectLst/>
            </c:spPr>
            <c:txPr>
              <a:bodyPr/>
              <a:lstStyle/>
              <a:p>
                <a:pPr>
                  <a:defRPr sz="1100" b="0" i="0" u="none" strike="noStrike">
                    <a:solidFill>
                      <a:srgbClr val="13211B"/>
                    </a:solidFill>
                    <a:latin typeface="Calibri"/>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Chen YOLOv8n+ [22]
(field)</c:v>
                </c:pt>
                <c:pt idx="1">
                  <c:v>YOLOv11n–DeiT [21]
(TLDDCV)</c:v>
                </c:pt>
              </c:strCache>
            </c:strRef>
          </c:cat>
          <c:val>
            <c:numRef>
              <c:f>Sheet1!$C$2:$C$3</c:f>
              <c:numCache>
                <c:formatCode>General</c:formatCode>
                <c:ptCount val="2"/>
                <c:pt idx="0">
                  <c:v>66.3</c:v>
                </c:pt>
                <c:pt idx="1">
                  <c:v>48</c:v>
                </c:pt>
              </c:numCache>
            </c:numRef>
          </c:val>
          <c:extLst>
            <c:ext xmlns:c16="http://schemas.microsoft.com/office/drawing/2014/chart" uri="{C3380CC4-5D6E-409C-BE32-E72D297353CC}">
              <c16:uniqueId val="{00000001-4DCE-4EDA-A10F-33AA79E32C69}"/>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3211B"/>
                </a:solidFill>
                <a:latin typeface="Calibri"/>
              </a:defRPr>
            </a:pPr>
            <a:endParaRPr lang="vi-VN"/>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6E7C72"/>
              </a:solidFill>
              <a:latin typeface="Calibri"/>
              <a:cs typeface="Calibri"/>
            </a:defRPr>
          </a:pPr>
          <a:endParaRPr lang="vi-VN"/>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7007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phút
Câu mở đầu, nói chậm và rõ:
"For five years, if you only looked at PlantVillage, you would think this problem was solved. This survey shows the opposite. The lab problem is saturated. The field problem is only starting."
Sau đó giới thiệu nhóm, rồi nêu phạm vi: 2021–2026, phủ classification, detection và segmentation, trên CẢ lá và quả, cộng thêm phần nén mô hình để chạy được trên điện thoại.
Nhắc luôn tổng thời lượng 15 phút để thầy nắm nhịp.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giây
Cột trái nói nhanh thôi — chỉ là lý do bài toán tồn tại: chẩn đoán sai gây thiệt hại kép, và PlantVillage có sớm nên cộng đồng dễ so sánh mô hình.
Cột phải mới là trọng tâm. Đây là trục của cả bài: mỗi phần sau sẽ trả lời một trong ba câu hỏi này.
Câu cần nhấn:
"The frontier is no longer 0.1 percentage points on a studio dataset."
Các survey 2025–2026 (Das, Gunasekaran, review limited-data) đều thống nhất điểm này.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giây
Timeline này là bản đồ để nghe phần còn lại. Chỉ tay lần lượt từ trái sang phải.
Pha 1: ai cũng báo 99% trên PlantVillage.
Pha 2: cộng đồng nhận ra accuracy không còn phân biệt được mô hình, nên chuyển sang nhẹ hóa và giải thích.
Pha 3 (hiện tại): mô hình có sống nổi ngoài ruộng không, và có nén xuống điện thoại được không.
Câu chốt cho ô đỏ:
"The gap between CNNs is under 1 point, but compute cost differs by tens of times. Continuing the race is pointless."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giây
Bốn nhóm xếp theo độ khó tăng dần từ trái sang phải. Nấm dễ vì tổn thương rõ trên phiến lá. Virus và côn trùng khó vì triệu chứng xuất hiện muộn và dễ nhầm với stress phi sinh học: hạn, thiếu dinh dưỡng, cháy nắng.
Ô đỏ bên trái: đây chính là lý do khung phân cấp theo nhóm sinh học được đề xuất. Slide 8 sẽ có số liệu chứng minh.
Ô đỏ bên phải: lý do mô hình tĩnh 10 lớp sẽ lạc hậu, nên few-shot và continual learning mới quan trọng. Nhấn chi tiết ToLCLV ở Huế năm 2026 — đây là bệnh của Việt Nam.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giây
Nói rõ ngay: đây là điểm survey của nhóm KHÁC với các survey chỉ tập trung vào lá trước đó.
BER là ví dụ mạnh nhất. Nó là rối loạn canxi, triệu chứng gần như chỉ xuất hiện trên quả, nên mọi mô hình chỉ nhìn lá đều bó tay.
Câu cần nhấn:
"A leaf-only system is completely blind to blossom-end rot."
Ý cuối dẫn thẳng sang gap 8.10 ở slide 16: cộng đồng segmentation lá và cộng đồng segmentation quả gần như tách rời nhau.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phút
ĐỪNG đọc hết bảng. Chỉ dừng ở ba dòng:
1. PlantVillage — chuẩn de facto nhưng quá sạch. Đây là gốc của mọi vấn đề.
2. TomatoEbola — đặc biệt vì được thiết kế để ĐO domain shift, không phải để lập kỷ lục.
3. VTLD (dòng đỏ) — câu nên nói nguyên văn:
"It is no longer true that Vietnam has no images. It is more accurate to say there is no standard set good enough to publish a comparison."
Chuyển tiếp sang slide 7 bằng câu hỏi:
"So how many points do you lose when you leave PlantVillage?"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phút 30 — SLIDE QUAN TRỌNG NHẤT CỦA CẢ BÀI. Dừng lâu ở đây.
Để thầy và các bạn nhìn biểu đồ khoảng 3 giây trước khi nói.
Câu đinh:
"This is not a weak model. This is the same ViT. Only the farm changed."
Đi lần lượt ba ô bên phải: −21.9 điểm, rồi −45 điểm, rồi 23%.
AG-Vision là ngoại lệ đáng chú ý: chỉ rơi 3 điểm nhờ fine-tune HAI GIAI ĐOẠN. Nghĩa là gap không bất biến, nhưng zero-shot từ lab sang field thì gần như luôn thất bại. Nếu bị hỏi "sao AG-Vision không rơi nhiều?" thì trả lời đúng ý này.
Kết luận rút ra, nói chậm:
"Accuracy on PlantVillage is no longer a scientific contribution."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giây
Biểu đồ: bốn năm, accuracy chỉ nhích từ 99.0 lên 99.97. Chưa tới 1 điểm. Đó chính là định nghĩa của bão hòa.
Ô đỏ là phần thú vị nhất slide, nói chậm: mô hình TỆ hơn trên ảnh sạch lại BỀN hơn nhiều lần khi có nhiễu. 97.4% so với 41%.
Câu chốt:
"Choosing a model by lab accuracy means choosing by the wrong criterion."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giây
Giải thích ngắn cho người chưa quen metric: mAP50 chỉ cần hộp trùng 50% là đã tính đúng, nên rất dễ. mAP50–95 mới phản ánh được định vị chính xác.
YOLOv11n–DeiT là ví dụ hoàn hảo: nghe 97.8% thì tưởng đã giải quyết xong, nhưng 48% mới là sự thật về khả năng khoanh vùng.
Nếu có ai hỏi về mô hình nhẹ, chỉ sang cột phải (YOLO-TGI chỉ 3.7 MB, LeafDet 2.4 ms) rồi dẫn luôn sang Phần 4.</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phút
Dòng chảy trên cùng giải thích vì sao segmentation đáng công. Nông học cần biết "nặng bao nhiêu" để quyết định phun thuốc, chứ không chỉ cần tên bệnh. Chỉ tay theo bốn ô từ trái sang phải.
TransDeepLab là mốc đáng nhớ nhất: nó không dừng ở IoU mà đi tiếp tới ước lượng mất mùa 1–5%.
Ô đỏ là một nghịch lý, cần nói chậm:
"The mask is weakest exactly at the early stage — which is exactly when the warning matters."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giây
Mở đầu bằng: cả bốn công trình này đều là 2025–2026, nên hướng này còn rất mới.
Điểm kỹ thuật đáng học nhất là YOLO-ALDS dùng active learning để giảm hơn 40% công gán nhãn. Với bài toán Việt Nam thiếu người gán nhãn, đây là kỹ thuật nên mượn — nói rõ ý này vì nó nối thẳng với đề xuất ở slide 17.
Ô đỏ cuối: hai cộng đồng tách rời nhau chính là CƠ HỘI.
"Whoever merges leaf and fruit into one pipeline has a real contribution."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giây
Dòng tô xanh là dòng đáng nhớ nhất: 97.46% mà chỉ 1.46 MB và 0.29 ms. Đây là mô hình chạy được trên điện thoại phổ thông.
So sánh dễ gây ấn tượng: ViT gốc 327 MB nén xuống còn 6 MB. Hơn 54 lần nhỏ hơn mà vẫn giữ 95%.
Ô dưới cùng: nhấn lời khuyên ONNX và Docker, vì đây chính là điều nhóm sẽ làm theo.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phút
Công thức chỉ cần 10 giây, đừng giải thích sâu: đưa số thực về số nguyên thấp bit bằng một scale và một zero-point.
Khác biệt cốt lõi, nói thật rõ:
"PTQ fixes the model afterwards. QAT teaches the network to live with the noise from the start."
Vì sao chọn QAT cho cà chua: lớp bệnh mất cân bằng và tổn thương nhỏ — đúng hai chỗ mà PTQ hay hỏng.
Dòng đỏ cuối là câu khiêm tốn nên chủ động nói ra:
"Compression gains must be measured, never assumed."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giây
Cấu trúc mỗi ô đều giống nhau: dòng xám là kỳ vọng, dòng đỏ là giới hạn thật. Đọc theo cặp đó, đừng đọc rời từng dòng.
Ô 3 là bài học thực dụng nhất của cả survey, cần nhấn:
"Collecting domain images beats swapping the backbone."
3.000 ảnh không nhãn ăn đứt việc đổi cả kiến trúc.
Ô 4: đừng kỳ vọng zero-shot ở VLM. 30% là quá thấp để dùng thật. Giá trị của nó nằm ở few-shot cho bệnh MỚI.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giây
ĐỪNG đọc cả 10 ô. Chỉ dừng ở ba ô đỏ.
8.1 — gap lớn nhất, đã chứng minh bằng số ở slide 7.
8.2 — gap không còn là "Việt Nam không có ảnh", mà là không có bộ ĐỦ CHUẨN để công bố so sánh.
8.10 — gap kép: mạng đa cơ quan lá và quả, cộng với quantization ưu tiên head đốm nhỏ. Đây là chỗ một đề tài Việt Nam đóng góp được cả phương pháp lẫn triển khai.
Câu dưới cùng nói chậm:
"A confidently wrong model is more dangerous than a weaker one that knows it is unsure."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giây
Nói ngắn thôi. Đây mới là HƯỚNG ĐI, chưa phải kết quả đã công bố — nhấn chữ "planned".
Ba bước: dữ liệu PlantSeg tomato, neo kiến trúc MobileNetV3–LR-ASPP, rồi bộ baseline đi từ FP32 tới LBQAT.
Vì sao cần đủ bậc thang: để tách đóng góp riêng khỏi lợi ích vốn có của mạng nhẹ. Nếu thiếu AdaRound, reviewer có quyền nói baseline PTQ quá đơn giản.
KẾT — nói chậm, dừng 2 giây rồi mới mời câu hỏi:
"99% in a studio does not save a harvest if the field only gives you 50%."
Nhớ nhắc: còn 5 slide dự phòng phía sau cho phần Q&amp;A.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2B"/>
        </a:solidFill>
        <a:effectLst/>
      </p:bgPr>
    </p:bg>
    <p:spTree>
      <p:nvGrpSpPr>
        <p:cNvPr id="1" name=""/>
        <p:cNvGrpSpPr/>
        <p:nvPr/>
      </p:nvGrpSpPr>
      <p:grpSpPr>
        <a:xfrm>
          <a:off x="0" y="0"/>
          <a:ext cx="0" cy="0"/>
          <a:chOff x="0" y="0"/>
          <a:chExt cx="0" cy="0"/>
        </a:xfrm>
      </p:grpSpPr>
      <p:sp>
        <p:nvSpPr>
          <p:cNvPr id="2" name="Shape 0"/>
          <p:cNvSpPr/>
          <p:nvPr/>
        </p:nvSpPr>
        <p:spPr>
          <a:xfrm>
            <a:off x="8869680" y="-1737360"/>
            <a:ext cx="4937760" cy="4937760"/>
          </a:xfrm>
          <a:prstGeom prst="ellipse">
            <a:avLst/>
          </a:prstGeom>
          <a:solidFill>
            <a:srgbClr val="2C5F2D"/>
          </a:solidFill>
          <a:ln w="12700">
            <a:solidFill>
              <a:srgbClr val="333333"/>
            </a:solidFill>
            <a:prstDash val="solid"/>
          </a:ln>
        </p:spPr>
      </p:sp>
      <p:sp>
        <p:nvSpPr>
          <p:cNvPr id="3" name="Shape 1"/>
          <p:cNvSpPr/>
          <p:nvPr/>
        </p:nvSpPr>
        <p:spPr>
          <a:xfrm>
            <a:off x="10332720" y="4206240"/>
            <a:ext cx="3108960" cy="3108960"/>
          </a:xfrm>
          <a:prstGeom prst="ellipse">
            <a:avLst/>
          </a:prstGeom>
          <a:solidFill>
            <a:srgbClr val="234733"/>
          </a:solidFill>
          <a:ln w="12700">
            <a:solidFill>
              <a:srgbClr val="333333"/>
            </a:solidFill>
            <a:prstDash val="solid"/>
          </a:ln>
        </p:spPr>
      </p:sp>
      <p:sp>
        <p:nvSpPr>
          <p:cNvPr id="4" name="Text 2"/>
          <p:cNvSpPr txBox="1"/>
          <p:nvPr/>
        </p:nvSpPr>
        <p:spPr>
          <a:xfrm>
            <a:off x="548640" y="960120"/>
            <a:ext cx="7863840" cy="274320"/>
          </a:xfrm>
          <a:prstGeom prst="rect">
            <a:avLst/>
          </a:prstGeom>
          <a:noFill/>
          <a:ln/>
        </p:spPr>
        <p:txBody>
          <a:bodyPr wrap="square" lIns="0" tIns="0" rIns="0" bIns="0" rtlCol="0" anchor="ctr"/>
          <a:lstStyle/>
          <a:p>
            <a:pPr marL="0" indent="0">
              <a:buNone/>
            </a:pPr>
            <a:r>
              <a:rPr lang="en-US" sz="1200" b="1" kern="0" spc="220" dirty="0">
                <a:solidFill>
                  <a:srgbClr val="97BC62"/>
                </a:solidFill>
                <a:latin typeface="Calibri" pitchFamily="34" charset="0"/>
                <a:ea typeface="Calibri" pitchFamily="34" charset="-122"/>
                <a:cs typeface="Calibri" pitchFamily="34" charset="-120"/>
              </a:rPr>
              <a:t>RESEARCH SURVEY  ·  2021–2026</a:t>
            </a:r>
            <a:endParaRPr lang="en-US" sz="1200" dirty="0"/>
          </a:p>
        </p:txBody>
      </p:sp>
      <p:sp>
        <p:nvSpPr>
          <p:cNvPr id="5" name="Text 3"/>
          <p:cNvSpPr txBox="1"/>
          <p:nvPr/>
        </p:nvSpPr>
        <p:spPr>
          <a:xfrm>
            <a:off x="548640" y="1371600"/>
            <a:ext cx="8229600" cy="1554480"/>
          </a:xfrm>
          <a:prstGeom prst="rect">
            <a:avLst/>
          </a:prstGeom>
          <a:noFill/>
          <a:ln/>
        </p:spPr>
        <p:txBody>
          <a:bodyPr wrap="square" lIns="0" tIns="0" rIns="0" bIns="0" rtlCol="0" anchor="ctr"/>
          <a:lstStyle/>
          <a:p>
            <a:pPr marL="0" indent="0">
              <a:lnSpc>
                <a:spcPct val="110000"/>
              </a:lnSpc>
              <a:buNone/>
            </a:pPr>
            <a:r>
              <a:rPr lang="en-US" sz="3800" b="1" dirty="0">
                <a:solidFill>
                  <a:srgbClr val="FFFFFF"/>
                </a:solidFill>
                <a:latin typeface="Cambria" pitchFamily="34" charset="0"/>
                <a:ea typeface="Cambria" pitchFamily="34" charset="-122"/>
                <a:cs typeface="Cambria" pitchFamily="34" charset="-120"/>
              </a:rPr>
              <a:t>Tomato Disease Detection</a:t>
            </a:r>
            <a:endParaRPr lang="en-US" sz="3800" dirty="0"/>
          </a:p>
          <a:p>
            <a:pPr marL="0" indent="0">
              <a:lnSpc>
                <a:spcPct val="110000"/>
              </a:lnSpc>
              <a:buNone/>
            </a:pPr>
            <a:r>
              <a:rPr lang="en-US" sz="3800" b="1" dirty="0">
                <a:solidFill>
                  <a:srgbClr val="FFFFFF"/>
                </a:solidFill>
                <a:latin typeface="Cambria" pitchFamily="34" charset="0"/>
                <a:ea typeface="Cambria" pitchFamily="34" charset="-122"/>
                <a:cs typeface="Cambria" pitchFamily="34" charset="-120"/>
              </a:rPr>
              <a:t>with Deep Learning</a:t>
            </a:r>
            <a:endParaRPr lang="en-US" sz="3800" dirty="0"/>
          </a:p>
        </p:txBody>
      </p:sp>
      <p:sp>
        <p:nvSpPr>
          <p:cNvPr id="6" name="Text 4"/>
          <p:cNvSpPr txBox="1"/>
          <p:nvPr/>
        </p:nvSpPr>
        <p:spPr>
          <a:xfrm>
            <a:off x="548640" y="3127248"/>
            <a:ext cx="8138160" cy="310896"/>
          </a:xfrm>
          <a:prstGeom prst="rect">
            <a:avLst/>
          </a:prstGeom>
          <a:noFill/>
          <a:ln/>
        </p:spPr>
        <p:txBody>
          <a:bodyPr wrap="square" lIns="0" tIns="0" rIns="0" bIns="0" rtlCol="0" anchor="ctr"/>
          <a:lstStyle/>
          <a:p>
            <a:pPr marL="0" indent="0">
              <a:buNone/>
            </a:pPr>
            <a:r>
              <a:rPr lang="en-US" sz="1500" dirty="0">
                <a:solidFill>
                  <a:srgbClr val="E8F0E2"/>
                </a:solidFill>
                <a:latin typeface="Calibri" pitchFamily="34" charset="0"/>
                <a:ea typeface="Calibri" pitchFamily="34" charset="-122"/>
                <a:cs typeface="Calibri" pitchFamily="34" charset="-120"/>
              </a:rPr>
              <a:t>Leaves + fruit   ·   Segmentation   ·   QAT / Priority Quantization</a:t>
            </a:r>
            <a:endParaRPr lang="en-US" sz="1500" dirty="0"/>
          </a:p>
        </p:txBody>
      </p:sp>
      <p:sp>
        <p:nvSpPr>
          <p:cNvPr id="7" name="Shape 5"/>
          <p:cNvSpPr/>
          <p:nvPr/>
        </p:nvSpPr>
        <p:spPr>
          <a:xfrm>
            <a:off x="548640" y="3657600"/>
            <a:ext cx="6309360" cy="749808"/>
          </a:xfrm>
          <a:prstGeom prst="roundRect">
            <a:avLst>
              <a:gd name="adj" fmla="val 9756"/>
            </a:avLst>
          </a:prstGeom>
          <a:solidFill>
            <a:srgbClr val="234733"/>
          </a:solidFill>
          <a:ln w="12700">
            <a:solidFill>
              <a:srgbClr val="2F5B41"/>
            </a:solidFill>
            <a:prstDash val="solid"/>
          </a:ln>
        </p:spPr>
      </p:sp>
      <p:sp>
        <p:nvSpPr>
          <p:cNvPr id="8" name="Text 6"/>
          <p:cNvSpPr txBox="1"/>
          <p:nvPr/>
        </p:nvSpPr>
        <p:spPr>
          <a:xfrm>
            <a:off x="804672" y="3657600"/>
            <a:ext cx="5852160" cy="749808"/>
          </a:xfrm>
          <a:prstGeom prst="rect">
            <a:avLst/>
          </a:prstGeom>
          <a:noFill/>
          <a:ln/>
        </p:spPr>
        <p:txBody>
          <a:bodyPr wrap="square" lIns="0" tIns="0" rIns="0" bIns="0" rtlCol="0" anchor="ctr"/>
          <a:lstStyle/>
          <a:p>
            <a:pPr marL="0" indent="0">
              <a:buNone/>
            </a:pPr>
            <a:r>
              <a:rPr lang="en-US" sz="1800" b="1" i="1" dirty="0">
                <a:solidFill>
                  <a:srgbClr val="97BC62"/>
                </a:solidFill>
                <a:latin typeface="Cambria" pitchFamily="34" charset="0"/>
                <a:ea typeface="Cambria" pitchFamily="34" charset="-122"/>
                <a:cs typeface="Cambria" pitchFamily="34" charset="-120"/>
              </a:rPr>
              <a:t>“Lab accuracy is solved. What about the field?”</a:t>
            </a:r>
            <a:endParaRPr lang="en-US" sz="1800" dirty="0"/>
          </a:p>
        </p:txBody>
      </p:sp>
      <p:sp>
        <p:nvSpPr>
          <p:cNvPr id="9" name="Shape 7"/>
          <p:cNvSpPr/>
          <p:nvPr/>
        </p:nvSpPr>
        <p:spPr>
          <a:xfrm>
            <a:off x="548640" y="4828032"/>
            <a:ext cx="2011680" cy="18288"/>
          </a:xfrm>
          <a:prstGeom prst="rect">
            <a:avLst/>
          </a:prstGeom>
          <a:solidFill>
            <a:srgbClr val="3D6B4C"/>
          </a:solidFill>
          <a:ln w="12700">
            <a:solidFill>
              <a:srgbClr val="333333"/>
            </a:solidFill>
            <a:prstDash val="solid"/>
          </a:ln>
        </p:spPr>
      </p:sp>
      <p:sp>
        <p:nvSpPr>
          <p:cNvPr id="10" name="Text 8"/>
          <p:cNvSpPr txBox="1"/>
          <p:nvPr/>
        </p:nvSpPr>
        <p:spPr>
          <a:xfrm>
            <a:off x="548640" y="5029200"/>
            <a:ext cx="6858000" cy="1280160"/>
          </a:xfrm>
          <a:prstGeom prst="rect">
            <a:avLst/>
          </a:prstGeom>
          <a:noFill/>
          <a:ln/>
        </p:spPr>
        <p:txBody>
          <a:bodyPr wrap="square" lIns="0" tIns="0" rIns="0" bIns="0" rtlCol="0" anchor="ctr"/>
          <a:lstStyle/>
          <a:p>
            <a:pPr marL="0" indent="0">
              <a:lnSpc>
                <a:spcPct val="120000"/>
              </a:lnSpc>
              <a:buNone/>
            </a:pPr>
            <a:r>
              <a:rPr lang="en-US" sz="1500" b="1" dirty="0">
                <a:solidFill>
                  <a:srgbClr val="FFFFFF"/>
                </a:solidFill>
                <a:latin typeface="Calibri" pitchFamily="34" charset="0"/>
                <a:ea typeface="Calibri" pitchFamily="34" charset="-122"/>
                <a:cs typeface="Calibri" pitchFamily="34" charset="-120"/>
              </a:rPr>
              <a:t>Group 1</a:t>
            </a:r>
            <a:endParaRPr lang="en-US" sz="1500" dirty="0"/>
          </a:p>
          <a:p>
            <a:pPr marL="0" indent="0">
              <a:lnSpc>
                <a:spcPct val="120000"/>
              </a:lnSpc>
              <a:buNone/>
            </a:pPr>
            <a:r>
              <a:rPr lang="en-US" sz="1350" dirty="0">
                <a:solidFill>
                  <a:srgbClr val="E8F0E2"/>
                </a:solidFill>
                <a:latin typeface="Calibri" pitchFamily="34" charset="0"/>
                <a:ea typeface="Calibri" pitchFamily="34" charset="-122"/>
                <a:cs typeface="Calibri" pitchFamily="34" charset="-120"/>
              </a:rPr>
              <a:t>Lê Nhật Khanh  ·  Nguyễn Vũ Minh Ánh</a:t>
            </a:r>
            <a:endParaRPr lang="en-US" sz="1500" dirty="0"/>
          </a:p>
          <a:p>
            <a:pPr marL="0" indent="0">
              <a:lnSpc>
                <a:spcPct val="120000"/>
              </a:lnSpc>
              <a:buNone/>
            </a:pPr>
            <a:r>
              <a:rPr lang="en-US" sz="1250" dirty="0">
                <a:solidFill>
                  <a:srgbClr val="A9BCA4"/>
                </a:solidFill>
                <a:latin typeface="Calibri" pitchFamily="34" charset="0"/>
                <a:ea typeface="Calibri" pitchFamily="34" charset="-122"/>
                <a:cs typeface="Calibri" pitchFamily="34" charset="-120"/>
              </a:rPr>
              <a:t>Class AI2002  ·  Course DAP301m</a:t>
            </a:r>
            <a:endParaRPr lang="en-US" sz="1500" dirty="0"/>
          </a:p>
          <a:p>
            <a:pPr marL="0" indent="0">
              <a:lnSpc>
                <a:spcPct val="120000"/>
              </a:lnSpc>
              <a:buNone/>
            </a:pPr>
            <a:r>
              <a:rPr lang="en-US" sz="1250" dirty="0">
                <a:solidFill>
                  <a:srgbClr val="A9BCA4"/>
                </a:solidFill>
                <a:latin typeface="Calibri" pitchFamily="34" charset="0"/>
                <a:ea typeface="Calibri" pitchFamily="34" charset="-122"/>
                <a:cs typeface="Calibri" pitchFamily="34" charset="-120"/>
              </a:rPr>
              <a:t>Supervisor: Bùi Danh Hường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6E9443"/>
                </a:solidFill>
                <a:latin typeface="Calibri" pitchFamily="34" charset="0"/>
                <a:ea typeface="Calibri" pitchFamily="34" charset="-122"/>
                <a:cs typeface="Calibri" pitchFamily="34" charset="-120"/>
              </a:rPr>
              <a:t>PART 1 · CONTEXT</a:t>
            </a:r>
            <a:endParaRPr lang="en-US" sz="1100" dirty="0"/>
          </a:p>
        </p:txBody>
      </p:sp>
      <p:sp>
        <p:nvSpPr>
          <p:cNvPr id="3" name="Text 1"/>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13211B"/>
                </a:solidFill>
                <a:latin typeface="Cambria" pitchFamily="34" charset="0"/>
                <a:ea typeface="Cambria" pitchFamily="34" charset="-122"/>
                <a:cs typeface="Cambria" pitchFamily="34" charset="-120"/>
              </a:rPr>
              <a:t>Why this problem is worth surveying</a:t>
            </a:r>
            <a:endParaRPr lang="en-US" sz="3000" dirty="0"/>
          </a:p>
        </p:txBody>
      </p:sp>
      <p:sp>
        <p:nvSpPr>
          <p:cNvPr id="4" name="Text 2"/>
          <p:cNvSpPr txBox="1"/>
          <p:nvPr/>
        </p:nvSpPr>
        <p:spPr>
          <a:xfrm>
            <a:off x="548640" y="1481328"/>
            <a:ext cx="5120640" cy="310896"/>
          </a:xfrm>
          <a:prstGeom prst="rect">
            <a:avLst/>
          </a:prstGeom>
          <a:noFill/>
          <a:ln/>
        </p:spPr>
        <p:txBody>
          <a:bodyPr wrap="square" lIns="0" tIns="0" rIns="0" bIns="0"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Why this field exists</a:t>
            </a:r>
            <a:endParaRPr lang="en-US" sz="1400" dirty="0"/>
          </a:p>
        </p:txBody>
      </p:sp>
      <p:sp>
        <p:nvSpPr>
          <p:cNvPr id="5" name="Shape 3"/>
          <p:cNvSpPr/>
          <p:nvPr/>
        </p:nvSpPr>
        <p:spPr>
          <a:xfrm>
            <a:off x="548640" y="1993392"/>
            <a:ext cx="5120640" cy="1097280"/>
          </a:xfrm>
          <a:prstGeom prst="roundRect">
            <a:avLst>
              <a:gd name="adj" fmla="val 6667"/>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6" name="Text 4"/>
          <p:cNvSpPr txBox="1"/>
          <p:nvPr/>
        </p:nvSpPr>
        <p:spPr>
          <a:xfrm>
            <a:off x="822960" y="2176272"/>
            <a:ext cx="4572000" cy="292608"/>
          </a:xfrm>
          <a:prstGeom prst="rect">
            <a:avLst/>
          </a:prstGeom>
          <a:noFill/>
          <a:ln/>
        </p:spPr>
        <p:txBody>
          <a:bodyPr wrap="square" lIns="0" tIns="0" rIns="0" bIns="0" rtlCol="0" anchor="t"/>
          <a:lstStyle/>
          <a:p>
            <a:pPr marL="0" indent="0" algn="l">
              <a:buNone/>
            </a:pPr>
            <a:r>
              <a:rPr lang="en-US" sz="1400" b="1" dirty="0">
                <a:solidFill>
                  <a:srgbClr val="13211B"/>
                </a:solidFill>
                <a:latin typeface="Calibri" pitchFamily="34" charset="0"/>
                <a:ea typeface="Calibri" pitchFamily="34" charset="-122"/>
                <a:cs typeface="Calibri" pitchFamily="34" charset="-120"/>
              </a:rPr>
              <a:t>A wrong diagnosis costs twice</a:t>
            </a:r>
            <a:endParaRPr lang="en-US" sz="1400" dirty="0"/>
          </a:p>
        </p:txBody>
      </p:sp>
      <p:sp>
        <p:nvSpPr>
          <p:cNvPr id="7" name="Text 5"/>
          <p:cNvSpPr txBox="1"/>
          <p:nvPr/>
        </p:nvSpPr>
        <p:spPr>
          <a:xfrm>
            <a:off x="822960" y="2523744"/>
            <a:ext cx="4572000" cy="530352"/>
          </a:xfrm>
          <a:prstGeom prst="rect">
            <a:avLst/>
          </a:prstGeom>
          <a:noFill/>
          <a:ln/>
        </p:spPr>
        <p:txBody>
          <a:bodyPr wrap="square" lIns="0" tIns="0" rIns="0" bIns="0" rtlCol="0" anchor="t"/>
          <a:lstStyle/>
          <a:p>
            <a:pPr marL="0" indent="0" algn="l">
              <a:lnSpc>
                <a:spcPct val="112000"/>
              </a:lnSpc>
              <a:buNone/>
            </a:pPr>
            <a:r>
              <a:rPr lang="en-US" sz="1150" dirty="0">
                <a:solidFill>
                  <a:srgbClr val="6E7C72"/>
                </a:solidFill>
                <a:latin typeface="Calibri" pitchFamily="34" charset="0"/>
                <a:ea typeface="Calibri" pitchFamily="34" charset="-122"/>
                <a:cs typeface="Calibri" pitchFamily="34" charset="-120"/>
              </a:rPr>
              <a:t>Farmers still diagnose by eye. Wrong target means wrong spray. The result is lost yield and a damaged farm ecosystem.</a:t>
            </a:r>
            <a:endParaRPr lang="en-US" sz="1150" dirty="0"/>
          </a:p>
        </p:txBody>
      </p:sp>
      <p:sp>
        <p:nvSpPr>
          <p:cNvPr id="8" name="Shape 6"/>
          <p:cNvSpPr/>
          <p:nvPr/>
        </p:nvSpPr>
        <p:spPr>
          <a:xfrm>
            <a:off x="548640" y="3291840"/>
            <a:ext cx="5120640" cy="1097280"/>
          </a:xfrm>
          <a:prstGeom prst="roundRect">
            <a:avLst>
              <a:gd name="adj" fmla="val 6667"/>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9" name="Text 7"/>
          <p:cNvSpPr txBox="1"/>
          <p:nvPr/>
        </p:nvSpPr>
        <p:spPr>
          <a:xfrm>
            <a:off x="822960" y="3474720"/>
            <a:ext cx="4572000" cy="292608"/>
          </a:xfrm>
          <a:prstGeom prst="rect">
            <a:avLst/>
          </a:prstGeom>
          <a:noFill/>
          <a:ln/>
        </p:spPr>
        <p:txBody>
          <a:bodyPr wrap="square" lIns="0" tIns="0" rIns="0" bIns="0" rtlCol="0" anchor="t"/>
          <a:lstStyle/>
          <a:p>
            <a:pPr marL="0" indent="0" algn="l">
              <a:buNone/>
            </a:pPr>
            <a:r>
              <a:rPr lang="en-US" sz="1400" b="1" dirty="0">
                <a:solidFill>
                  <a:srgbClr val="13211B"/>
                </a:solidFill>
                <a:latin typeface="Calibri" pitchFamily="34" charset="0"/>
                <a:ea typeface="Calibri" pitchFamily="34" charset="-122"/>
                <a:cs typeface="Calibri" pitchFamily="34" charset="-120"/>
              </a:rPr>
              <a:t>A flagship AI-in-agriculture case</a:t>
            </a:r>
            <a:endParaRPr lang="en-US" sz="1400" dirty="0"/>
          </a:p>
        </p:txBody>
      </p:sp>
      <p:sp>
        <p:nvSpPr>
          <p:cNvPr id="10" name="Text 8"/>
          <p:cNvSpPr txBox="1"/>
          <p:nvPr/>
        </p:nvSpPr>
        <p:spPr>
          <a:xfrm>
            <a:off x="822960" y="3822192"/>
            <a:ext cx="4572000" cy="530352"/>
          </a:xfrm>
          <a:prstGeom prst="rect">
            <a:avLst/>
          </a:prstGeom>
          <a:noFill/>
          <a:ln/>
        </p:spPr>
        <p:txBody>
          <a:bodyPr wrap="square" lIns="0" tIns="0" rIns="0" bIns="0" rtlCol="0" anchor="t"/>
          <a:lstStyle/>
          <a:p>
            <a:pPr marL="0" indent="0" algn="l">
              <a:lnSpc>
                <a:spcPct val="112000"/>
              </a:lnSpc>
              <a:buNone/>
            </a:pPr>
            <a:r>
              <a:rPr lang="en-US" sz="1150" dirty="0">
                <a:solidFill>
                  <a:srgbClr val="6E7C72"/>
                </a:solidFill>
                <a:latin typeface="Calibri" pitchFamily="34" charset="0"/>
                <a:ea typeface="Calibri" pitchFamily="34" charset="-122"/>
                <a:cs typeface="Calibri" pitchFamily="34" charset="-120"/>
              </a:rPr>
              <a:t>Leaf symptoms are fairly distinctive. PlantVillage also appeared early, so the community could compare models easily.</a:t>
            </a:r>
            <a:endParaRPr lang="en-US" sz="1150" dirty="0"/>
          </a:p>
        </p:txBody>
      </p:sp>
      <p:sp>
        <p:nvSpPr>
          <p:cNvPr id="11" name="Shape 9"/>
          <p:cNvSpPr/>
          <p:nvPr/>
        </p:nvSpPr>
        <p:spPr>
          <a:xfrm>
            <a:off x="548640" y="4590288"/>
            <a:ext cx="5120640" cy="1097280"/>
          </a:xfrm>
          <a:prstGeom prst="roundRect">
            <a:avLst>
              <a:gd name="adj" fmla="val 6667"/>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2" name="Text 10"/>
          <p:cNvSpPr txBox="1"/>
          <p:nvPr/>
        </p:nvSpPr>
        <p:spPr>
          <a:xfrm>
            <a:off x="822960" y="4773168"/>
            <a:ext cx="4572000" cy="292608"/>
          </a:xfrm>
          <a:prstGeom prst="rect">
            <a:avLst/>
          </a:prstGeom>
          <a:noFill/>
          <a:ln/>
        </p:spPr>
        <p:txBody>
          <a:bodyPr wrap="square" lIns="0" tIns="0" rIns="0" bIns="0" rtlCol="0" anchor="t"/>
          <a:lstStyle/>
          <a:p>
            <a:pPr marL="0" indent="0" algn="l">
              <a:buNone/>
            </a:pPr>
            <a:r>
              <a:rPr lang="en-US" sz="1400" b="1" dirty="0">
                <a:solidFill>
                  <a:srgbClr val="13211B"/>
                </a:solidFill>
                <a:latin typeface="Calibri" pitchFamily="34" charset="0"/>
                <a:ea typeface="Calibri" pitchFamily="34" charset="-122"/>
                <a:cs typeface="Calibri" pitchFamily="34" charset="-120"/>
              </a:rPr>
              <a:t>Scope of this survey</a:t>
            </a:r>
            <a:endParaRPr lang="en-US" sz="1400" dirty="0"/>
          </a:p>
        </p:txBody>
      </p:sp>
      <p:sp>
        <p:nvSpPr>
          <p:cNvPr id="13" name="Text 11"/>
          <p:cNvSpPr txBox="1"/>
          <p:nvPr/>
        </p:nvSpPr>
        <p:spPr>
          <a:xfrm>
            <a:off x="822960" y="5120640"/>
            <a:ext cx="4572000" cy="530352"/>
          </a:xfrm>
          <a:prstGeom prst="rect">
            <a:avLst/>
          </a:prstGeom>
          <a:noFill/>
          <a:ln/>
        </p:spPr>
        <p:txBody>
          <a:bodyPr wrap="square" lIns="0" tIns="0" rIns="0" bIns="0" rtlCol="0" anchor="t"/>
          <a:lstStyle/>
          <a:p>
            <a:pPr marL="0" indent="0" algn="l">
              <a:lnSpc>
                <a:spcPct val="112000"/>
              </a:lnSpc>
              <a:buNone/>
            </a:pPr>
            <a:r>
              <a:rPr lang="en-US" sz="1150" dirty="0">
                <a:solidFill>
                  <a:srgbClr val="6E7C72"/>
                </a:solidFill>
                <a:latin typeface="Calibri" pitchFamily="34" charset="0"/>
                <a:ea typeface="Calibri" pitchFamily="34" charset="-122"/>
                <a:cs typeface="Calibri" pitchFamily="34" charset="-120"/>
              </a:rPr>
              <a:t>2021–2026. Peer-reviewed sources: Nature Scientific Reports, Frontiers, ScienceDirect, MDPI, IEEE, Springer and arXiv.</a:t>
            </a:r>
            <a:endParaRPr lang="en-US" sz="1150" dirty="0"/>
          </a:p>
        </p:txBody>
      </p:sp>
      <p:sp>
        <p:nvSpPr>
          <p:cNvPr id="14" name="Text 12"/>
          <p:cNvSpPr txBox="1"/>
          <p:nvPr/>
        </p:nvSpPr>
        <p:spPr>
          <a:xfrm>
            <a:off x="6035040" y="1481328"/>
            <a:ext cx="5669280" cy="310896"/>
          </a:xfrm>
          <a:prstGeom prst="rect">
            <a:avLst/>
          </a:prstGeom>
          <a:noFill/>
          <a:ln/>
        </p:spPr>
        <p:txBody>
          <a:bodyPr wrap="square" lIns="0" tIns="0" rIns="0" bIns="0"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Three questions replaced the accuracy race (2024–2026)</a:t>
            </a:r>
            <a:endParaRPr lang="en-US" sz="1400" dirty="0"/>
          </a:p>
        </p:txBody>
      </p:sp>
      <p:sp>
        <p:nvSpPr>
          <p:cNvPr id="15" name="Shape 13"/>
          <p:cNvSpPr/>
          <p:nvPr/>
        </p:nvSpPr>
        <p:spPr>
          <a:xfrm>
            <a:off x="6035040" y="1993392"/>
            <a:ext cx="5605272" cy="1097280"/>
          </a:xfrm>
          <a:prstGeom prst="roundRect">
            <a:avLst>
              <a:gd name="adj" fmla="val 6667"/>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6" name="Shape 14"/>
          <p:cNvSpPr/>
          <p:nvPr/>
        </p:nvSpPr>
        <p:spPr>
          <a:xfrm>
            <a:off x="6272784" y="2231136"/>
            <a:ext cx="384048" cy="384048"/>
          </a:xfrm>
          <a:prstGeom prst="ellipse">
            <a:avLst/>
          </a:prstGeom>
          <a:solidFill>
            <a:srgbClr val="2C5F2D"/>
          </a:solidFill>
          <a:ln w="12700">
            <a:solidFill>
              <a:srgbClr val="2C5F2D"/>
            </a:solidFill>
            <a:prstDash val="solid"/>
          </a:ln>
        </p:spPr>
      </p:sp>
      <p:sp>
        <p:nvSpPr>
          <p:cNvPr id="17" name="Text 15"/>
          <p:cNvSpPr txBox="1"/>
          <p:nvPr/>
        </p:nvSpPr>
        <p:spPr>
          <a:xfrm>
            <a:off x="6272784" y="22311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6"/>
          <p:cNvSpPr txBox="1"/>
          <p:nvPr/>
        </p:nvSpPr>
        <p:spPr>
          <a:xfrm>
            <a:off x="6803136" y="2176272"/>
            <a:ext cx="4572000" cy="310896"/>
          </a:xfrm>
          <a:prstGeom prst="rect">
            <a:avLst/>
          </a:prstGeom>
          <a:noFill/>
          <a:ln/>
        </p:spPr>
        <p:txBody>
          <a:bodyPr wrap="square" lIns="0" tIns="0" rIns="0" bIns="0" rtlCol="0" anchor="t"/>
          <a:lstStyle/>
          <a:p>
            <a:pPr marL="0" indent="0" algn="l">
              <a:buNone/>
            </a:pPr>
            <a:r>
              <a:rPr lang="en-US" sz="1400" b="1" dirty="0">
                <a:solidFill>
                  <a:srgbClr val="13211B"/>
                </a:solidFill>
                <a:latin typeface="Calibri" pitchFamily="34" charset="0"/>
                <a:ea typeface="Calibri" pitchFamily="34" charset="-122"/>
                <a:cs typeface="Calibri" pitchFamily="34" charset="-120"/>
              </a:rPr>
              <a:t>Does the model still work on field photos?</a:t>
            </a:r>
            <a:endParaRPr lang="en-US" sz="1400" dirty="0"/>
          </a:p>
        </p:txBody>
      </p:sp>
      <p:sp>
        <p:nvSpPr>
          <p:cNvPr id="19" name="Text 17"/>
          <p:cNvSpPr txBox="1"/>
          <p:nvPr/>
        </p:nvSpPr>
        <p:spPr>
          <a:xfrm>
            <a:off x="6803136" y="2542032"/>
            <a:ext cx="4572000" cy="502920"/>
          </a:xfrm>
          <a:prstGeom prst="rect">
            <a:avLst/>
          </a:prstGeom>
          <a:noFill/>
          <a:ln/>
        </p:spPr>
        <p:txBody>
          <a:bodyPr wrap="square" lIns="0" tIns="0" rIns="0" bIns="0" rtlCol="0" anchor="t"/>
          <a:lstStyle/>
          <a:p>
            <a:pPr marL="0" indent="0" algn="l">
              <a:lnSpc>
                <a:spcPct val="112000"/>
              </a:lnSpc>
              <a:buNone/>
            </a:pPr>
            <a:r>
              <a:rPr lang="en-US" sz="1150" dirty="0">
                <a:solidFill>
                  <a:srgbClr val="6E7C72"/>
                </a:solidFill>
                <a:latin typeface="Calibri" pitchFamily="34" charset="0"/>
                <a:ea typeface="Calibri" pitchFamily="34" charset="-122"/>
                <a:cs typeface="Calibri" pitchFamily="34" charset="-120"/>
              </a:rPr>
              <a:t>Complex backgrounds, changing light, many leaves, overlapping symptoms.</a:t>
            </a:r>
            <a:endParaRPr lang="en-US" sz="1150" dirty="0"/>
          </a:p>
        </p:txBody>
      </p:sp>
      <p:sp>
        <p:nvSpPr>
          <p:cNvPr id="20" name="Shape 18"/>
          <p:cNvSpPr/>
          <p:nvPr/>
        </p:nvSpPr>
        <p:spPr>
          <a:xfrm>
            <a:off x="6035040" y="3291840"/>
            <a:ext cx="5605272" cy="1097280"/>
          </a:xfrm>
          <a:prstGeom prst="roundRect">
            <a:avLst>
              <a:gd name="adj" fmla="val 6667"/>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21" name="Shape 19"/>
          <p:cNvSpPr/>
          <p:nvPr/>
        </p:nvSpPr>
        <p:spPr>
          <a:xfrm>
            <a:off x="6272784" y="3529584"/>
            <a:ext cx="384048" cy="384048"/>
          </a:xfrm>
          <a:prstGeom prst="ellipse">
            <a:avLst/>
          </a:prstGeom>
          <a:solidFill>
            <a:srgbClr val="2C5F2D"/>
          </a:solidFill>
          <a:ln w="12700">
            <a:solidFill>
              <a:srgbClr val="2C5F2D"/>
            </a:solidFill>
            <a:prstDash val="solid"/>
          </a:ln>
        </p:spPr>
      </p:sp>
      <p:sp>
        <p:nvSpPr>
          <p:cNvPr id="22" name="Text 20"/>
          <p:cNvSpPr txBox="1"/>
          <p:nvPr/>
        </p:nvSpPr>
        <p:spPr>
          <a:xfrm>
            <a:off x="6272784" y="35295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3" name="Text 21"/>
          <p:cNvSpPr txBox="1"/>
          <p:nvPr/>
        </p:nvSpPr>
        <p:spPr>
          <a:xfrm>
            <a:off x="6803136" y="3474720"/>
            <a:ext cx="4572000" cy="310896"/>
          </a:xfrm>
          <a:prstGeom prst="rect">
            <a:avLst/>
          </a:prstGeom>
          <a:noFill/>
          <a:ln/>
        </p:spPr>
        <p:txBody>
          <a:bodyPr wrap="square" lIns="0" tIns="0" rIns="0" bIns="0" rtlCol="0" anchor="t"/>
          <a:lstStyle/>
          <a:p>
            <a:pPr marL="0" indent="0" algn="l">
              <a:buNone/>
            </a:pPr>
            <a:r>
              <a:rPr lang="en-US" sz="1400" b="1" dirty="0">
                <a:solidFill>
                  <a:srgbClr val="13211B"/>
                </a:solidFill>
                <a:latin typeface="Calibri" pitchFamily="34" charset="0"/>
                <a:ea typeface="Calibri" pitchFamily="34" charset="-122"/>
                <a:cs typeface="Calibri" pitchFamily="34" charset="-120"/>
              </a:rPr>
              <a:t>Can it run on a phone or edge device?</a:t>
            </a:r>
            <a:endParaRPr lang="en-US" sz="1400" dirty="0"/>
          </a:p>
        </p:txBody>
      </p:sp>
      <p:sp>
        <p:nvSpPr>
          <p:cNvPr id="24" name="Text 22"/>
          <p:cNvSpPr txBox="1"/>
          <p:nvPr/>
        </p:nvSpPr>
        <p:spPr>
          <a:xfrm>
            <a:off x="6803136" y="3840480"/>
            <a:ext cx="4572000" cy="502920"/>
          </a:xfrm>
          <a:prstGeom prst="rect">
            <a:avLst/>
          </a:prstGeom>
          <a:noFill/>
          <a:ln/>
        </p:spPr>
        <p:txBody>
          <a:bodyPr wrap="square" lIns="0" tIns="0" rIns="0" bIns="0" rtlCol="0" anchor="t"/>
          <a:lstStyle/>
          <a:p>
            <a:pPr marL="0" indent="0" algn="l">
              <a:lnSpc>
                <a:spcPct val="112000"/>
              </a:lnSpc>
              <a:buNone/>
            </a:pPr>
            <a:r>
              <a:rPr lang="en-US" sz="1150" dirty="0">
                <a:solidFill>
                  <a:srgbClr val="6E7C72"/>
                </a:solidFill>
                <a:latin typeface="Calibri" pitchFamily="34" charset="0"/>
                <a:ea typeface="Calibri" pitchFamily="34" charset="-122"/>
                <a:cs typeface="Calibri" pitchFamily="34" charset="-120"/>
              </a:rPr>
              <a:t>Resources are limited. Measure real ms per image and real file size, not just GPU accuracy.</a:t>
            </a:r>
            <a:endParaRPr lang="en-US" sz="1150" dirty="0"/>
          </a:p>
        </p:txBody>
      </p:sp>
      <p:sp>
        <p:nvSpPr>
          <p:cNvPr id="25" name="Shape 23"/>
          <p:cNvSpPr/>
          <p:nvPr/>
        </p:nvSpPr>
        <p:spPr>
          <a:xfrm>
            <a:off x="6035040" y="4590288"/>
            <a:ext cx="5605272" cy="1097280"/>
          </a:xfrm>
          <a:prstGeom prst="roundRect">
            <a:avLst>
              <a:gd name="adj" fmla="val 6667"/>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26" name="Shape 24"/>
          <p:cNvSpPr/>
          <p:nvPr/>
        </p:nvSpPr>
        <p:spPr>
          <a:xfrm>
            <a:off x="6272784" y="4828032"/>
            <a:ext cx="384048" cy="384048"/>
          </a:xfrm>
          <a:prstGeom prst="ellipse">
            <a:avLst/>
          </a:prstGeom>
          <a:solidFill>
            <a:srgbClr val="2C5F2D"/>
          </a:solidFill>
          <a:ln w="12700">
            <a:solidFill>
              <a:srgbClr val="2C5F2D"/>
            </a:solidFill>
            <a:prstDash val="solid"/>
          </a:ln>
        </p:spPr>
      </p:sp>
      <p:sp>
        <p:nvSpPr>
          <p:cNvPr id="27" name="Text 25"/>
          <p:cNvSpPr txBox="1"/>
          <p:nvPr/>
        </p:nvSpPr>
        <p:spPr>
          <a:xfrm>
            <a:off x="6272784" y="482803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6"/>
          <p:cNvSpPr txBox="1"/>
          <p:nvPr/>
        </p:nvSpPr>
        <p:spPr>
          <a:xfrm>
            <a:off x="6803136" y="4773168"/>
            <a:ext cx="4572000" cy="310896"/>
          </a:xfrm>
          <a:prstGeom prst="rect">
            <a:avLst/>
          </a:prstGeom>
          <a:noFill/>
          <a:ln/>
        </p:spPr>
        <p:txBody>
          <a:bodyPr wrap="square" lIns="0" tIns="0" rIns="0" bIns="0" rtlCol="0" anchor="t"/>
          <a:lstStyle/>
          <a:p>
            <a:pPr marL="0" indent="0" algn="l">
              <a:buNone/>
            </a:pPr>
            <a:r>
              <a:rPr lang="en-US" sz="1400" b="1" dirty="0">
                <a:solidFill>
                  <a:srgbClr val="13211B"/>
                </a:solidFill>
                <a:latin typeface="Calibri" pitchFamily="34" charset="0"/>
                <a:ea typeface="Calibri" pitchFamily="34" charset="-122"/>
                <a:cs typeface="Calibri" pitchFamily="34" charset="-120"/>
              </a:rPr>
              <a:t>Are the explanations stable enough to trust?</a:t>
            </a:r>
            <a:endParaRPr lang="en-US" sz="1400" dirty="0"/>
          </a:p>
        </p:txBody>
      </p:sp>
      <p:sp>
        <p:nvSpPr>
          <p:cNvPr id="29" name="Text 27"/>
          <p:cNvSpPr txBox="1"/>
          <p:nvPr/>
        </p:nvSpPr>
        <p:spPr>
          <a:xfrm>
            <a:off x="6803136" y="5138928"/>
            <a:ext cx="4572000" cy="502920"/>
          </a:xfrm>
          <a:prstGeom prst="rect">
            <a:avLst/>
          </a:prstGeom>
          <a:noFill/>
          <a:ln/>
        </p:spPr>
        <p:txBody>
          <a:bodyPr wrap="square" lIns="0" tIns="0" rIns="0" bIns="0" rtlCol="0" anchor="t"/>
          <a:lstStyle/>
          <a:p>
            <a:pPr marL="0" indent="0" algn="l">
              <a:lnSpc>
                <a:spcPct val="112000"/>
              </a:lnSpc>
              <a:buNone/>
            </a:pPr>
            <a:r>
              <a:rPr lang="en-US" sz="1150" dirty="0">
                <a:solidFill>
                  <a:srgbClr val="6E7C72"/>
                </a:solidFill>
                <a:latin typeface="Calibri" pitchFamily="34" charset="0"/>
                <a:ea typeface="Calibri" pitchFamily="34" charset="-122"/>
                <a:cs typeface="Calibri" pitchFamily="34" charset="-120"/>
              </a:rPr>
              <a:t>Heatmaps and confidence must stay consistent, or farmers and extension officers will not use them.</a:t>
            </a:r>
            <a:endParaRPr lang="en-US" sz="1150" dirty="0"/>
          </a:p>
        </p:txBody>
      </p:sp>
      <p:sp>
        <p:nvSpPr>
          <p:cNvPr id="30" name="Text 28"/>
          <p:cNvSpPr txBox="1"/>
          <p:nvPr/>
        </p:nvSpPr>
        <p:spPr>
          <a:xfrm>
            <a:off x="548640" y="6345936"/>
            <a:ext cx="11091672" cy="274320"/>
          </a:xfrm>
          <a:prstGeom prst="rect">
            <a:avLst/>
          </a:prstGeom>
          <a:noFill/>
          <a:ln/>
        </p:spPr>
        <p:txBody>
          <a:bodyPr wrap="square" lIns="0" tIns="0" rIns="0" bIns="0" rtlCol="0" anchor="ctr"/>
          <a:lstStyle/>
          <a:p>
            <a:pPr marL="0" indent="0" algn="l">
              <a:buNone/>
            </a:pPr>
            <a:r>
              <a:rPr lang="en-US" sz="1000" i="1" dirty="0">
                <a:solidFill>
                  <a:srgbClr val="6E7C72"/>
                </a:solidFill>
                <a:latin typeface="Calibri" pitchFamily="34" charset="0"/>
                <a:ea typeface="Calibri" pitchFamily="34" charset="-122"/>
                <a:cs typeface="Calibri" pitchFamily="34" charset="-120"/>
              </a:rPr>
              <a:t>Sections 1.1–1.2  ·  [2], [11], [26]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6E9443"/>
                </a:solidFill>
                <a:latin typeface="Calibri" pitchFamily="34" charset="0"/>
                <a:ea typeface="Calibri" pitchFamily="34" charset="-122"/>
                <a:cs typeface="Calibri" pitchFamily="34" charset="-120"/>
              </a:rPr>
              <a:t>PART 1 · CONTEXT</a:t>
            </a:r>
            <a:endParaRPr lang="en-US" sz="1100" dirty="0"/>
          </a:p>
        </p:txBody>
      </p:sp>
      <p:sp>
        <p:nvSpPr>
          <p:cNvPr id="3" name="Text 1"/>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13211B"/>
                </a:solidFill>
                <a:latin typeface="Cambria" pitchFamily="34" charset="0"/>
                <a:ea typeface="Cambria" pitchFamily="34" charset="-122"/>
                <a:cs typeface="Cambria" pitchFamily="34" charset="-120"/>
              </a:rPr>
              <a:t>Three phases of the field</a:t>
            </a:r>
            <a:endParaRPr lang="en-US" sz="3000" dirty="0"/>
          </a:p>
        </p:txBody>
      </p:sp>
      <p:sp>
        <p:nvSpPr>
          <p:cNvPr id="4" name="Shape 2"/>
          <p:cNvSpPr/>
          <p:nvPr/>
        </p:nvSpPr>
        <p:spPr>
          <a:xfrm>
            <a:off x="548640" y="1572768"/>
            <a:ext cx="3584448" cy="2487168"/>
          </a:xfrm>
          <a:prstGeom prst="roundRect">
            <a:avLst>
              <a:gd name="adj" fmla="val 294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5" name="Shape 3"/>
          <p:cNvSpPr/>
          <p:nvPr/>
        </p:nvSpPr>
        <p:spPr>
          <a:xfrm>
            <a:off x="822960" y="1810512"/>
            <a:ext cx="1463040" cy="384048"/>
          </a:xfrm>
          <a:prstGeom prst="roundRect">
            <a:avLst>
              <a:gd name="adj" fmla="val 14286"/>
            </a:avLst>
          </a:prstGeom>
          <a:solidFill>
            <a:srgbClr val="97BC62"/>
          </a:solidFill>
          <a:ln w="12700">
            <a:solidFill>
              <a:srgbClr val="333333"/>
            </a:solidFill>
            <a:prstDash val="solid"/>
          </a:ln>
        </p:spPr>
      </p:sp>
      <p:sp>
        <p:nvSpPr>
          <p:cNvPr id="6" name="Text 4"/>
          <p:cNvSpPr txBox="1"/>
          <p:nvPr/>
        </p:nvSpPr>
        <p:spPr>
          <a:xfrm>
            <a:off x="822960" y="1810512"/>
            <a:ext cx="1463040" cy="384048"/>
          </a:xfrm>
          <a:prstGeom prst="rect">
            <a:avLst/>
          </a:prstGeom>
          <a:noFill/>
          <a:ln/>
        </p:spPr>
        <p:txBody>
          <a:bodyPr wrap="square" lIns="0" tIns="0" rIns="0" bIns="0" rtlCol="0" anchor="ctr"/>
          <a:lstStyle/>
          <a:p>
            <a:pPr marL="0" indent="0" algn="ctr">
              <a:buNone/>
            </a:pPr>
            <a:r>
              <a:rPr lang="en-US" sz="1200" b="1" dirty="0">
                <a:solidFill>
                  <a:srgbClr val="13211B"/>
                </a:solidFill>
                <a:latin typeface="Calibri" pitchFamily="34" charset="0"/>
                <a:ea typeface="Calibri" pitchFamily="34" charset="-122"/>
                <a:cs typeface="Calibri" pitchFamily="34" charset="-120"/>
              </a:rPr>
              <a:t>2021 – 2023</a:t>
            </a:r>
            <a:endParaRPr lang="en-US" sz="1200" dirty="0"/>
          </a:p>
        </p:txBody>
      </p:sp>
      <p:sp>
        <p:nvSpPr>
          <p:cNvPr id="7" name="Text 5"/>
          <p:cNvSpPr txBox="1"/>
          <p:nvPr/>
        </p:nvSpPr>
        <p:spPr>
          <a:xfrm>
            <a:off x="822960" y="2359152"/>
            <a:ext cx="3035808" cy="402336"/>
          </a:xfrm>
          <a:prstGeom prst="rect">
            <a:avLst/>
          </a:prstGeom>
          <a:noFill/>
          <a:ln/>
        </p:spPr>
        <p:txBody>
          <a:bodyPr wrap="square" lIns="0" tIns="0" rIns="0" bIns="0" rtlCol="0" anchor="t"/>
          <a:lstStyle/>
          <a:p>
            <a:pPr marL="0" indent="0" algn="l">
              <a:buNone/>
            </a:pPr>
            <a:r>
              <a:rPr lang="en-US" sz="1800" b="1" dirty="0">
                <a:solidFill>
                  <a:srgbClr val="13211B"/>
                </a:solidFill>
                <a:latin typeface="Calibri" pitchFamily="34" charset="0"/>
                <a:ea typeface="Calibri" pitchFamily="34" charset="-122"/>
                <a:cs typeface="Calibri" pitchFamily="34" charset="-120"/>
              </a:rPr>
              <a:t>The accuracy race</a:t>
            </a:r>
            <a:endParaRPr lang="en-US" sz="1800" dirty="0"/>
          </a:p>
        </p:txBody>
      </p:sp>
      <p:sp>
        <p:nvSpPr>
          <p:cNvPr id="8" name="Text 6"/>
          <p:cNvSpPr txBox="1"/>
          <p:nvPr/>
        </p:nvSpPr>
        <p:spPr>
          <a:xfrm>
            <a:off x="822960" y="2816352"/>
            <a:ext cx="3035808" cy="1097280"/>
          </a:xfrm>
          <a:prstGeom prst="rect">
            <a:avLst/>
          </a:prstGeom>
          <a:noFill/>
          <a:ln/>
        </p:spPr>
        <p:txBody>
          <a:bodyPr wrap="square" lIns="0" tIns="0" rIns="0" bIns="0" rtlCol="0" anchor="t"/>
          <a:lstStyle/>
          <a:p>
            <a:pPr marL="0" indent="0" algn="l">
              <a:lnSpc>
                <a:spcPct val="112000"/>
              </a:lnSpc>
              <a:buNone/>
            </a:pPr>
            <a:r>
              <a:rPr lang="en-US" sz="1200" dirty="0">
                <a:solidFill>
                  <a:srgbClr val="6E7C72"/>
                </a:solidFill>
                <a:latin typeface="Calibri" pitchFamily="34" charset="0"/>
                <a:ea typeface="Calibri" pitchFamily="34" charset="-122"/>
                <a:cs typeface="Calibri" pitchFamily="34" charset="-120"/>
              </a:rPr>
              <a:t>ImageNet transfer learning on PlantVillage. VGG, ResNet, Inception, DenseNet and MobileNet all passed 98–99% quickly.</a:t>
            </a:r>
            <a:endParaRPr lang="en-US" sz="1200" dirty="0"/>
          </a:p>
        </p:txBody>
      </p:sp>
      <p:sp>
        <p:nvSpPr>
          <p:cNvPr id="9" name="Shape 7"/>
          <p:cNvSpPr/>
          <p:nvPr/>
        </p:nvSpPr>
        <p:spPr>
          <a:xfrm>
            <a:off x="4206240" y="2688336"/>
            <a:ext cx="219456" cy="256032"/>
          </a:xfrm>
          <a:prstGeom prst="rightArrow">
            <a:avLst/>
          </a:prstGeom>
          <a:solidFill>
            <a:srgbClr val="D9E2D2"/>
          </a:solidFill>
          <a:ln w="12700">
            <a:solidFill>
              <a:srgbClr val="333333"/>
            </a:solidFill>
            <a:prstDash val="solid"/>
          </a:ln>
        </p:spPr>
      </p:sp>
      <p:sp>
        <p:nvSpPr>
          <p:cNvPr id="10" name="Shape 8"/>
          <p:cNvSpPr/>
          <p:nvPr/>
        </p:nvSpPr>
        <p:spPr>
          <a:xfrm>
            <a:off x="4462272" y="1572768"/>
            <a:ext cx="3584448" cy="2487168"/>
          </a:xfrm>
          <a:prstGeom prst="roundRect">
            <a:avLst>
              <a:gd name="adj" fmla="val 294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1" name="Shape 9"/>
          <p:cNvSpPr/>
          <p:nvPr/>
        </p:nvSpPr>
        <p:spPr>
          <a:xfrm>
            <a:off x="4736592" y="1810512"/>
            <a:ext cx="1463040" cy="384048"/>
          </a:xfrm>
          <a:prstGeom prst="roundRect">
            <a:avLst>
              <a:gd name="adj" fmla="val 14286"/>
            </a:avLst>
          </a:prstGeom>
          <a:solidFill>
            <a:srgbClr val="6E9443"/>
          </a:solidFill>
          <a:ln w="12700">
            <a:solidFill>
              <a:srgbClr val="333333"/>
            </a:solidFill>
            <a:prstDash val="solid"/>
          </a:ln>
        </p:spPr>
      </p:sp>
      <p:sp>
        <p:nvSpPr>
          <p:cNvPr id="12" name="Text 10"/>
          <p:cNvSpPr txBox="1"/>
          <p:nvPr/>
        </p:nvSpPr>
        <p:spPr>
          <a:xfrm>
            <a:off x="4736592" y="1810512"/>
            <a:ext cx="14630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2023 – 2025</a:t>
            </a:r>
            <a:endParaRPr lang="en-US" sz="1200" dirty="0"/>
          </a:p>
        </p:txBody>
      </p:sp>
      <p:sp>
        <p:nvSpPr>
          <p:cNvPr id="13" name="Text 11"/>
          <p:cNvSpPr txBox="1"/>
          <p:nvPr/>
        </p:nvSpPr>
        <p:spPr>
          <a:xfrm>
            <a:off x="4736592" y="2359152"/>
            <a:ext cx="3035808" cy="402336"/>
          </a:xfrm>
          <a:prstGeom prst="rect">
            <a:avLst/>
          </a:prstGeom>
          <a:noFill/>
          <a:ln/>
        </p:spPr>
        <p:txBody>
          <a:bodyPr wrap="square" lIns="0" tIns="0" rIns="0" bIns="0" rtlCol="0" anchor="t"/>
          <a:lstStyle/>
          <a:p>
            <a:pPr marL="0" indent="0" algn="l">
              <a:buNone/>
            </a:pPr>
            <a:r>
              <a:rPr lang="en-US" sz="1800" b="1" dirty="0">
                <a:solidFill>
                  <a:srgbClr val="13211B"/>
                </a:solidFill>
                <a:latin typeface="Calibri" pitchFamily="34" charset="0"/>
                <a:ea typeface="Calibri" pitchFamily="34" charset="-122"/>
                <a:cs typeface="Calibri" pitchFamily="34" charset="-120"/>
              </a:rPr>
              <a:t>Smaller and explainable</a:t>
            </a:r>
            <a:endParaRPr lang="en-US" sz="1800" dirty="0"/>
          </a:p>
        </p:txBody>
      </p:sp>
      <p:sp>
        <p:nvSpPr>
          <p:cNvPr id="14" name="Text 12"/>
          <p:cNvSpPr txBox="1"/>
          <p:nvPr/>
        </p:nvSpPr>
        <p:spPr>
          <a:xfrm>
            <a:off x="4736592" y="2816352"/>
            <a:ext cx="3035808" cy="1097280"/>
          </a:xfrm>
          <a:prstGeom prst="rect">
            <a:avLst/>
          </a:prstGeom>
          <a:noFill/>
          <a:ln/>
        </p:spPr>
        <p:txBody>
          <a:bodyPr wrap="square" lIns="0" tIns="0" rIns="0" bIns="0" rtlCol="0" anchor="t"/>
          <a:lstStyle/>
          <a:p>
            <a:pPr marL="0" indent="0" algn="l">
              <a:lnSpc>
                <a:spcPct val="112000"/>
              </a:lnSpc>
              <a:buNone/>
            </a:pPr>
            <a:r>
              <a:rPr lang="en-US" sz="1200" dirty="0">
                <a:solidFill>
                  <a:srgbClr val="6E7C72"/>
                </a:solidFill>
                <a:latin typeface="Calibri" pitchFamily="34" charset="0"/>
                <a:ea typeface="Calibri" pitchFamily="34" charset="-122"/>
                <a:cs typeface="Calibri" pitchFamily="34" charset="-120"/>
              </a:rPr>
              <a:t>Edge and TinyML models. Grad-CAM became the default. Cross-dataset testing began.</a:t>
            </a:r>
            <a:endParaRPr lang="en-US" sz="1200" dirty="0"/>
          </a:p>
        </p:txBody>
      </p:sp>
      <p:sp>
        <p:nvSpPr>
          <p:cNvPr id="15" name="Shape 13"/>
          <p:cNvSpPr/>
          <p:nvPr/>
        </p:nvSpPr>
        <p:spPr>
          <a:xfrm>
            <a:off x="8119872" y="2688336"/>
            <a:ext cx="219456" cy="256032"/>
          </a:xfrm>
          <a:prstGeom prst="rightArrow">
            <a:avLst/>
          </a:prstGeom>
          <a:solidFill>
            <a:srgbClr val="D9E2D2"/>
          </a:solidFill>
          <a:ln w="12700">
            <a:solidFill>
              <a:srgbClr val="333333"/>
            </a:solidFill>
            <a:prstDash val="solid"/>
          </a:ln>
        </p:spPr>
      </p:sp>
      <p:sp>
        <p:nvSpPr>
          <p:cNvPr id="16" name="Shape 14"/>
          <p:cNvSpPr/>
          <p:nvPr/>
        </p:nvSpPr>
        <p:spPr>
          <a:xfrm>
            <a:off x="8375904" y="1572768"/>
            <a:ext cx="3584448" cy="2487168"/>
          </a:xfrm>
          <a:prstGeom prst="roundRect">
            <a:avLst>
              <a:gd name="adj" fmla="val 294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7" name="Shape 15"/>
          <p:cNvSpPr/>
          <p:nvPr/>
        </p:nvSpPr>
        <p:spPr>
          <a:xfrm>
            <a:off x="8650224" y="1810512"/>
            <a:ext cx="1463040" cy="384048"/>
          </a:xfrm>
          <a:prstGeom prst="roundRect">
            <a:avLst>
              <a:gd name="adj" fmla="val 14286"/>
            </a:avLst>
          </a:prstGeom>
          <a:solidFill>
            <a:srgbClr val="2C5F2D"/>
          </a:solidFill>
          <a:ln w="12700">
            <a:solidFill>
              <a:srgbClr val="333333"/>
            </a:solidFill>
            <a:prstDash val="solid"/>
          </a:ln>
        </p:spPr>
      </p:sp>
      <p:sp>
        <p:nvSpPr>
          <p:cNvPr id="18" name="Text 16"/>
          <p:cNvSpPr txBox="1"/>
          <p:nvPr/>
        </p:nvSpPr>
        <p:spPr>
          <a:xfrm>
            <a:off x="8650224" y="1810512"/>
            <a:ext cx="14630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2025 – 2026</a:t>
            </a:r>
            <a:endParaRPr lang="en-US" sz="1200" dirty="0"/>
          </a:p>
        </p:txBody>
      </p:sp>
      <p:sp>
        <p:nvSpPr>
          <p:cNvPr id="19" name="Text 17"/>
          <p:cNvSpPr txBox="1"/>
          <p:nvPr/>
        </p:nvSpPr>
        <p:spPr>
          <a:xfrm>
            <a:off x="8650224" y="2359152"/>
            <a:ext cx="3035808" cy="402336"/>
          </a:xfrm>
          <a:prstGeom prst="rect">
            <a:avLst/>
          </a:prstGeom>
          <a:noFill/>
          <a:ln/>
        </p:spPr>
        <p:txBody>
          <a:bodyPr wrap="square" lIns="0" tIns="0" rIns="0" bIns="0" rtlCol="0" anchor="t"/>
          <a:lstStyle/>
          <a:p>
            <a:pPr marL="0" indent="0" algn="l">
              <a:buNone/>
            </a:pPr>
            <a:r>
              <a:rPr lang="en-US" sz="1800" b="1" dirty="0">
                <a:solidFill>
                  <a:srgbClr val="13211B"/>
                </a:solidFill>
                <a:latin typeface="Calibri" pitchFamily="34" charset="0"/>
                <a:ea typeface="Calibri" pitchFamily="34" charset="-122"/>
                <a:cs typeface="Calibri" pitchFamily="34" charset="-120"/>
              </a:rPr>
              <a:t>Into the field</a:t>
            </a:r>
            <a:endParaRPr lang="en-US" sz="1800" dirty="0"/>
          </a:p>
        </p:txBody>
      </p:sp>
      <p:sp>
        <p:nvSpPr>
          <p:cNvPr id="20" name="Text 18"/>
          <p:cNvSpPr txBox="1"/>
          <p:nvPr/>
        </p:nvSpPr>
        <p:spPr>
          <a:xfrm>
            <a:off x="8650224" y="2816352"/>
            <a:ext cx="3035808" cy="1097280"/>
          </a:xfrm>
          <a:prstGeom prst="rect">
            <a:avLst/>
          </a:prstGeom>
          <a:noFill/>
          <a:ln/>
        </p:spPr>
        <p:txBody>
          <a:bodyPr wrap="square" lIns="0" tIns="0" rIns="0" bIns="0" rtlCol="0" anchor="t"/>
          <a:lstStyle/>
          <a:p>
            <a:pPr marL="0" indent="0" algn="l">
              <a:lnSpc>
                <a:spcPct val="112000"/>
              </a:lnSpc>
              <a:buNone/>
            </a:pPr>
            <a:r>
              <a:rPr lang="en-US" sz="1200" dirty="0">
                <a:solidFill>
                  <a:srgbClr val="6E7C72"/>
                </a:solidFill>
                <a:latin typeface="Calibri" pitchFamily="34" charset="0"/>
                <a:ea typeface="Calibri" pitchFamily="34" charset="-122"/>
                <a:cs typeface="Calibri" pitchFamily="34" charset="-120"/>
              </a:rPr>
              <a:t>Robustness, severity, VLMs, leaf and fruit segmentation, QAT and mixed precision for real deployment.</a:t>
            </a:r>
            <a:endParaRPr lang="en-US" sz="1200" dirty="0"/>
          </a:p>
        </p:txBody>
      </p:sp>
      <p:sp>
        <p:nvSpPr>
          <p:cNvPr id="21" name="Shape 19"/>
          <p:cNvSpPr/>
          <p:nvPr/>
        </p:nvSpPr>
        <p:spPr>
          <a:xfrm>
            <a:off x="548640" y="4352544"/>
            <a:ext cx="11091672" cy="1371600"/>
          </a:xfrm>
          <a:prstGeom prst="roundRect">
            <a:avLst>
              <a:gd name="adj" fmla="val 5333"/>
            </a:avLst>
          </a:prstGeom>
          <a:solidFill>
            <a:srgbClr val="FBEBEA"/>
          </a:solidFill>
          <a:ln w="12700">
            <a:solidFill>
              <a:srgbClr val="F0D2D1"/>
            </a:solidFill>
            <a:prstDash val="solid"/>
          </a:ln>
          <a:effectLst>
            <a:outerShdw blurRad="127000" dist="25400" dir="5400000" algn="bl" rotWithShape="0">
              <a:srgbClr val="1B3A2B">
                <a:alpha val="10000"/>
              </a:srgbClr>
            </a:outerShdw>
          </a:effectLst>
        </p:spPr>
      </p:sp>
      <p:sp>
        <p:nvSpPr>
          <p:cNvPr id="22" name="Text 20"/>
          <p:cNvSpPr txBox="1"/>
          <p:nvPr/>
        </p:nvSpPr>
        <p:spPr>
          <a:xfrm>
            <a:off x="914400" y="4498848"/>
            <a:ext cx="2834640" cy="1005840"/>
          </a:xfrm>
          <a:prstGeom prst="rect">
            <a:avLst/>
          </a:prstGeom>
          <a:noFill/>
          <a:ln/>
        </p:spPr>
        <p:txBody>
          <a:bodyPr wrap="square" lIns="0" tIns="0" rIns="0" bIns="0" rtlCol="0" anchor="ctr"/>
          <a:lstStyle/>
          <a:p>
            <a:pPr marL="0" indent="0">
              <a:lnSpc>
                <a:spcPct val="105000"/>
              </a:lnSpc>
              <a:buNone/>
            </a:pPr>
            <a:r>
              <a:rPr lang="en-US" sz="2800" b="1" dirty="0">
                <a:solidFill>
                  <a:srgbClr val="C62828"/>
                </a:solidFill>
                <a:latin typeface="Cambria" pitchFamily="34" charset="0"/>
                <a:ea typeface="Cambria" pitchFamily="34" charset="-122"/>
                <a:cs typeface="Cambria" pitchFamily="34" charset="-120"/>
              </a:rPr>
              <a:t>Lab ceiling</a:t>
            </a:r>
            <a:endParaRPr lang="en-US" sz="2800" dirty="0"/>
          </a:p>
          <a:p>
            <a:pPr marL="0" indent="0">
              <a:lnSpc>
                <a:spcPct val="105000"/>
              </a:lnSpc>
              <a:buNone/>
            </a:pPr>
            <a:r>
              <a:rPr lang="en-US" sz="2800" b="1" dirty="0">
                <a:solidFill>
                  <a:srgbClr val="C62828"/>
                </a:solidFill>
                <a:latin typeface="Cambria" pitchFamily="34" charset="0"/>
                <a:ea typeface="Cambria" pitchFamily="34" charset="-122"/>
                <a:cs typeface="Cambria" pitchFamily="34" charset="-120"/>
              </a:rPr>
              <a:t>&gt;99%</a:t>
            </a:r>
            <a:endParaRPr lang="en-US" sz="2800" dirty="0"/>
          </a:p>
        </p:txBody>
      </p:sp>
      <p:sp>
        <p:nvSpPr>
          <p:cNvPr id="23" name="Text 21"/>
          <p:cNvSpPr txBox="1"/>
          <p:nvPr/>
        </p:nvSpPr>
        <p:spPr>
          <a:xfrm>
            <a:off x="3931920" y="4572000"/>
            <a:ext cx="7543800" cy="914400"/>
          </a:xfrm>
          <a:prstGeom prst="rect">
            <a:avLst/>
          </a:prstGeom>
          <a:noFill/>
          <a:ln/>
        </p:spPr>
        <p:txBody>
          <a:bodyPr wrap="square" lIns="0" tIns="0" rIns="0" bIns="0" rtlCol="0" anchor="ctr"/>
          <a:lstStyle/>
          <a:p>
            <a:pPr marL="0" indent="0">
              <a:lnSpc>
                <a:spcPct val="115000"/>
              </a:lnSpc>
              <a:buNone/>
            </a:pPr>
            <a:r>
              <a:rPr lang="en-US" sz="1350" dirty="0">
                <a:solidFill>
                  <a:srgbClr val="13211B"/>
                </a:solidFill>
                <a:latin typeface="Calibri" pitchFamily="34" charset="0"/>
                <a:ea typeface="Calibri" pitchFamily="34" charset="-122"/>
                <a:cs typeface="Calibri" pitchFamily="34" charset="-120"/>
              </a:rPr>
              <a:t>was already reached in 2022. Since then, comparing architectures only means something on field data, on edge devices, or on detection and segmentation tasks.</a:t>
            </a:r>
            <a:endParaRPr lang="en-US" sz="1350" dirty="0"/>
          </a:p>
        </p:txBody>
      </p:sp>
      <p:sp>
        <p:nvSpPr>
          <p:cNvPr id="24" name="Text 22"/>
          <p:cNvSpPr txBox="1"/>
          <p:nvPr/>
        </p:nvSpPr>
        <p:spPr>
          <a:xfrm>
            <a:off x="548640" y="6345936"/>
            <a:ext cx="11091672" cy="274320"/>
          </a:xfrm>
          <a:prstGeom prst="rect">
            <a:avLst/>
          </a:prstGeom>
          <a:noFill/>
          <a:ln/>
        </p:spPr>
        <p:txBody>
          <a:bodyPr wrap="square" lIns="0" tIns="0" rIns="0" bIns="0" rtlCol="0" anchor="ctr"/>
          <a:lstStyle/>
          <a:p>
            <a:pPr marL="0" indent="0" algn="l">
              <a:buNone/>
            </a:pPr>
            <a:r>
              <a:rPr lang="en-US" sz="1000" i="1" dirty="0">
                <a:solidFill>
                  <a:srgbClr val="6E7C72"/>
                </a:solidFill>
                <a:latin typeface="Calibri" pitchFamily="34" charset="0"/>
                <a:ea typeface="Calibri" pitchFamily="34" charset="-122"/>
                <a:cs typeface="Calibri" pitchFamily="34" charset="-120"/>
              </a:rPr>
              <a:t>Sections 1.1, 4.1  ·  [2], [3], [14]–[16]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6E9443"/>
                </a:solidFill>
                <a:latin typeface="Calibri" pitchFamily="34" charset="0"/>
                <a:ea typeface="Calibri" pitchFamily="34" charset="-122"/>
                <a:cs typeface="Calibri" pitchFamily="34" charset="-120"/>
              </a:rPr>
              <a:t>PART 1 · CONTEXT</a:t>
            </a:r>
            <a:endParaRPr lang="en-US" sz="1100" dirty="0"/>
          </a:p>
        </p:txBody>
      </p:sp>
      <p:sp>
        <p:nvSpPr>
          <p:cNvPr id="3" name="Text 1"/>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13211B"/>
                </a:solidFill>
                <a:latin typeface="Cambria" pitchFamily="34" charset="0"/>
                <a:ea typeface="Cambria" pitchFamily="34" charset="-122"/>
                <a:cs typeface="Cambria" pitchFamily="34" charset="-120"/>
              </a:rPr>
              <a:t>10 PlantVillage classes — but difficulty is very uneven</a:t>
            </a:r>
            <a:endParaRPr lang="en-US" sz="3000" dirty="0"/>
          </a:p>
        </p:txBody>
      </p:sp>
      <p:sp>
        <p:nvSpPr>
          <p:cNvPr id="4" name="Shape 2"/>
          <p:cNvSpPr/>
          <p:nvPr/>
        </p:nvSpPr>
        <p:spPr>
          <a:xfrm>
            <a:off x="548640" y="1517904"/>
            <a:ext cx="2615184" cy="2761488"/>
          </a:xfrm>
          <a:prstGeom prst="roundRect">
            <a:avLst>
              <a:gd name="adj" fmla="val 2797"/>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5" name="Shape 3"/>
          <p:cNvSpPr/>
          <p:nvPr/>
        </p:nvSpPr>
        <p:spPr>
          <a:xfrm>
            <a:off x="768096" y="1737360"/>
            <a:ext cx="1207008" cy="329184"/>
          </a:xfrm>
          <a:prstGeom prst="roundRect">
            <a:avLst>
              <a:gd name="adj" fmla="val 13889"/>
            </a:avLst>
          </a:prstGeom>
          <a:solidFill>
            <a:srgbClr val="97BC62"/>
          </a:solidFill>
          <a:ln w="12700">
            <a:solidFill>
              <a:srgbClr val="333333"/>
            </a:solidFill>
            <a:prstDash val="solid"/>
          </a:ln>
        </p:spPr>
      </p:sp>
      <p:sp>
        <p:nvSpPr>
          <p:cNvPr id="6" name="Text 4"/>
          <p:cNvSpPr txBox="1"/>
          <p:nvPr/>
        </p:nvSpPr>
        <p:spPr>
          <a:xfrm>
            <a:off x="768096" y="1737360"/>
            <a:ext cx="1207008" cy="329184"/>
          </a:xfrm>
          <a:prstGeom prst="rect">
            <a:avLst/>
          </a:prstGeom>
          <a:noFill/>
          <a:ln/>
        </p:spPr>
        <p:txBody>
          <a:bodyPr wrap="square" lIns="0" tIns="0" rIns="0" bIns="0" rtlCol="0" anchor="ctr"/>
          <a:lstStyle/>
          <a:p>
            <a:pPr marL="0" indent="0" algn="ctr">
              <a:buNone/>
            </a:pPr>
            <a:r>
              <a:rPr lang="en-US" sz="1050" b="1" kern="0" spc="100" dirty="0">
                <a:solidFill>
                  <a:srgbClr val="13211B"/>
                </a:solidFill>
                <a:latin typeface="Calibri" pitchFamily="34" charset="0"/>
                <a:ea typeface="Calibri" pitchFamily="34" charset="-122"/>
                <a:cs typeface="Calibri" pitchFamily="34" charset="-120"/>
              </a:rPr>
              <a:t>FUNGAL</a:t>
            </a:r>
            <a:endParaRPr lang="en-US" sz="1050" dirty="0"/>
          </a:p>
        </p:txBody>
      </p:sp>
      <p:sp>
        <p:nvSpPr>
          <p:cNvPr id="7" name="Text 5"/>
          <p:cNvSpPr txBox="1"/>
          <p:nvPr/>
        </p:nvSpPr>
        <p:spPr>
          <a:xfrm>
            <a:off x="2048256" y="1737360"/>
            <a:ext cx="1005840" cy="329184"/>
          </a:xfrm>
          <a:prstGeom prst="rect">
            <a:avLst/>
          </a:prstGeom>
          <a:noFill/>
          <a:ln/>
        </p:spPr>
        <p:txBody>
          <a:bodyPr wrap="square" lIns="0" tIns="0" rIns="0" bIns="0" rtlCol="0" anchor="ctr"/>
          <a:lstStyle/>
          <a:p>
            <a:pPr marL="0" indent="0" algn="r">
              <a:buNone/>
            </a:pPr>
            <a:r>
              <a:rPr lang="en-US" sz="1050" i="1" dirty="0">
                <a:solidFill>
                  <a:srgbClr val="6E7C72"/>
                </a:solidFill>
                <a:latin typeface="Calibri" pitchFamily="34" charset="0"/>
                <a:ea typeface="Calibri" pitchFamily="34" charset="-122"/>
                <a:cs typeface="Calibri" pitchFamily="34" charset="-120"/>
              </a:rPr>
              <a:t>Easiest</a:t>
            </a:r>
            <a:endParaRPr lang="en-US" sz="1050" dirty="0"/>
          </a:p>
        </p:txBody>
      </p:sp>
      <p:sp>
        <p:nvSpPr>
          <p:cNvPr id="8" name="Text 6"/>
          <p:cNvSpPr txBox="1"/>
          <p:nvPr/>
        </p:nvSpPr>
        <p:spPr>
          <a:xfrm>
            <a:off x="768096" y="2212848"/>
            <a:ext cx="2176272" cy="822960"/>
          </a:xfrm>
          <a:prstGeom prst="rect">
            <a:avLst/>
          </a:prstGeom>
          <a:noFill/>
          <a:ln/>
        </p:spPr>
        <p:txBody>
          <a:bodyPr wrap="square" lIns="0" tIns="0" rIns="0" bIns="0" rtlCol="0" anchor="t"/>
          <a:lstStyle/>
          <a:p>
            <a:pPr marL="0" indent="0" algn="l">
              <a:buNone/>
            </a:pPr>
            <a:r>
              <a:rPr lang="en-US" sz="1300" b="1" dirty="0">
                <a:solidFill>
                  <a:srgbClr val="13211B"/>
                </a:solidFill>
                <a:latin typeface="Calibri" pitchFamily="34" charset="0"/>
                <a:ea typeface="Calibri" pitchFamily="34" charset="-122"/>
                <a:cs typeface="Calibri" pitchFamily="34" charset="-120"/>
              </a:rPr>
              <a:t>Early Blight · Late Blight · Leaf Mold · Septoria · Target Spot</a:t>
            </a:r>
            <a:endParaRPr lang="en-US" sz="1300" dirty="0"/>
          </a:p>
        </p:txBody>
      </p:sp>
      <p:sp>
        <p:nvSpPr>
          <p:cNvPr id="9" name="Text 7"/>
          <p:cNvSpPr txBox="1"/>
          <p:nvPr/>
        </p:nvSpPr>
        <p:spPr>
          <a:xfrm>
            <a:off x="768096" y="3108960"/>
            <a:ext cx="2176272" cy="1051560"/>
          </a:xfrm>
          <a:prstGeom prst="rect">
            <a:avLst/>
          </a:prstGeom>
          <a:noFill/>
          <a:ln/>
        </p:spPr>
        <p:txBody>
          <a:bodyPr wrap="square" lIns="0" tIns="0" rIns="0" bIns="0" rtlCol="0" anchor="t"/>
          <a:lstStyle/>
          <a:p>
            <a:pPr marL="0" indent="0" algn="l">
              <a:lnSpc>
                <a:spcPct val="112000"/>
              </a:lnSpc>
              <a:buNone/>
            </a:pPr>
            <a:r>
              <a:rPr lang="en-US" sz="1150" dirty="0">
                <a:solidFill>
                  <a:srgbClr val="6E7C72"/>
                </a:solidFill>
                <a:latin typeface="Calibri" pitchFamily="34" charset="0"/>
                <a:ea typeface="Calibri" pitchFamily="34" charset="-122"/>
                <a:cs typeface="Calibri" pitchFamily="34" charset="-120"/>
              </a:rPr>
              <a:t>Concentric spots, grey mould, yellow halos. Works for classification and segmentation alike.</a:t>
            </a:r>
            <a:endParaRPr lang="en-US" sz="1150" dirty="0"/>
          </a:p>
        </p:txBody>
      </p:sp>
      <p:sp>
        <p:nvSpPr>
          <p:cNvPr id="10" name="Shape 8"/>
          <p:cNvSpPr/>
          <p:nvPr/>
        </p:nvSpPr>
        <p:spPr>
          <a:xfrm>
            <a:off x="3438144" y="1517904"/>
            <a:ext cx="2615184" cy="2761488"/>
          </a:xfrm>
          <a:prstGeom prst="roundRect">
            <a:avLst>
              <a:gd name="adj" fmla="val 2797"/>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1" name="Shape 9"/>
          <p:cNvSpPr/>
          <p:nvPr/>
        </p:nvSpPr>
        <p:spPr>
          <a:xfrm>
            <a:off x="3657600" y="1737360"/>
            <a:ext cx="1207008" cy="329184"/>
          </a:xfrm>
          <a:prstGeom prst="roundRect">
            <a:avLst>
              <a:gd name="adj" fmla="val 13889"/>
            </a:avLst>
          </a:prstGeom>
          <a:solidFill>
            <a:srgbClr val="6E9443"/>
          </a:solidFill>
          <a:ln w="12700">
            <a:solidFill>
              <a:srgbClr val="333333"/>
            </a:solidFill>
            <a:prstDash val="solid"/>
          </a:ln>
        </p:spPr>
      </p:sp>
      <p:sp>
        <p:nvSpPr>
          <p:cNvPr id="12" name="Text 10"/>
          <p:cNvSpPr txBox="1"/>
          <p:nvPr/>
        </p:nvSpPr>
        <p:spPr>
          <a:xfrm>
            <a:off x="3657600" y="1737360"/>
            <a:ext cx="1207008" cy="329184"/>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BACTERIAL</a:t>
            </a:r>
            <a:endParaRPr lang="en-US" sz="1050" dirty="0"/>
          </a:p>
        </p:txBody>
      </p:sp>
      <p:sp>
        <p:nvSpPr>
          <p:cNvPr id="13" name="Text 11"/>
          <p:cNvSpPr txBox="1"/>
          <p:nvPr/>
        </p:nvSpPr>
        <p:spPr>
          <a:xfrm>
            <a:off x="4937760" y="1737360"/>
            <a:ext cx="1005840" cy="329184"/>
          </a:xfrm>
          <a:prstGeom prst="rect">
            <a:avLst/>
          </a:prstGeom>
          <a:noFill/>
          <a:ln/>
        </p:spPr>
        <p:txBody>
          <a:bodyPr wrap="square" lIns="0" tIns="0" rIns="0" bIns="0" rtlCol="0" anchor="ctr"/>
          <a:lstStyle/>
          <a:p>
            <a:pPr marL="0" indent="0" algn="r">
              <a:buNone/>
            </a:pPr>
            <a:r>
              <a:rPr lang="en-US" sz="1050" i="1" dirty="0">
                <a:solidFill>
                  <a:srgbClr val="6E7C72"/>
                </a:solidFill>
                <a:latin typeface="Calibri" pitchFamily="34" charset="0"/>
                <a:ea typeface="Calibri" pitchFamily="34" charset="-122"/>
                <a:cs typeface="Calibri" pitchFamily="34" charset="-120"/>
              </a:rPr>
              <a:t>Medium</a:t>
            </a:r>
            <a:endParaRPr lang="en-US" sz="1050" dirty="0"/>
          </a:p>
        </p:txBody>
      </p:sp>
      <p:sp>
        <p:nvSpPr>
          <p:cNvPr id="14" name="Text 12"/>
          <p:cNvSpPr txBox="1"/>
          <p:nvPr/>
        </p:nvSpPr>
        <p:spPr>
          <a:xfrm>
            <a:off x="3657600" y="2212848"/>
            <a:ext cx="2176272" cy="822960"/>
          </a:xfrm>
          <a:prstGeom prst="rect">
            <a:avLst/>
          </a:prstGeom>
          <a:noFill/>
          <a:ln/>
        </p:spPr>
        <p:txBody>
          <a:bodyPr wrap="square" lIns="0" tIns="0" rIns="0" bIns="0" rtlCol="0" anchor="t"/>
          <a:lstStyle/>
          <a:p>
            <a:pPr marL="0" indent="0" algn="l">
              <a:buNone/>
            </a:pPr>
            <a:r>
              <a:rPr lang="en-US" sz="1300" b="1" dirty="0">
                <a:solidFill>
                  <a:srgbClr val="13211B"/>
                </a:solidFill>
                <a:latin typeface="Calibri" pitchFamily="34" charset="0"/>
                <a:ea typeface="Calibri" pitchFamily="34" charset="-122"/>
                <a:cs typeface="Calibri" pitchFamily="34" charset="-120"/>
              </a:rPr>
              <a:t>Bacterial Spot</a:t>
            </a:r>
            <a:endParaRPr lang="en-US" sz="1300" dirty="0"/>
          </a:p>
        </p:txBody>
      </p:sp>
      <p:sp>
        <p:nvSpPr>
          <p:cNvPr id="15" name="Text 13"/>
          <p:cNvSpPr txBox="1"/>
          <p:nvPr/>
        </p:nvSpPr>
        <p:spPr>
          <a:xfrm>
            <a:off x="3657600" y="3108960"/>
            <a:ext cx="2176272" cy="1051560"/>
          </a:xfrm>
          <a:prstGeom prst="rect">
            <a:avLst/>
          </a:prstGeom>
          <a:noFill/>
          <a:ln/>
        </p:spPr>
        <p:txBody>
          <a:bodyPr wrap="square" lIns="0" tIns="0" rIns="0" bIns="0" rtlCol="0" anchor="t"/>
          <a:lstStyle/>
          <a:p>
            <a:pPr marL="0" indent="0" algn="l">
              <a:lnSpc>
                <a:spcPct val="112000"/>
              </a:lnSpc>
              <a:buNone/>
            </a:pPr>
            <a:r>
              <a:rPr lang="en-US" sz="1150" dirty="0">
                <a:solidFill>
                  <a:srgbClr val="6E7C72"/>
                </a:solidFill>
                <a:latin typeface="Calibri" pitchFamily="34" charset="0"/>
                <a:ea typeface="Calibri" pitchFamily="34" charset="-122"/>
                <a:cs typeface="Calibri" pitchFamily="34" charset="-120"/>
              </a:rPr>
              <a:t>Small, wet spots. Easily confused with fungal disease at an early stage.</a:t>
            </a:r>
            <a:endParaRPr lang="en-US" sz="1150" dirty="0"/>
          </a:p>
        </p:txBody>
      </p:sp>
      <p:sp>
        <p:nvSpPr>
          <p:cNvPr id="16" name="Shape 14"/>
          <p:cNvSpPr/>
          <p:nvPr/>
        </p:nvSpPr>
        <p:spPr>
          <a:xfrm>
            <a:off x="6327648" y="1517904"/>
            <a:ext cx="2615184" cy="2761488"/>
          </a:xfrm>
          <a:prstGeom prst="roundRect">
            <a:avLst>
              <a:gd name="adj" fmla="val 2797"/>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7" name="Shape 15"/>
          <p:cNvSpPr/>
          <p:nvPr/>
        </p:nvSpPr>
        <p:spPr>
          <a:xfrm>
            <a:off x="6547104" y="1737360"/>
            <a:ext cx="1207008" cy="329184"/>
          </a:xfrm>
          <a:prstGeom prst="roundRect">
            <a:avLst>
              <a:gd name="adj" fmla="val 13889"/>
            </a:avLst>
          </a:prstGeom>
          <a:solidFill>
            <a:srgbClr val="4F7A42"/>
          </a:solidFill>
          <a:ln w="12700">
            <a:solidFill>
              <a:srgbClr val="333333"/>
            </a:solidFill>
            <a:prstDash val="solid"/>
          </a:ln>
        </p:spPr>
      </p:sp>
      <p:sp>
        <p:nvSpPr>
          <p:cNvPr id="18" name="Text 16"/>
          <p:cNvSpPr txBox="1"/>
          <p:nvPr/>
        </p:nvSpPr>
        <p:spPr>
          <a:xfrm>
            <a:off x="6547104" y="1737360"/>
            <a:ext cx="1207008" cy="329184"/>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VIRAL</a:t>
            </a:r>
            <a:endParaRPr lang="en-US" sz="1050" dirty="0"/>
          </a:p>
        </p:txBody>
      </p:sp>
      <p:sp>
        <p:nvSpPr>
          <p:cNvPr id="19" name="Text 17"/>
          <p:cNvSpPr txBox="1"/>
          <p:nvPr/>
        </p:nvSpPr>
        <p:spPr>
          <a:xfrm>
            <a:off x="7827264" y="1737360"/>
            <a:ext cx="1005840" cy="329184"/>
          </a:xfrm>
          <a:prstGeom prst="rect">
            <a:avLst/>
          </a:prstGeom>
          <a:noFill/>
          <a:ln/>
        </p:spPr>
        <p:txBody>
          <a:bodyPr wrap="square" lIns="0" tIns="0" rIns="0" bIns="0" rtlCol="0" anchor="ctr"/>
          <a:lstStyle/>
          <a:p>
            <a:pPr marL="0" indent="0" algn="r">
              <a:buNone/>
            </a:pPr>
            <a:r>
              <a:rPr lang="en-US" sz="1050" i="1" dirty="0">
                <a:solidFill>
                  <a:srgbClr val="6E7C72"/>
                </a:solidFill>
                <a:latin typeface="Calibri" pitchFamily="34" charset="0"/>
                <a:ea typeface="Calibri" pitchFamily="34" charset="-122"/>
                <a:cs typeface="Calibri" pitchFamily="34" charset="-120"/>
              </a:rPr>
              <a:t>Hard</a:t>
            </a:r>
            <a:endParaRPr lang="en-US" sz="1050" dirty="0"/>
          </a:p>
        </p:txBody>
      </p:sp>
      <p:sp>
        <p:nvSpPr>
          <p:cNvPr id="20" name="Text 18"/>
          <p:cNvSpPr txBox="1"/>
          <p:nvPr/>
        </p:nvSpPr>
        <p:spPr>
          <a:xfrm>
            <a:off x="6547104" y="2212848"/>
            <a:ext cx="2176272" cy="822960"/>
          </a:xfrm>
          <a:prstGeom prst="rect">
            <a:avLst/>
          </a:prstGeom>
          <a:noFill/>
          <a:ln/>
        </p:spPr>
        <p:txBody>
          <a:bodyPr wrap="square" lIns="0" tIns="0" rIns="0" bIns="0" rtlCol="0" anchor="t"/>
          <a:lstStyle/>
          <a:p>
            <a:pPr marL="0" indent="0" algn="l">
              <a:buNone/>
            </a:pPr>
            <a:r>
              <a:rPr lang="en-US" sz="1300" b="1" dirty="0">
                <a:solidFill>
                  <a:srgbClr val="13211B"/>
                </a:solidFill>
                <a:latin typeface="Calibri" pitchFamily="34" charset="0"/>
                <a:ea typeface="Calibri" pitchFamily="34" charset="-122"/>
                <a:cs typeface="Calibri" pitchFamily="34" charset="-120"/>
              </a:rPr>
              <a:t>TYLCV · ToMV · new begomoviruses</a:t>
            </a:r>
            <a:endParaRPr lang="en-US" sz="1300" dirty="0"/>
          </a:p>
        </p:txBody>
      </p:sp>
      <p:sp>
        <p:nvSpPr>
          <p:cNvPr id="21" name="Text 19"/>
          <p:cNvSpPr txBox="1"/>
          <p:nvPr/>
        </p:nvSpPr>
        <p:spPr>
          <a:xfrm>
            <a:off x="6547104" y="3108960"/>
            <a:ext cx="2176272" cy="1051560"/>
          </a:xfrm>
          <a:prstGeom prst="rect">
            <a:avLst/>
          </a:prstGeom>
          <a:noFill/>
          <a:ln/>
        </p:spPr>
        <p:txBody>
          <a:bodyPr wrap="square" lIns="0" tIns="0" rIns="0" bIns="0" rtlCol="0" anchor="t"/>
          <a:lstStyle/>
          <a:p>
            <a:pPr marL="0" indent="0" algn="l">
              <a:lnSpc>
                <a:spcPct val="112000"/>
              </a:lnSpc>
              <a:buNone/>
            </a:pPr>
            <a:r>
              <a:rPr lang="en-US" sz="1150" dirty="0">
                <a:solidFill>
                  <a:srgbClr val="6E7C72"/>
                </a:solidFill>
                <a:latin typeface="Calibri" pitchFamily="34" charset="0"/>
                <a:ea typeface="Calibri" pitchFamily="34" charset="-122"/>
                <a:cs typeface="Calibri" pitchFamily="34" charset="-120"/>
              </a:rPr>
              <a:t>Symptoms appear late: mosaic patterns and deformed leaf veins.</a:t>
            </a:r>
            <a:endParaRPr lang="en-US" sz="1150" dirty="0"/>
          </a:p>
        </p:txBody>
      </p:sp>
      <p:sp>
        <p:nvSpPr>
          <p:cNvPr id="22" name="Shape 20"/>
          <p:cNvSpPr/>
          <p:nvPr/>
        </p:nvSpPr>
        <p:spPr>
          <a:xfrm>
            <a:off x="9217152" y="1517904"/>
            <a:ext cx="2615184" cy="2761488"/>
          </a:xfrm>
          <a:prstGeom prst="roundRect">
            <a:avLst>
              <a:gd name="adj" fmla="val 2797"/>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23" name="Shape 21"/>
          <p:cNvSpPr/>
          <p:nvPr/>
        </p:nvSpPr>
        <p:spPr>
          <a:xfrm>
            <a:off x="9436608" y="1737360"/>
            <a:ext cx="1207008" cy="329184"/>
          </a:xfrm>
          <a:prstGeom prst="roundRect">
            <a:avLst>
              <a:gd name="adj" fmla="val 13889"/>
            </a:avLst>
          </a:prstGeom>
          <a:solidFill>
            <a:srgbClr val="2C5F2D"/>
          </a:solidFill>
          <a:ln w="12700">
            <a:solidFill>
              <a:srgbClr val="333333"/>
            </a:solidFill>
            <a:prstDash val="solid"/>
          </a:ln>
        </p:spPr>
      </p:sp>
      <p:sp>
        <p:nvSpPr>
          <p:cNvPr id="24" name="Text 22"/>
          <p:cNvSpPr txBox="1"/>
          <p:nvPr/>
        </p:nvSpPr>
        <p:spPr>
          <a:xfrm>
            <a:off x="9436608" y="1737360"/>
            <a:ext cx="1207008" cy="329184"/>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INSECT</a:t>
            </a:r>
            <a:endParaRPr lang="en-US" sz="1050" dirty="0"/>
          </a:p>
        </p:txBody>
      </p:sp>
      <p:sp>
        <p:nvSpPr>
          <p:cNvPr id="25" name="Text 23"/>
          <p:cNvSpPr txBox="1"/>
          <p:nvPr/>
        </p:nvSpPr>
        <p:spPr>
          <a:xfrm>
            <a:off x="10716768" y="1737360"/>
            <a:ext cx="1005840" cy="329184"/>
          </a:xfrm>
          <a:prstGeom prst="rect">
            <a:avLst/>
          </a:prstGeom>
          <a:noFill/>
          <a:ln/>
        </p:spPr>
        <p:txBody>
          <a:bodyPr wrap="square" lIns="0" tIns="0" rIns="0" bIns="0" rtlCol="0" anchor="ctr"/>
          <a:lstStyle/>
          <a:p>
            <a:pPr marL="0" indent="0" algn="r">
              <a:buNone/>
            </a:pPr>
            <a:r>
              <a:rPr lang="en-US" sz="1050" i="1" dirty="0">
                <a:solidFill>
                  <a:srgbClr val="6E7C72"/>
                </a:solidFill>
                <a:latin typeface="Calibri" pitchFamily="34" charset="0"/>
                <a:ea typeface="Calibri" pitchFamily="34" charset="-122"/>
                <a:cs typeface="Calibri" pitchFamily="34" charset="-120"/>
              </a:rPr>
              <a:t>Hard</a:t>
            </a:r>
            <a:endParaRPr lang="en-US" sz="1050" dirty="0"/>
          </a:p>
        </p:txBody>
      </p:sp>
      <p:sp>
        <p:nvSpPr>
          <p:cNvPr id="26" name="Text 24"/>
          <p:cNvSpPr txBox="1"/>
          <p:nvPr/>
        </p:nvSpPr>
        <p:spPr>
          <a:xfrm>
            <a:off x="9436608" y="2212848"/>
            <a:ext cx="2176272" cy="822960"/>
          </a:xfrm>
          <a:prstGeom prst="rect">
            <a:avLst/>
          </a:prstGeom>
          <a:noFill/>
          <a:ln/>
        </p:spPr>
        <p:txBody>
          <a:bodyPr wrap="square" lIns="0" tIns="0" rIns="0" bIns="0" rtlCol="0" anchor="t"/>
          <a:lstStyle/>
          <a:p>
            <a:pPr marL="0" indent="0" algn="l">
              <a:buNone/>
            </a:pPr>
            <a:r>
              <a:rPr lang="en-US" sz="1300" b="1" dirty="0">
                <a:solidFill>
                  <a:srgbClr val="13211B"/>
                </a:solidFill>
                <a:latin typeface="Calibri" pitchFamily="34" charset="0"/>
                <a:ea typeface="Calibri" pitchFamily="34" charset="-122"/>
                <a:cs typeface="Calibri" pitchFamily="34" charset="-120"/>
              </a:rPr>
              <a:t>Two-spotted spider mite</a:t>
            </a:r>
            <a:endParaRPr lang="en-US" sz="1300" dirty="0"/>
          </a:p>
        </p:txBody>
      </p:sp>
      <p:sp>
        <p:nvSpPr>
          <p:cNvPr id="27" name="Text 25"/>
          <p:cNvSpPr txBox="1"/>
          <p:nvPr/>
        </p:nvSpPr>
        <p:spPr>
          <a:xfrm>
            <a:off x="9436608" y="3108960"/>
            <a:ext cx="2176272" cy="1051560"/>
          </a:xfrm>
          <a:prstGeom prst="rect">
            <a:avLst/>
          </a:prstGeom>
          <a:noFill/>
          <a:ln/>
        </p:spPr>
        <p:txBody>
          <a:bodyPr wrap="square" lIns="0" tIns="0" rIns="0" bIns="0" rtlCol="0" anchor="t"/>
          <a:lstStyle/>
          <a:p>
            <a:pPr marL="0" indent="0" algn="l">
              <a:lnSpc>
                <a:spcPct val="112000"/>
              </a:lnSpc>
              <a:buNone/>
            </a:pPr>
            <a:r>
              <a:rPr lang="en-US" sz="1150" dirty="0">
                <a:solidFill>
                  <a:srgbClr val="6E7C72"/>
                </a:solidFill>
                <a:latin typeface="Calibri" pitchFamily="34" charset="0"/>
                <a:ea typeface="Calibri" pitchFamily="34" charset="-122"/>
                <a:cs typeface="Calibri" pitchFamily="34" charset="-120"/>
              </a:rPr>
              <a:t>Fine stippling. Easily confused with drought stress, nutrient deficiency or sunscald.</a:t>
            </a:r>
            <a:endParaRPr lang="en-US" sz="1150" dirty="0"/>
          </a:p>
        </p:txBody>
      </p:sp>
      <p:sp>
        <p:nvSpPr>
          <p:cNvPr id="28" name="Shape 26"/>
          <p:cNvSpPr/>
          <p:nvPr/>
        </p:nvSpPr>
        <p:spPr>
          <a:xfrm>
            <a:off x="548640" y="4517136"/>
            <a:ext cx="5404104" cy="1225296"/>
          </a:xfrm>
          <a:prstGeom prst="roundRect">
            <a:avLst>
              <a:gd name="adj" fmla="val 5970"/>
            </a:avLst>
          </a:prstGeom>
          <a:solidFill>
            <a:srgbClr val="FBEBEA"/>
          </a:solidFill>
          <a:ln w="12700">
            <a:solidFill>
              <a:srgbClr val="F0D2D1"/>
            </a:solidFill>
            <a:prstDash val="solid"/>
          </a:ln>
          <a:effectLst>
            <a:outerShdw blurRad="127000" dist="25400" dir="5400000" algn="bl" rotWithShape="0">
              <a:srgbClr val="1B3A2B">
                <a:alpha val="10000"/>
              </a:srgbClr>
            </a:outerShdw>
          </a:effectLst>
        </p:spPr>
      </p:sp>
      <p:sp>
        <p:nvSpPr>
          <p:cNvPr id="29" name="Text 27"/>
          <p:cNvSpPr txBox="1"/>
          <p:nvPr/>
        </p:nvSpPr>
        <p:spPr>
          <a:xfrm>
            <a:off x="822960" y="4700016"/>
            <a:ext cx="4846320" cy="292608"/>
          </a:xfrm>
          <a:prstGeom prst="rect">
            <a:avLst/>
          </a:prstGeom>
          <a:noFill/>
          <a:ln/>
        </p:spPr>
        <p:txBody>
          <a:bodyPr wrap="square" lIns="0" tIns="0" rIns="0" bIns="0" rtlCol="0" anchor="t"/>
          <a:lstStyle/>
          <a:p>
            <a:pPr marL="0" indent="0" algn="l">
              <a:buNone/>
            </a:pPr>
            <a:r>
              <a:rPr lang="en-US" sz="1350" b="1" dirty="0">
                <a:solidFill>
                  <a:srgbClr val="C62828"/>
                </a:solidFill>
                <a:latin typeface="Calibri" pitchFamily="34" charset="0"/>
                <a:ea typeface="Calibri" pitchFamily="34" charset="-122"/>
                <a:cs typeface="Calibri" pitchFamily="34" charset="-120"/>
              </a:rPr>
              <a:t>Classes confused inside the lab</a:t>
            </a:r>
            <a:endParaRPr lang="en-US" sz="1350" dirty="0"/>
          </a:p>
        </p:txBody>
      </p:sp>
      <p:sp>
        <p:nvSpPr>
          <p:cNvPr id="30" name="Text 28"/>
          <p:cNvSpPr txBox="1"/>
          <p:nvPr/>
        </p:nvSpPr>
        <p:spPr>
          <a:xfrm>
            <a:off x="822960" y="5029200"/>
            <a:ext cx="4846320" cy="658368"/>
          </a:xfrm>
          <a:prstGeom prst="rect">
            <a:avLst/>
          </a:prstGeom>
          <a:noFill/>
          <a:ln/>
        </p:spPr>
        <p:txBody>
          <a:bodyPr wrap="square" lIns="0" tIns="0" rIns="0" bIns="0" rtlCol="0" anchor="t"/>
          <a:lstStyle/>
          <a:p>
            <a:pPr marL="0" indent="0" algn="l">
              <a:lnSpc>
                <a:spcPct val="112000"/>
              </a:lnSpc>
              <a:buNone/>
            </a:pPr>
            <a:r>
              <a:rPr lang="en-US" sz="1150" dirty="0">
                <a:solidFill>
                  <a:srgbClr val="13211B"/>
                </a:solidFill>
                <a:latin typeface="Calibri" pitchFamily="34" charset="0"/>
                <a:ea typeface="Calibri" pitchFamily="34" charset="-122"/>
                <a:cs typeface="Calibri" pitchFamily="34" charset="-120"/>
              </a:rPr>
              <a:t>Early Blight and Target Spot look alike. A flat 10-class model mixes them up often.</a:t>
            </a:r>
            <a:endParaRPr lang="en-US" sz="1150" dirty="0"/>
          </a:p>
        </p:txBody>
      </p:sp>
      <p:sp>
        <p:nvSpPr>
          <p:cNvPr id="31" name="Shape 29"/>
          <p:cNvSpPr/>
          <p:nvPr/>
        </p:nvSpPr>
        <p:spPr>
          <a:xfrm>
            <a:off x="6236208" y="4517136"/>
            <a:ext cx="5404104" cy="1225296"/>
          </a:xfrm>
          <a:prstGeom prst="roundRect">
            <a:avLst>
              <a:gd name="adj" fmla="val 5970"/>
            </a:avLst>
          </a:prstGeom>
          <a:solidFill>
            <a:srgbClr val="FBEBEA"/>
          </a:solidFill>
          <a:ln w="12700">
            <a:solidFill>
              <a:srgbClr val="F0D2D1"/>
            </a:solidFill>
            <a:prstDash val="solid"/>
          </a:ln>
          <a:effectLst>
            <a:outerShdw blurRad="127000" dist="25400" dir="5400000" algn="bl" rotWithShape="0">
              <a:srgbClr val="1B3A2B">
                <a:alpha val="10000"/>
              </a:srgbClr>
            </a:outerShdw>
          </a:effectLst>
        </p:spPr>
      </p:sp>
      <p:sp>
        <p:nvSpPr>
          <p:cNvPr id="32" name="Text 30"/>
          <p:cNvSpPr txBox="1"/>
          <p:nvPr/>
        </p:nvSpPr>
        <p:spPr>
          <a:xfrm>
            <a:off x="6510528" y="4700016"/>
            <a:ext cx="4846320" cy="292608"/>
          </a:xfrm>
          <a:prstGeom prst="rect">
            <a:avLst/>
          </a:prstGeom>
          <a:noFill/>
          <a:ln/>
        </p:spPr>
        <p:txBody>
          <a:bodyPr wrap="square" lIns="0" tIns="0" rIns="0" bIns="0" rtlCol="0" anchor="t"/>
          <a:lstStyle/>
          <a:p>
            <a:pPr marL="0" indent="0" algn="l">
              <a:buNone/>
            </a:pPr>
            <a:r>
              <a:rPr lang="en-US" sz="1350" b="1" dirty="0">
                <a:solidFill>
                  <a:srgbClr val="C62828"/>
                </a:solidFill>
                <a:latin typeface="Calibri" pitchFamily="34" charset="0"/>
                <a:ea typeface="Calibri" pitchFamily="34" charset="-122"/>
                <a:cs typeface="Calibri" pitchFamily="34" charset="-120"/>
              </a:rPr>
              <a:t>The class list is NOT fixed</a:t>
            </a:r>
            <a:endParaRPr lang="en-US" sz="1350" dirty="0"/>
          </a:p>
        </p:txBody>
      </p:sp>
      <p:sp>
        <p:nvSpPr>
          <p:cNvPr id="33" name="Text 31"/>
          <p:cNvSpPr txBox="1"/>
          <p:nvPr/>
        </p:nvSpPr>
        <p:spPr>
          <a:xfrm>
            <a:off x="6510528" y="5029200"/>
            <a:ext cx="4846320" cy="658368"/>
          </a:xfrm>
          <a:prstGeom prst="rect">
            <a:avLst/>
          </a:prstGeom>
          <a:noFill/>
          <a:ln/>
        </p:spPr>
        <p:txBody>
          <a:bodyPr wrap="square" lIns="0" tIns="0" rIns="0" bIns="0" rtlCol="0" anchor="t"/>
          <a:lstStyle/>
          <a:p>
            <a:pPr marL="0" indent="0" algn="l">
              <a:lnSpc>
                <a:spcPct val="112000"/>
              </a:lnSpc>
              <a:buNone/>
            </a:pPr>
            <a:r>
              <a:rPr lang="en-US" sz="1150" dirty="0">
                <a:solidFill>
                  <a:srgbClr val="13211B"/>
                </a:solidFill>
                <a:latin typeface="Calibri" pitchFamily="34" charset="0"/>
                <a:ea typeface="Calibri" pitchFamily="34" charset="-122"/>
                <a:cs typeface="Calibri" pitchFamily="34" charset="-120"/>
              </a:rPr>
              <a:t>ToBRFV has spread worldwide. Tomato leaf curl Laos virus (ToLCLV) was first reported in Hue, Vietnam in 2026.</a:t>
            </a:r>
            <a:endParaRPr lang="en-US" sz="1150" dirty="0"/>
          </a:p>
        </p:txBody>
      </p:sp>
      <p:sp>
        <p:nvSpPr>
          <p:cNvPr id="34" name="Text 32"/>
          <p:cNvSpPr txBox="1"/>
          <p:nvPr/>
        </p:nvSpPr>
        <p:spPr>
          <a:xfrm>
            <a:off x="548640" y="6345936"/>
            <a:ext cx="11091672" cy="274320"/>
          </a:xfrm>
          <a:prstGeom prst="rect">
            <a:avLst/>
          </a:prstGeom>
          <a:noFill/>
          <a:ln/>
        </p:spPr>
        <p:txBody>
          <a:bodyPr wrap="square" lIns="0" tIns="0" rIns="0" bIns="0" rtlCol="0" anchor="ctr"/>
          <a:lstStyle/>
          <a:p>
            <a:pPr marL="0" indent="0" algn="l">
              <a:buNone/>
            </a:pPr>
            <a:r>
              <a:rPr lang="en-US" sz="1000" i="1" dirty="0">
                <a:solidFill>
                  <a:srgbClr val="6E7C72"/>
                </a:solidFill>
                <a:latin typeface="Calibri" pitchFamily="34" charset="0"/>
                <a:ea typeface="Calibri" pitchFamily="34" charset="-122"/>
                <a:cs typeface="Calibri" pitchFamily="34" charset="-120"/>
              </a:rPr>
              <a:t>Sections 2.1–2.2  ·  [1], [2], [19], [52]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6E9443"/>
                </a:solidFill>
                <a:latin typeface="Calibri" pitchFamily="34" charset="0"/>
                <a:ea typeface="Calibri" pitchFamily="34" charset="-122"/>
                <a:cs typeface="Calibri" pitchFamily="34" charset="-120"/>
              </a:rPr>
              <a:t>PART 1 · CONTEXT</a:t>
            </a:r>
            <a:endParaRPr lang="en-US" sz="1100" dirty="0"/>
          </a:p>
        </p:txBody>
      </p:sp>
      <p:sp>
        <p:nvSpPr>
          <p:cNvPr id="3" name="Text 1"/>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13211B"/>
                </a:solidFill>
                <a:latin typeface="Cambria" pitchFamily="34" charset="0"/>
                <a:ea typeface="Cambria" pitchFamily="34" charset="-122"/>
                <a:cs typeface="Cambria" pitchFamily="34" charset="-120"/>
              </a:rPr>
              <a:t>The forgotten half: symptoms on the fruit</a:t>
            </a:r>
            <a:endParaRPr lang="en-US" sz="3000" dirty="0"/>
          </a:p>
        </p:txBody>
      </p:sp>
      <p:sp>
        <p:nvSpPr>
          <p:cNvPr id="4" name="Shape 2"/>
          <p:cNvSpPr/>
          <p:nvPr/>
        </p:nvSpPr>
        <p:spPr>
          <a:xfrm>
            <a:off x="548640" y="1536192"/>
            <a:ext cx="2980944" cy="859536"/>
          </a:xfrm>
          <a:prstGeom prst="roundRect">
            <a:avLst>
              <a:gd name="adj" fmla="val 851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5" name="Text 3"/>
          <p:cNvSpPr txBox="1"/>
          <p:nvPr/>
        </p:nvSpPr>
        <p:spPr>
          <a:xfrm>
            <a:off x="786384" y="1664208"/>
            <a:ext cx="2615184" cy="274320"/>
          </a:xfrm>
          <a:prstGeom prst="rect">
            <a:avLst/>
          </a:prstGeom>
          <a:noFill/>
          <a:ln/>
        </p:spPr>
        <p:txBody>
          <a:bodyPr wrap="square" lIns="0" tIns="0" rIns="0" bIns="0" rtlCol="0" anchor="t"/>
          <a:lstStyle/>
          <a:p>
            <a:pPr marL="0" indent="0" algn="l">
              <a:buNone/>
            </a:pPr>
            <a:r>
              <a:rPr lang="en-US" sz="1300" b="1" dirty="0">
                <a:solidFill>
                  <a:srgbClr val="13211B"/>
                </a:solidFill>
                <a:latin typeface="Calibri" pitchFamily="34" charset="0"/>
                <a:ea typeface="Calibri" pitchFamily="34" charset="-122"/>
                <a:cs typeface="Calibri" pitchFamily="34" charset="-120"/>
              </a:rPr>
              <a:t>Blossom-end rot (BER)</a:t>
            </a:r>
            <a:endParaRPr lang="en-US" sz="1300" dirty="0"/>
          </a:p>
        </p:txBody>
      </p:sp>
      <p:sp>
        <p:nvSpPr>
          <p:cNvPr id="6" name="Text 4"/>
          <p:cNvSpPr txBox="1"/>
          <p:nvPr/>
        </p:nvSpPr>
        <p:spPr>
          <a:xfrm>
            <a:off x="786384" y="1975104"/>
            <a:ext cx="2615184" cy="310896"/>
          </a:xfrm>
          <a:prstGeom prst="rect">
            <a:avLst/>
          </a:prstGeom>
          <a:noFill/>
          <a:ln/>
        </p:spPr>
        <p:txBody>
          <a:bodyPr wrap="square" lIns="0" tIns="0" rIns="0" bIns="0" rtlCol="0" anchor="t"/>
          <a:lstStyle/>
          <a:p>
            <a:pPr marL="0" indent="0" algn="l">
              <a:lnSpc>
                <a:spcPct val="112000"/>
              </a:lnSpc>
              <a:buNone/>
            </a:pPr>
            <a:r>
              <a:rPr lang="en-US" sz="1050" dirty="0">
                <a:solidFill>
                  <a:srgbClr val="6E7C72"/>
                </a:solidFill>
                <a:latin typeface="Calibri" pitchFamily="34" charset="0"/>
                <a:ea typeface="Calibri" pitchFamily="34" charset="-122"/>
                <a:cs typeface="Calibri" pitchFamily="34" charset="-120"/>
              </a:rPr>
              <a:t>Physiological, calcium deficiency</a:t>
            </a:r>
            <a:endParaRPr lang="en-US" sz="1050" dirty="0"/>
          </a:p>
        </p:txBody>
      </p:sp>
      <p:sp>
        <p:nvSpPr>
          <p:cNvPr id="7" name="Shape 5"/>
          <p:cNvSpPr/>
          <p:nvPr/>
        </p:nvSpPr>
        <p:spPr>
          <a:xfrm>
            <a:off x="3749040" y="1536192"/>
            <a:ext cx="2980944" cy="859536"/>
          </a:xfrm>
          <a:prstGeom prst="roundRect">
            <a:avLst>
              <a:gd name="adj" fmla="val 851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8" name="Text 6"/>
          <p:cNvSpPr txBox="1"/>
          <p:nvPr/>
        </p:nvSpPr>
        <p:spPr>
          <a:xfrm>
            <a:off x="3986784" y="1664208"/>
            <a:ext cx="2615184" cy="274320"/>
          </a:xfrm>
          <a:prstGeom prst="rect">
            <a:avLst/>
          </a:prstGeom>
          <a:noFill/>
          <a:ln/>
        </p:spPr>
        <p:txBody>
          <a:bodyPr wrap="square" lIns="0" tIns="0" rIns="0" bIns="0" rtlCol="0" anchor="t"/>
          <a:lstStyle/>
          <a:p>
            <a:pPr marL="0" indent="0" algn="l">
              <a:buNone/>
            </a:pPr>
            <a:r>
              <a:rPr lang="en-US" sz="1300" b="1" dirty="0">
                <a:solidFill>
                  <a:srgbClr val="13211B"/>
                </a:solidFill>
                <a:latin typeface="Calibri" pitchFamily="34" charset="0"/>
                <a:ea typeface="Calibri" pitchFamily="34" charset="-122"/>
                <a:cs typeface="Calibri" pitchFamily="34" charset="-120"/>
              </a:rPr>
              <a:t>Fruit cracking</a:t>
            </a:r>
            <a:endParaRPr lang="en-US" sz="1300" dirty="0"/>
          </a:p>
        </p:txBody>
      </p:sp>
      <p:sp>
        <p:nvSpPr>
          <p:cNvPr id="9" name="Text 7"/>
          <p:cNvSpPr txBox="1"/>
          <p:nvPr/>
        </p:nvSpPr>
        <p:spPr>
          <a:xfrm>
            <a:off x="3986784" y="1975104"/>
            <a:ext cx="2615184" cy="310896"/>
          </a:xfrm>
          <a:prstGeom prst="rect">
            <a:avLst/>
          </a:prstGeom>
          <a:noFill/>
          <a:ln/>
        </p:spPr>
        <p:txBody>
          <a:bodyPr wrap="square" lIns="0" tIns="0" rIns="0" bIns="0" rtlCol="0" anchor="t"/>
          <a:lstStyle/>
          <a:p>
            <a:pPr marL="0" indent="0" algn="l">
              <a:lnSpc>
                <a:spcPct val="112000"/>
              </a:lnSpc>
              <a:buNone/>
            </a:pPr>
            <a:r>
              <a:rPr lang="en-US" sz="1050" dirty="0">
                <a:solidFill>
                  <a:srgbClr val="6E7C72"/>
                </a:solidFill>
                <a:latin typeface="Calibri" pitchFamily="34" charset="0"/>
                <a:ea typeface="Calibri" pitchFamily="34" charset="-122"/>
                <a:cs typeface="Calibri" pitchFamily="34" charset="-120"/>
              </a:rPr>
              <a:t>Sudden swings in humidity</a:t>
            </a:r>
            <a:endParaRPr lang="en-US" sz="1050" dirty="0"/>
          </a:p>
        </p:txBody>
      </p:sp>
      <p:sp>
        <p:nvSpPr>
          <p:cNvPr id="10" name="Shape 8"/>
          <p:cNvSpPr/>
          <p:nvPr/>
        </p:nvSpPr>
        <p:spPr>
          <a:xfrm>
            <a:off x="548640" y="2560320"/>
            <a:ext cx="2980944" cy="859536"/>
          </a:xfrm>
          <a:prstGeom prst="roundRect">
            <a:avLst>
              <a:gd name="adj" fmla="val 851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1" name="Text 9"/>
          <p:cNvSpPr txBox="1"/>
          <p:nvPr/>
        </p:nvSpPr>
        <p:spPr>
          <a:xfrm>
            <a:off x="786384" y="2688336"/>
            <a:ext cx="2615184" cy="274320"/>
          </a:xfrm>
          <a:prstGeom prst="rect">
            <a:avLst/>
          </a:prstGeom>
          <a:noFill/>
          <a:ln/>
        </p:spPr>
        <p:txBody>
          <a:bodyPr wrap="square" lIns="0" tIns="0" rIns="0" bIns="0" rtlCol="0" anchor="t"/>
          <a:lstStyle/>
          <a:p>
            <a:pPr marL="0" indent="0" algn="l">
              <a:buNone/>
            </a:pPr>
            <a:r>
              <a:rPr lang="en-US" sz="1300" b="1" dirty="0">
                <a:solidFill>
                  <a:srgbClr val="13211B"/>
                </a:solidFill>
                <a:latin typeface="Calibri" pitchFamily="34" charset="0"/>
                <a:ea typeface="Calibri" pitchFamily="34" charset="-122"/>
                <a:cs typeface="Calibri" pitchFamily="34" charset="-120"/>
              </a:rPr>
              <a:t>Sunscald</a:t>
            </a:r>
            <a:endParaRPr lang="en-US" sz="1300" dirty="0"/>
          </a:p>
        </p:txBody>
      </p:sp>
      <p:sp>
        <p:nvSpPr>
          <p:cNvPr id="12" name="Text 10"/>
          <p:cNvSpPr txBox="1"/>
          <p:nvPr/>
        </p:nvSpPr>
        <p:spPr>
          <a:xfrm>
            <a:off x="786384" y="2999232"/>
            <a:ext cx="2615184" cy="310896"/>
          </a:xfrm>
          <a:prstGeom prst="rect">
            <a:avLst/>
          </a:prstGeom>
          <a:noFill/>
          <a:ln/>
        </p:spPr>
        <p:txBody>
          <a:bodyPr wrap="square" lIns="0" tIns="0" rIns="0" bIns="0" rtlCol="0" anchor="t"/>
          <a:lstStyle/>
          <a:p>
            <a:pPr marL="0" indent="0" algn="l">
              <a:lnSpc>
                <a:spcPct val="112000"/>
              </a:lnSpc>
              <a:buNone/>
            </a:pPr>
            <a:r>
              <a:rPr lang="en-US" sz="1050" dirty="0">
                <a:solidFill>
                  <a:srgbClr val="6E7C72"/>
                </a:solidFill>
                <a:latin typeface="Calibri" pitchFamily="34" charset="0"/>
                <a:ea typeface="Calibri" pitchFamily="34" charset="-122"/>
                <a:cs typeface="Calibri" pitchFamily="34" charset="-120"/>
              </a:rPr>
              <a:t>Direct sun after leaf loss</a:t>
            </a:r>
            <a:endParaRPr lang="en-US" sz="1050" dirty="0"/>
          </a:p>
        </p:txBody>
      </p:sp>
      <p:sp>
        <p:nvSpPr>
          <p:cNvPr id="13" name="Shape 11"/>
          <p:cNvSpPr/>
          <p:nvPr/>
        </p:nvSpPr>
        <p:spPr>
          <a:xfrm>
            <a:off x="3749040" y="2560320"/>
            <a:ext cx="2980944" cy="859536"/>
          </a:xfrm>
          <a:prstGeom prst="roundRect">
            <a:avLst>
              <a:gd name="adj" fmla="val 851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4" name="Text 12"/>
          <p:cNvSpPr txBox="1"/>
          <p:nvPr/>
        </p:nvSpPr>
        <p:spPr>
          <a:xfrm>
            <a:off x="3986784" y="2688336"/>
            <a:ext cx="2615184" cy="274320"/>
          </a:xfrm>
          <a:prstGeom prst="rect">
            <a:avLst/>
          </a:prstGeom>
          <a:noFill/>
          <a:ln/>
        </p:spPr>
        <p:txBody>
          <a:bodyPr wrap="square" lIns="0" tIns="0" rIns="0" bIns="0" rtlCol="0" anchor="t"/>
          <a:lstStyle/>
          <a:p>
            <a:pPr marL="0" indent="0" algn="l">
              <a:buNone/>
            </a:pPr>
            <a:r>
              <a:rPr lang="en-US" sz="1300" b="1" dirty="0">
                <a:solidFill>
                  <a:srgbClr val="13211B"/>
                </a:solidFill>
                <a:latin typeface="Calibri" pitchFamily="34" charset="0"/>
                <a:ea typeface="Calibri" pitchFamily="34" charset="-122"/>
                <a:cs typeface="Calibri" pitchFamily="34" charset="-120"/>
              </a:rPr>
              <a:t>Ripe-fruit anthracnose</a:t>
            </a:r>
            <a:endParaRPr lang="en-US" sz="1300" dirty="0"/>
          </a:p>
        </p:txBody>
      </p:sp>
      <p:sp>
        <p:nvSpPr>
          <p:cNvPr id="15" name="Text 13"/>
          <p:cNvSpPr txBox="1"/>
          <p:nvPr/>
        </p:nvSpPr>
        <p:spPr>
          <a:xfrm>
            <a:off x="3986784" y="2999232"/>
            <a:ext cx="2615184" cy="310896"/>
          </a:xfrm>
          <a:prstGeom prst="rect">
            <a:avLst/>
          </a:prstGeom>
          <a:noFill/>
          <a:ln/>
        </p:spPr>
        <p:txBody>
          <a:bodyPr wrap="square" lIns="0" tIns="0" rIns="0" bIns="0" rtlCol="0" anchor="t"/>
          <a:lstStyle/>
          <a:p>
            <a:pPr marL="0" indent="0" algn="l">
              <a:lnSpc>
                <a:spcPct val="112000"/>
              </a:lnSpc>
              <a:buNone/>
            </a:pPr>
            <a:r>
              <a:rPr lang="en-US" sz="1050" dirty="0">
                <a:solidFill>
                  <a:srgbClr val="6E7C72"/>
                </a:solidFill>
                <a:latin typeface="Calibri" pitchFamily="34" charset="0"/>
                <a:ea typeface="Calibri" pitchFamily="34" charset="-122"/>
                <a:cs typeface="Calibri" pitchFamily="34" charset="-120"/>
              </a:rPr>
              <a:t>Colletotrichum, wet conditions</a:t>
            </a:r>
            <a:endParaRPr lang="en-US" sz="1050" dirty="0"/>
          </a:p>
        </p:txBody>
      </p:sp>
      <p:sp>
        <p:nvSpPr>
          <p:cNvPr id="16" name="Shape 14"/>
          <p:cNvSpPr/>
          <p:nvPr/>
        </p:nvSpPr>
        <p:spPr>
          <a:xfrm>
            <a:off x="548640" y="3584448"/>
            <a:ext cx="2980944" cy="859536"/>
          </a:xfrm>
          <a:prstGeom prst="roundRect">
            <a:avLst>
              <a:gd name="adj" fmla="val 851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7" name="Text 15"/>
          <p:cNvSpPr txBox="1"/>
          <p:nvPr/>
        </p:nvSpPr>
        <p:spPr>
          <a:xfrm>
            <a:off x="786384" y="3712464"/>
            <a:ext cx="2615184" cy="274320"/>
          </a:xfrm>
          <a:prstGeom prst="rect">
            <a:avLst/>
          </a:prstGeom>
          <a:noFill/>
          <a:ln/>
        </p:spPr>
        <p:txBody>
          <a:bodyPr wrap="square" lIns="0" tIns="0" rIns="0" bIns="0" rtlCol="0" anchor="t"/>
          <a:lstStyle/>
          <a:p>
            <a:pPr marL="0" indent="0" algn="l">
              <a:buNone/>
            </a:pPr>
            <a:r>
              <a:rPr lang="en-US" sz="1300" b="1" dirty="0">
                <a:solidFill>
                  <a:srgbClr val="13211B"/>
                </a:solidFill>
                <a:latin typeface="Calibri" pitchFamily="34" charset="0"/>
                <a:ea typeface="Calibri" pitchFamily="34" charset="-122"/>
                <a:cs typeface="Calibri" pitchFamily="34" charset="-120"/>
              </a:rPr>
              <a:t>Grey mould</a:t>
            </a:r>
            <a:endParaRPr lang="en-US" sz="1300" dirty="0"/>
          </a:p>
        </p:txBody>
      </p:sp>
      <p:sp>
        <p:nvSpPr>
          <p:cNvPr id="18" name="Text 16"/>
          <p:cNvSpPr txBox="1"/>
          <p:nvPr/>
        </p:nvSpPr>
        <p:spPr>
          <a:xfrm>
            <a:off x="786384" y="4023360"/>
            <a:ext cx="2615184" cy="310896"/>
          </a:xfrm>
          <a:prstGeom prst="rect">
            <a:avLst/>
          </a:prstGeom>
          <a:noFill/>
          <a:ln/>
        </p:spPr>
        <p:txBody>
          <a:bodyPr wrap="square" lIns="0" tIns="0" rIns="0" bIns="0" rtlCol="0" anchor="t"/>
          <a:lstStyle/>
          <a:p>
            <a:pPr marL="0" indent="0" algn="l">
              <a:lnSpc>
                <a:spcPct val="112000"/>
              </a:lnSpc>
              <a:buNone/>
            </a:pPr>
            <a:r>
              <a:rPr lang="en-US" sz="1050" dirty="0">
                <a:solidFill>
                  <a:srgbClr val="6E7C72"/>
                </a:solidFill>
                <a:latin typeface="Calibri" pitchFamily="34" charset="0"/>
                <a:ea typeface="Calibri" pitchFamily="34" charset="-122"/>
                <a:cs typeface="Calibri" pitchFamily="34" charset="-120"/>
              </a:rPr>
              <a:t>Botrytis, after harvest</a:t>
            </a:r>
            <a:endParaRPr lang="en-US" sz="1050" dirty="0"/>
          </a:p>
        </p:txBody>
      </p:sp>
      <p:sp>
        <p:nvSpPr>
          <p:cNvPr id="19" name="Shape 17"/>
          <p:cNvSpPr/>
          <p:nvPr/>
        </p:nvSpPr>
        <p:spPr>
          <a:xfrm>
            <a:off x="3749040" y="3584448"/>
            <a:ext cx="2980944" cy="859536"/>
          </a:xfrm>
          <a:prstGeom prst="roundRect">
            <a:avLst>
              <a:gd name="adj" fmla="val 851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20" name="Text 18"/>
          <p:cNvSpPr txBox="1"/>
          <p:nvPr/>
        </p:nvSpPr>
        <p:spPr>
          <a:xfrm>
            <a:off x="3986784" y="3712464"/>
            <a:ext cx="2615184" cy="274320"/>
          </a:xfrm>
          <a:prstGeom prst="rect">
            <a:avLst/>
          </a:prstGeom>
          <a:noFill/>
          <a:ln/>
        </p:spPr>
        <p:txBody>
          <a:bodyPr wrap="square" lIns="0" tIns="0" rIns="0" bIns="0" rtlCol="0" anchor="t"/>
          <a:lstStyle/>
          <a:p>
            <a:pPr marL="0" indent="0" algn="l">
              <a:buNone/>
            </a:pPr>
            <a:r>
              <a:rPr lang="en-US" sz="1300" b="1" dirty="0">
                <a:solidFill>
                  <a:srgbClr val="13211B"/>
                </a:solidFill>
                <a:latin typeface="Calibri" pitchFamily="34" charset="0"/>
                <a:ea typeface="Calibri" pitchFamily="34" charset="-122"/>
                <a:cs typeface="Calibri" pitchFamily="34" charset="-120"/>
              </a:rPr>
              <a:t>Uneven ripening / deformity</a:t>
            </a:r>
            <a:endParaRPr lang="en-US" sz="1300" dirty="0"/>
          </a:p>
        </p:txBody>
      </p:sp>
      <p:sp>
        <p:nvSpPr>
          <p:cNvPr id="21" name="Text 19"/>
          <p:cNvSpPr txBox="1"/>
          <p:nvPr/>
        </p:nvSpPr>
        <p:spPr>
          <a:xfrm>
            <a:off x="3986784" y="4023360"/>
            <a:ext cx="2615184" cy="310896"/>
          </a:xfrm>
          <a:prstGeom prst="rect">
            <a:avLst/>
          </a:prstGeom>
          <a:noFill/>
          <a:ln/>
        </p:spPr>
        <p:txBody>
          <a:bodyPr wrap="square" lIns="0" tIns="0" rIns="0" bIns="0" rtlCol="0" anchor="t"/>
          <a:lstStyle/>
          <a:p>
            <a:pPr marL="0" indent="0" algn="l">
              <a:lnSpc>
                <a:spcPct val="112000"/>
              </a:lnSpc>
              <a:buNone/>
            </a:pPr>
            <a:r>
              <a:rPr lang="en-US" sz="1050" dirty="0">
                <a:solidFill>
                  <a:srgbClr val="6E7C72"/>
                </a:solidFill>
                <a:latin typeface="Calibri" pitchFamily="34" charset="0"/>
                <a:ea typeface="Calibri" pitchFamily="34" charset="-122"/>
                <a:cs typeface="Calibri" pitchFamily="34" charset="-120"/>
              </a:rPr>
              <a:t>Hits the market price directly</a:t>
            </a:r>
            <a:endParaRPr lang="en-US" sz="1050" dirty="0"/>
          </a:p>
        </p:txBody>
      </p:sp>
      <p:sp>
        <p:nvSpPr>
          <p:cNvPr id="22" name="Shape 20"/>
          <p:cNvSpPr/>
          <p:nvPr/>
        </p:nvSpPr>
        <p:spPr>
          <a:xfrm>
            <a:off x="7022592" y="1536192"/>
            <a:ext cx="4617720" cy="1883664"/>
          </a:xfrm>
          <a:prstGeom prst="roundRect">
            <a:avLst>
              <a:gd name="adj" fmla="val 3883"/>
            </a:avLst>
          </a:prstGeom>
          <a:solidFill>
            <a:srgbClr val="FBEBEA"/>
          </a:solidFill>
          <a:ln w="12700">
            <a:solidFill>
              <a:srgbClr val="F0D2D1"/>
            </a:solidFill>
            <a:prstDash val="solid"/>
          </a:ln>
          <a:effectLst>
            <a:outerShdw blurRad="127000" dist="25400" dir="5400000" algn="bl" rotWithShape="0">
              <a:srgbClr val="1B3A2B">
                <a:alpha val="10000"/>
              </a:srgbClr>
            </a:outerShdw>
          </a:effectLst>
        </p:spPr>
      </p:sp>
      <p:sp>
        <p:nvSpPr>
          <p:cNvPr id="23" name="Text 21"/>
          <p:cNvSpPr txBox="1"/>
          <p:nvPr/>
        </p:nvSpPr>
        <p:spPr>
          <a:xfrm>
            <a:off x="7296912" y="1737360"/>
            <a:ext cx="4069080" cy="310896"/>
          </a:xfrm>
          <a:prstGeom prst="rect">
            <a:avLst/>
          </a:prstGeom>
          <a:noFill/>
          <a:ln/>
        </p:spPr>
        <p:txBody>
          <a:bodyPr wrap="square" lIns="0" tIns="0" rIns="0" bIns="0" rtlCol="0" anchor="t"/>
          <a:lstStyle/>
          <a:p>
            <a:pPr marL="0" indent="0" algn="l">
              <a:buNone/>
            </a:pPr>
            <a:r>
              <a:rPr lang="en-US" sz="1500" b="1" dirty="0">
                <a:solidFill>
                  <a:srgbClr val="C62828"/>
                </a:solidFill>
                <a:latin typeface="Calibri" pitchFamily="34" charset="0"/>
                <a:ea typeface="Calibri" pitchFamily="34" charset="-122"/>
                <a:cs typeface="Calibri" pitchFamily="34" charset="-120"/>
              </a:rPr>
              <a:t>A leaf-only system will…</a:t>
            </a:r>
            <a:endParaRPr lang="en-US" sz="1500" dirty="0"/>
          </a:p>
        </p:txBody>
      </p:sp>
      <p:sp>
        <p:nvSpPr>
          <p:cNvPr id="24" name="Text 22"/>
          <p:cNvSpPr txBox="1"/>
          <p:nvPr/>
        </p:nvSpPr>
        <p:spPr>
          <a:xfrm>
            <a:off x="7296912" y="2103120"/>
            <a:ext cx="4069080" cy="1188720"/>
          </a:xfrm>
          <a:prstGeom prst="rect">
            <a:avLst/>
          </a:prstGeom>
          <a:noFill/>
          <a:ln/>
        </p:spPr>
        <p:txBody>
          <a:bodyPr wrap="square" lIns="0" tIns="0" rIns="0" bIns="0" rtlCol="0" anchor="t"/>
          <a:lstStyle/>
          <a:p>
            <a:pPr marL="0" indent="0" algn="l">
              <a:lnSpc>
                <a:spcPct val="112000"/>
              </a:lnSpc>
              <a:buNone/>
            </a:pPr>
            <a:r>
              <a:rPr lang="en-US" sz="1250" dirty="0">
                <a:solidFill>
                  <a:srgbClr val="13211B"/>
                </a:solidFill>
                <a:latin typeface="Calibri" pitchFamily="34" charset="0"/>
                <a:ea typeface="Calibri" pitchFamily="34" charset="-122"/>
                <a:cs typeface="Calibri" pitchFamily="34" charset="-120"/>
              </a:rPr>
              <a:t>Be BLIND to BER. It is a physiological disorder with almost no leaf symptom.</a:t>
            </a:r>
            <a:endParaRPr lang="en-US" sz="1250" dirty="0"/>
          </a:p>
          <a:p>
            <a:pPr marL="0" indent="0" algn="l">
              <a:lnSpc>
                <a:spcPct val="112000"/>
              </a:lnSpc>
              <a:buNone/>
            </a:pPr>
            <a:r>
              <a:rPr lang="en-US" sz="1250" dirty="0">
                <a:solidFill>
                  <a:srgbClr val="13211B"/>
                </a:solidFill>
                <a:latin typeface="Calibri" pitchFamily="34" charset="0"/>
                <a:ea typeface="Calibri" pitchFamily="34" charset="-122"/>
                <a:cs typeface="Calibri" pitchFamily="34" charset="-120"/>
              </a:rPr>
              <a:t>Be LATE on anthracnose, because the disease attacks fruit that is already ripe.</a:t>
            </a:r>
            <a:endParaRPr lang="en-US" sz="1250" dirty="0"/>
          </a:p>
        </p:txBody>
      </p:sp>
      <p:sp>
        <p:nvSpPr>
          <p:cNvPr id="25" name="Shape 23"/>
          <p:cNvSpPr/>
          <p:nvPr/>
        </p:nvSpPr>
        <p:spPr>
          <a:xfrm>
            <a:off x="7022592" y="3584448"/>
            <a:ext cx="4617720" cy="2157984"/>
          </a:xfrm>
          <a:prstGeom prst="roundRect">
            <a:avLst>
              <a:gd name="adj" fmla="val 3390"/>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26" name="Text 24"/>
          <p:cNvSpPr txBox="1"/>
          <p:nvPr/>
        </p:nvSpPr>
        <p:spPr>
          <a:xfrm>
            <a:off x="7296912" y="3785616"/>
            <a:ext cx="4069080" cy="310896"/>
          </a:xfrm>
          <a:prstGeom prst="rect">
            <a:avLst/>
          </a:prstGeom>
          <a:noFill/>
          <a:ln/>
        </p:spPr>
        <p:txBody>
          <a:bodyPr wrap="square" lIns="0" tIns="0" rIns="0" bIns="0" rtlCol="0" anchor="t"/>
          <a:lstStyle/>
          <a:p>
            <a:pPr marL="0" indent="0" algn="l">
              <a:buNone/>
            </a:pPr>
            <a:r>
              <a:rPr lang="en-US" sz="1500" b="1" dirty="0">
                <a:solidFill>
                  <a:srgbClr val="13211B"/>
                </a:solidFill>
                <a:latin typeface="Calibri" pitchFamily="34" charset="0"/>
                <a:ea typeface="Calibri" pitchFamily="34" charset="-122"/>
                <a:cs typeface="Calibri" pitchFamily="34" charset="-120"/>
              </a:rPr>
              <a:t>One plant, two kinds of loss</a:t>
            </a:r>
            <a:endParaRPr lang="en-US" sz="1500" dirty="0"/>
          </a:p>
        </p:txBody>
      </p:sp>
      <p:sp>
        <p:nvSpPr>
          <p:cNvPr id="27" name="Text 25"/>
          <p:cNvSpPr txBox="1"/>
          <p:nvPr/>
        </p:nvSpPr>
        <p:spPr>
          <a:xfrm>
            <a:off x="7296912" y="4151376"/>
            <a:ext cx="4069080" cy="1463040"/>
          </a:xfrm>
          <a:prstGeom prst="rect">
            <a:avLst/>
          </a:prstGeom>
          <a:noFill/>
          <a:ln/>
        </p:spPr>
        <p:txBody>
          <a:bodyPr wrap="square" lIns="0" tIns="0" rIns="0" bIns="0" rtlCol="0" anchor="t"/>
          <a:lstStyle/>
          <a:p>
            <a:pPr marL="0" indent="0" algn="l">
              <a:lnSpc>
                <a:spcPct val="112000"/>
              </a:lnSpc>
              <a:buNone/>
            </a:pPr>
            <a:r>
              <a:rPr lang="en-US" sz="1250" dirty="0">
                <a:solidFill>
                  <a:srgbClr val="6E7C72"/>
                </a:solidFill>
                <a:latin typeface="Calibri" pitchFamily="34" charset="0"/>
                <a:ea typeface="Calibri" pitchFamily="34" charset="-122"/>
                <a:cs typeface="Calibri" pitchFamily="34" charset="-120"/>
              </a:rPr>
              <a:t>TYLCV shows on the leaf as yellow curl. But the real economic loss is small fruit and lost yield.</a:t>
            </a:r>
            <a:endParaRPr lang="en-US" sz="1250" dirty="0"/>
          </a:p>
          <a:p>
            <a:pPr marL="0" indent="0" algn="l">
              <a:lnSpc>
                <a:spcPct val="112000"/>
              </a:lnSpc>
              <a:buNone/>
            </a:pPr>
            <a:endParaRPr lang="en-US" sz="1250" dirty="0"/>
          </a:p>
          <a:p>
            <a:pPr marL="0" indent="0" algn="l">
              <a:lnSpc>
                <a:spcPct val="112000"/>
              </a:lnSpc>
              <a:buNone/>
            </a:pPr>
            <a:r>
              <a:rPr lang="en-US" sz="1250" dirty="0">
                <a:solidFill>
                  <a:srgbClr val="6E7C72"/>
                </a:solidFill>
                <a:latin typeface="Calibri" pitchFamily="34" charset="0"/>
                <a:ea typeface="Calibri" pitchFamily="34" charset="-122"/>
                <a:cs typeface="Calibri" pitchFamily="34" charset="-120"/>
              </a:rPr>
              <a:t>Fruit segmentation also serves harvest robots and post-harvest ripeness sorting.</a:t>
            </a:r>
            <a:endParaRPr lang="en-US" sz="1250" dirty="0"/>
          </a:p>
        </p:txBody>
      </p:sp>
      <p:sp>
        <p:nvSpPr>
          <p:cNvPr id="28" name="Shape 26"/>
          <p:cNvSpPr/>
          <p:nvPr/>
        </p:nvSpPr>
        <p:spPr>
          <a:xfrm>
            <a:off x="548640" y="4626864"/>
            <a:ext cx="6181344" cy="1115568"/>
          </a:xfrm>
          <a:prstGeom prst="roundRect">
            <a:avLst>
              <a:gd name="adj" fmla="val 6557"/>
            </a:avLst>
          </a:prstGeom>
          <a:solidFill>
            <a:srgbClr val="EAF1E4"/>
          </a:solidFill>
          <a:ln w="12700">
            <a:solidFill>
              <a:srgbClr val="D9E2D2"/>
            </a:solidFill>
            <a:prstDash val="solid"/>
          </a:ln>
          <a:effectLst>
            <a:outerShdw blurRad="127000" dist="25400" dir="5400000" algn="bl" rotWithShape="0">
              <a:srgbClr val="1B3A2B">
                <a:alpha val="10000"/>
              </a:srgbClr>
            </a:outerShdw>
          </a:effectLst>
        </p:spPr>
      </p:sp>
      <p:sp>
        <p:nvSpPr>
          <p:cNvPr id="29" name="Text 27"/>
          <p:cNvSpPr txBox="1"/>
          <p:nvPr/>
        </p:nvSpPr>
        <p:spPr>
          <a:xfrm>
            <a:off x="822960" y="4626864"/>
            <a:ext cx="5632704" cy="1115568"/>
          </a:xfrm>
          <a:prstGeom prst="rect">
            <a:avLst/>
          </a:prstGeom>
          <a:noFill/>
          <a:ln/>
        </p:spPr>
        <p:txBody>
          <a:bodyPr wrap="square" lIns="0" tIns="0" rIns="0" bIns="0" rtlCol="0" anchor="ctr"/>
          <a:lstStyle/>
          <a:p>
            <a:pPr marL="0" indent="0">
              <a:lnSpc>
                <a:spcPct val="115000"/>
              </a:lnSpc>
              <a:buNone/>
            </a:pPr>
            <a:r>
              <a:rPr lang="en-US" sz="1300" b="1" dirty="0">
                <a:solidFill>
                  <a:srgbClr val="2C5F2D"/>
                </a:solidFill>
                <a:latin typeface="Calibri" pitchFamily="34" charset="0"/>
                <a:ea typeface="Calibri" pitchFamily="34" charset="-122"/>
                <a:cs typeface="Calibri" pitchFamily="34" charset="-120"/>
              </a:rPr>
              <a:t>A complete crop-protection system needs both inputs — leaves and fruit — or at least a fruit module for the harvest stage.</a:t>
            </a:r>
            <a:endParaRPr lang="en-US" sz="1300" dirty="0"/>
          </a:p>
        </p:txBody>
      </p:sp>
      <p:sp>
        <p:nvSpPr>
          <p:cNvPr id="30" name="Text 28"/>
          <p:cNvSpPr txBox="1"/>
          <p:nvPr/>
        </p:nvSpPr>
        <p:spPr>
          <a:xfrm>
            <a:off x="548640" y="6345936"/>
            <a:ext cx="11091672" cy="274320"/>
          </a:xfrm>
          <a:prstGeom prst="rect">
            <a:avLst/>
          </a:prstGeom>
          <a:noFill/>
          <a:ln/>
        </p:spPr>
        <p:txBody>
          <a:bodyPr wrap="square" lIns="0" tIns="0" rIns="0" bIns="0" rtlCol="0" anchor="ctr"/>
          <a:lstStyle/>
          <a:p>
            <a:pPr marL="0" indent="0" algn="l">
              <a:buNone/>
            </a:pPr>
            <a:r>
              <a:rPr lang="en-US" sz="1000" i="1" dirty="0">
                <a:solidFill>
                  <a:srgbClr val="6E7C72"/>
                </a:solidFill>
                <a:latin typeface="Calibri" pitchFamily="34" charset="0"/>
                <a:ea typeface="Calibri" pitchFamily="34" charset="-122"/>
                <a:cs typeface="Calibri" pitchFamily="34" charset="-120"/>
              </a:rPr>
              <a:t>Section 2.3  ·  [57]–[62]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6E9443"/>
                </a:solidFill>
                <a:latin typeface="Calibri" pitchFamily="34" charset="0"/>
                <a:ea typeface="Calibri" pitchFamily="34" charset="-122"/>
                <a:cs typeface="Calibri" pitchFamily="34" charset="-120"/>
              </a:rPr>
              <a:t>PART 2 · DATA</a:t>
            </a:r>
            <a:endParaRPr lang="en-US" sz="1100" dirty="0"/>
          </a:p>
        </p:txBody>
      </p:sp>
      <p:sp>
        <p:nvSpPr>
          <p:cNvPr id="3" name="Text 1"/>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13211B"/>
                </a:solidFill>
                <a:latin typeface="Cambria" pitchFamily="34" charset="0"/>
                <a:ea typeface="Cambria" pitchFamily="34" charset="-122"/>
                <a:cs typeface="Cambria" pitchFamily="34" charset="-120"/>
              </a:rPr>
              <a:t>Data: the foundation, and the biggest bottleneck</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1672" cy="3276600"/>
        </p:xfrm>
        <a:graphic>
          <a:graphicData uri="http://schemas.openxmlformats.org/drawingml/2006/table">
            <a:tbl>
              <a:tblPr/>
              <a:tblGrid>
                <a:gridCol w="25146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4096512">
                  <a:extLst>
                    <a:ext uri="{9D8B030D-6E8A-4147-A177-3AD203B41FA5}">
                      <a16:colId xmlns:a16="http://schemas.microsoft.com/office/drawing/2014/main" val="20003"/>
                    </a:ext>
                  </a:extLst>
                </a:gridCol>
              </a:tblGrid>
              <a:tr h="384048">
                <a:tc>
                  <a:txBody>
                    <a:bodyPr/>
                    <a:lstStyle/>
                    <a:p>
                      <a:pPr marL="0" indent="0">
                        <a:buNone/>
                      </a:pPr>
                      <a:r>
                        <a:rPr lang="en-US" sz="1150" b="1" dirty="0">
                          <a:solidFill>
                            <a:srgbClr val="13211B"/>
                          </a:solidFill>
                          <a:latin typeface="Calibri" pitchFamily="34" charset="0"/>
                          <a:ea typeface="Calibri" pitchFamily="34" charset="-122"/>
                          <a:cs typeface="Calibri" pitchFamily="34" charset="-120"/>
                        </a:rPr>
                        <a:t>Dataset</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b="1" dirty="0">
                          <a:solidFill>
                            <a:srgbClr val="13211B"/>
                          </a:solidFill>
                          <a:latin typeface="Calibri" pitchFamily="34" charset="0"/>
                          <a:ea typeface="Calibri" pitchFamily="34" charset="-122"/>
                          <a:cs typeface="Calibri" pitchFamily="34" charset="-120"/>
                        </a:rPr>
                        <a:t>Size</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b="1" dirty="0">
                          <a:solidFill>
                            <a:srgbClr val="13211B"/>
                          </a:solidFill>
                          <a:latin typeface="Calibri" pitchFamily="34" charset="0"/>
                          <a:ea typeface="Calibri" pitchFamily="34" charset="-122"/>
                          <a:cs typeface="Calibri" pitchFamily="34" charset="-120"/>
                        </a:rPr>
                        <a:t>Conditions</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b="1" dirty="0">
                          <a:solidFill>
                            <a:srgbClr val="13211B"/>
                          </a:solidFill>
                          <a:latin typeface="Calibri" pitchFamily="34" charset="0"/>
                          <a:ea typeface="Calibri" pitchFamily="34" charset="-122"/>
                          <a:cs typeface="Calibri" pitchFamily="34" charset="-120"/>
                        </a:rPr>
                        <a:t>The limitation that matters</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PlantVillage (tomato)</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~18,160 images / 10 classes</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Studio, plain background</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The de facto standard — but saturated; models learn the background shortcut</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PlantDoc</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~2,600 images, many crops</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In the wild</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The most used field benchmark; very few samples per class</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Tomato-Village</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14,368 images / 6 classes</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Field (India)</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Has bounding boxes; a high mAP@50 can be misleading</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TomatoEbola</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3 farms + PlantVillage</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Multi-farm</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Built on purpose to MEASURE domain shift</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SLIF-Tomato</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Sri Lanka field + boxes</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In-field</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YOLOv12-large reaches 88.5% average AP</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150" b="1" dirty="0">
                          <a:solidFill>
                            <a:srgbClr val="C62828"/>
                          </a:solidFill>
                          <a:latin typeface="Calibri" pitchFamily="34" charset="0"/>
                          <a:ea typeface="Calibri" pitchFamily="34" charset="-122"/>
                          <a:cs typeface="Calibri" pitchFamily="34" charset="-120"/>
                        </a:rPr>
                        <a:t>VTLD (Vietnam)</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C62828"/>
                          </a:solidFill>
                          <a:latin typeface="Calibri" pitchFamily="34" charset="0"/>
                          <a:ea typeface="Calibri" pitchFamily="34" charset="-122"/>
                          <a:cs typeface="Calibri" pitchFamily="34" charset="-120"/>
                        </a:rPr>
                        <a:t>9 classes, Kaggle + Roboflow</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C62828"/>
                          </a:solidFill>
                          <a:latin typeface="Calibri" pitchFamily="34" charset="0"/>
                          <a:ea typeface="Calibri" pitchFamily="34" charset="-122"/>
                          <a:cs typeface="Calibri" pitchFamily="34" charset="-120"/>
                        </a:rPr>
                        <a:t>Community, Vietnam</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C62828"/>
                          </a:solidFill>
                          <a:latin typeface="Calibri" pitchFamily="34" charset="0"/>
                          <a:ea typeface="Calibri" pitchFamily="34" charset="-122"/>
                          <a:cs typeface="Calibri" pitchFamily="34" charset="-120"/>
                        </a:rPr>
                        <a:t>Not peer-reviewed: no protocol, no severity, no metadata, no published split</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PlantSeg</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11,458 images / 115 diseases</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In the wild + pixel masks</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Multi-class segmentation benchmark; masks checked by plant pathologists</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48640" y="5138928"/>
            <a:ext cx="11091672" cy="950976"/>
          </a:xfrm>
          <a:prstGeom prst="roundRect">
            <a:avLst>
              <a:gd name="adj" fmla="val 7692"/>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6" name="Text 3"/>
          <p:cNvSpPr txBox="1"/>
          <p:nvPr/>
        </p:nvSpPr>
        <p:spPr>
          <a:xfrm>
            <a:off x="841248" y="5138928"/>
            <a:ext cx="10515600" cy="950976"/>
          </a:xfrm>
          <a:prstGeom prst="rect">
            <a:avLst/>
          </a:prstGeom>
          <a:noFill/>
          <a:ln/>
        </p:spPr>
        <p:txBody>
          <a:bodyPr wrap="square" lIns="0" tIns="0" rIns="0" bIns="0" rtlCol="0" anchor="ctr"/>
          <a:lstStyle/>
          <a:p>
            <a:pPr marL="0" indent="0">
              <a:buNone/>
            </a:pPr>
            <a:r>
              <a:rPr lang="en-US" sz="1300" dirty="0">
                <a:solidFill>
                  <a:srgbClr val="13211B"/>
                </a:solidFill>
                <a:latin typeface="Calibri" pitchFamily="34" charset="0"/>
                <a:ea typeface="Calibri" pitchFamily="34" charset="-122"/>
                <a:cs typeface="Calibri" pitchFamily="34" charset="-120"/>
              </a:rPr>
              <a:t>Read the LIMITATION column, not the size column. PlantVillage is too clean — one leaf, even light, uniform background — so a model learns the background instead of the symptom.</a:t>
            </a:r>
            <a:endParaRPr lang="en-US" sz="1300" dirty="0"/>
          </a:p>
        </p:txBody>
      </p:sp>
      <p:sp>
        <p:nvSpPr>
          <p:cNvPr id="4" name="Text 4"/>
          <p:cNvSpPr txBox="1"/>
          <p:nvPr/>
        </p:nvSpPr>
        <p:spPr>
          <a:xfrm>
            <a:off x="548640" y="6345936"/>
            <a:ext cx="11091672" cy="274320"/>
          </a:xfrm>
          <a:prstGeom prst="rect">
            <a:avLst/>
          </a:prstGeom>
          <a:noFill/>
          <a:ln/>
        </p:spPr>
        <p:txBody>
          <a:bodyPr wrap="square" lIns="0" tIns="0" rIns="0" bIns="0" rtlCol="0" anchor="ctr"/>
          <a:lstStyle/>
          <a:p>
            <a:pPr marL="0" indent="0" algn="l">
              <a:buNone/>
            </a:pPr>
            <a:r>
              <a:rPr lang="en-US" sz="1000" i="1" dirty="0">
                <a:solidFill>
                  <a:srgbClr val="6E7C72"/>
                </a:solidFill>
                <a:latin typeface="Calibri" pitchFamily="34" charset="0"/>
                <a:ea typeface="Calibri" pitchFamily="34" charset="-122"/>
                <a:cs typeface="Calibri" pitchFamily="34" charset="-120"/>
              </a:rPr>
              <a:t>Section 3, Table 1  ·  [1]–[4], [8], [10], [72]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A2B"/>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97BC62"/>
                </a:solidFill>
                <a:latin typeface="Calibri" pitchFamily="34" charset="0"/>
                <a:ea typeface="Calibri" pitchFamily="34" charset="-122"/>
                <a:cs typeface="Calibri" pitchFamily="34" charset="-120"/>
              </a:rPr>
              <a:t>PART 2 · DATA</a:t>
            </a:r>
            <a:endParaRPr lang="en-US" sz="1100" dirty="0"/>
          </a:p>
        </p:txBody>
      </p:sp>
      <p:sp>
        <p:nvSpPr>
          <p:cNvPr id="3" name="Text 1"/>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FFFFFF"/>
                </a:solidFill>
                <a:latin typeface="Cambria" pitchFamily="34" charset="0"/>
                <a:ea typeface="Cambria" pitchFamily="34" charset="-122"/>
                <a:cs typeface="Cambria" pitchFamily="34" charset="-120"/>
              </a:rPr>
              <a:t>The biggest gap: leaving the lab</a:t>
            </a:r>
            <a:endParaRPr lang="en-US" sz="3000" dirty="0"/>
          </a:p>
        </p:txBody>
      </p:sp>
      <p:sp>
        <p:nvSpPr>
          <p:cNvPr id="4" name="Shape 2"/>
          <p:cNvSpPr/>
          <p:nvPr/>
        </p:nvSpPr>
        <p:spPr>
          <a:xfrm>
            <a:off x="548640" y="1481328"/>
            <a:ext cx="6858000" cy="3913632"/>
          </a:xfrm>
          <a:prstGeom prst="roundRect">
            <a:avLst>
              <a:gd name="adj" fmla="val 1869"/>
            </a:avLst>
          </a:prstGeom>
          <a:solidFill>
            <a:srgbClr val="FFFFFF"/>
          </a:solidFill>
          <a:ln w="12700">
            <a:solidFill>
              <a:srgbClr val="FFFFFF"/>
            </a:solidFill>
            <a:prstDash val="solid"/>
          </a:ln>
          <a:effectLst>
            <a:outerShdw blurRad="127000" dist="25400" dir="5400000" algn="bl" rotWithShape="0">
              <a:srgbClr val="1B3A2B">
                <a:alpha val="10000"/>
              </a:srgbClr>
            </a:outerShdw>
          </a:effectLst>
        </p:spPr>
      </p:sp>
      <p:graphicFrame>
        <p:nvGraphicFramePr>
          <p:cNvPr id="5" name="Chart 0"/>
          <p:cNvGraphicFramePr/>
          <p:nvPr/>
        </p:nvGraphicFramePr>
        <p:xfrm>
          <a:off x="713232" y="1645920"/>
          <a:ext cx="6528816" cy="3584448"/>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644384" y="1481328"/>
            <a:ext cx="3995928" cy="1188720"/>
          </a:xfrm>
          <a:prstGeom prst="roundRect">
            <a:avLst>
              <a:gd name="adj" fmla="val 6154"/>
            </a:avLst>
          </a:prstGeom>
          <a:solidFill>
            <a:srgbClr val="234733"/>
          </a:solidFill>
          <a:ln w="12700">
            <a:solidFill>
              <a:srgbClr val="2F5B41"/>
            </a:solidFill>
            <a:prstDash val="solid"/>
          </a:ln>
        </p:spPr>
      </p:sp>
      <p:sp>
        <p:nvSpPr>
          <p:cNvPr id="7" name="Text 4"/>
          <p:cNvSpPr txBox="1"/>
          <p:nvPr/>
        </p:nvSpPr>
        <p:spPr>
          <a:xfrm>
            <a:off x="7900416" y="1609344"/>
            <a:ext cx="3474720" cy="402336"/>
          </a:xfrm>
          <a:prstGeom prst="rect">
            <a:avLst/>
          </a:prstGeom>
          <a:noFill/>
          <a:ln/>
        </p:spPr>
        <p:txBody>
          <a:bodyPr wrap="square" lIns="0" tIns="0" rIns="0" bIns="0" rtlCol="0" anchor="ctr"/>
          <a:lstStyle/>
          <a:p>
            <a:pPr marL="0" indent="0">
              <a:buNone/>
            </a:pPr>
            <a:r>
              <a:rPr lang="en-US" sz="2400" b="1" dirty="0">
                <a:solidFill>
                  <a:srgbClr val="97BC62"/>
                </a:solidFill>
                <a:latin typeface="Cambria" pitchFamily="34" charset="0"/>
                <a:ea typeface="Cambria" pitchFamily="34" charset="-122"/>
                <a:cs typeface="Cambria" pitchFamily="34" charset="-120"/>
              </a:rPr>
              <a:t>−21.9 points</a:t>
            </a:r>
            <a:endParaRPr lang="en-US" sz="2400" dirty="0"/>
          </a:p>
        </p:txBody>
      </p:sp>
      <p:sp>
        <p:nvSpPr>
          <p:cNvPr id="8" name="Text 5"/>
          <p:cNvSpPr txBox="1"/>
          <p:nvPr/>
        </p:nvSpPr>
        <p:spPr>
          <a:xfrm>
            <a:off x="7900416" y="2029968"/>
            <a:ext cx="3474720" cy="566928"/>
          </a:xfrm>
          <a:prstGeom prst="rect">
            <a:avLst/>
          </a:prstGeom>
          <a:noFill/>
          <a:ln/>
        </p:spPr>
        <p:txBody>
          <a:bodyPr wrap="square" lIns="0" tIns="0" rIns="0" bIns="0" rtlCol="0" anchor="ctr"/>
          <a:lstStyle/>
          <a:p>
            <a:pPr marL="0" indent="0">
              <a:lnSpc>
                <a:spcPct val="110000"/>
              </a:lnSpc>
              <a:buNone/>
            </a:pPr>
            <a:r>
              <a:rPr lang="en-US" sz="1100" dirty="0">
                <a:solidFill>
                  <a:srgbClr val="E8F0E2"/>
                </a:solidFill>
                <a:latin typeface="Calibri" pitchFamily="34" charset="0"/>
                <a:ea typeface="Calibri" pitchFamily="34" charset="-122"/>
                <a:cs typeface="Calibri" pitchFamily="34" charset="-120"/>
              </a:rPr>
              <a:t>ViT-Base: 99.17% on PlantVillage, then 77.27% on the Dikumari subset of TomatoEbola.</a:t>
            </a:r>
            <a:endParaRPr lang="en-US" sz="1100" dirty="0"/>
          </a:p>
        </p:txBody>
      </p:sp>
      <p:sp>
        <p:nvSpPr>
          <p:cNvPr id="9" name="Shape 6"/>
          <p:cNvSpPr/>
          <p:nvPr/>
        </p:nvSpPr>
        <p:spPr>
          <a:xfrm>
            <a:off x="7644384" y="2816352"/>
            <a:ext cx="3995928" cy="1188720"/>
          </a:xfrm>
          <a:prstGeom prst="roundRect">
            <a:avLst>
              <a:gd name="adj" fmla="val 6154"/>
            </a:avLst>
          </a:prstGeom>
          <a:solidFill>
            <a:srgbClr val="234733"/>
          </a:solidFill>
          <a:ln w="12700">
            <a:solidFill>
              <a:srgbClr val="2F5B41"/>
            </a:solidFill>
            <a:prstDash val="solid"/>
          </a:ln>
        </p:spPr>
      </p:sp>
      <p:sp>
        <p:nvSpPr>
          <p:cNvPr id="10" name="Text 7"/>
          <p:cNvSpPr txBox="1"/>
          <p:nvPr/>
        </p:nvSpPr>
        <p:spPr>
          <a:xfrm>
            <a:off x="7900416" y="2944368"/>
            <a:ext cx="3474720" cy="402336"/>
          </a:xfrm>
          <a:prstGeom prst="rect">
            <a:avLst/>
          </a:prstGeom>
          <a:noFill/>
          <a:ln/>
        </p:spPr>
        <p:txBody>
          <a:bodyPr wrap="square" lIns="0" tIns="0" rIns="0" bIns="0" rtlCol="0" anchor="ctr"/>
          <a:lstStyle/>
          <a:p>
            <a:pPr marL="0" indent="0">
              <a:buNone/>
            </a:pPr>
            <a:r>
              <a:rPr lang="en-US" sz="2400" b="1" dirty="0">
                <a:solidFill>
                  <a:srgbClr val="97BC62"/>
                </a:solidFill>
                <a:latin typeface="Cambria" pitchFamily="34" charset="0"/>
                <a:ea typeface="Cambria" pitchFamily="34" charset="-122"/>
                <a:cs typeface="Cambria" pitchFamily="34" charset="-120"/>
              </a:rPr>
              <a:t>−45 points</a:t>
            </a:r>
            <a:endParaRPr lang="en-US" sz="2400" dirty="0"/>
          </a:p>
        </p:txBody>
      </p:sp>
      <p:sp>
        <p:nvSpPr>
          <p:cNvPr id="11" name="Text 8"/>
          <p:cNvSpPr txBox="1"/>
          <p:nvPr/>
        </p:nvSpPr>
        <p:spPr>
          <a:xfrm>
            <a:off x="7900416" y="3364992"/>
            <a:ext cx="3474720" cy="566928"/>
          </a:xfrm>
          <a:prstGeom prst="rect">
            <a:avLst/>
          </a:prstGeom>
          <a:noFill/>
          <a:ln/>
        </p:spPr>
        <p:txBody>
          <a:bodyPr wrap="square" lIns="0" tIns="0" rIns="0" bIns="0" rtlCol="0" anchor="ctr"/>
          <a:lstStyle/>
          <a:p>
            <a:pPr marL="0" indent="0">
              <a:lnSpc>
                <a:spcPct val="110000"/>
              </a:lnSpc>
              <a:buNone/>
            </a:pPr>
            <a:r>
              <a:rPr lang="en-US" sz="1100" dirty="0">
                <a:solidFill>
                  <a:srgbClr val="E8F0E2"/>
                </a:solidFill>
                <a:latin typeface="Calibri" pitchFamily="34" charset="0"/>
                <a:ea typeface="Calibri" pitchFamily="34" charset="-122"/>
                <a:cs typeface="Calibri" pitchFamily="34" charset="-120"/>
              </a:rPr>
              <a:t>Federated Transfer Learning: 94% drops to 49% on real field photos. Fine-tuning recovers it to 62%.</a:t>
            </a:r>
            <a:endParaRPr lang="en-US" sz="1100" dirty="0"/>
          </a:p>
        </p:txBody>
      </p:sp>
      <p:sp>
        <p:nvSpPr>
          <p:cNvPr id="12" name="Shape 9"/>
          <p:cNvSpPr/>
          <p:nvPr/>
        </p:nvSpPr>
        <p:spPr>
          <a:xfrm>
            <a:off x="7644384" y="4151376"/>
            <a:ext cx="3995928" cy="1188720"/>
          </a:xfrm>
          <a:prstGeom prst="roundRect">
            <a:avLst>
              <a:gd name="adj" fmla="val 6154"/>
            </a:avLst>
          </a:prstGeom>
          <a:solidFill>
            <a:srgbClr val="234733"/>
          </a:solidFill>
          <a:ln w="12700">
            <a:solidFill>
              <a:srgbClr val="2F5B41"/>
            </a:solidFill>
            <a:prstDash val="solid"/>
          </a:ln>
        </p:spPr>
      </p:sp>
      <p:sp>
        <p:nvSpPr>
          <p:cNvPr id="13" name="Text 10"/>
          <p:cNvSpPr txBox="1"/>
          <p:nvPr/>
        </p:nvSpPr>
        <p:spPr>
          <a:xfrm>
            <a:off x="7900416" y="4279392"/>
            <a:ext cx="3474720" cy="402336"/>
          </a:xfrm>
          <a:prstGeom prst="rect">
            <a:avLst/>
          </a:prstGeom>
          <a:noFill/>
          <a:ln/>
        </p:spPr>
        <p:txBody>
          <a:bodyPr wrap="square" lIns="0" tIns="0" rIns="0" bIns="0" rtlCol="0" anchor="ctr"/>
          <a:lstStyle/>
          <a:p>
            <a:pPr marL="0" indent="0">
              <a:buNone/>
            </a:pPr>
            <a:r>
              <a:rPr lang="en-US" sz="2400" b="1" dirty="0">
                <a:solidFill>
                  <a:srgbClr val="C62828"/>
                </a:solidFill>
                <a:latin typeface="Cambria" pitchFamily="34" charset="0"/>
                <a:ea typeface="Cambria" pitchFamily="34" charset="-122"/>
                <a:cs typeface="Cambria" pitchFamily="34" charset="-120"/>
              </a:rPr>
              <a:t>≈ 23%</a:t>
            </a:r>
            <a:endParaRPr lang="en-US" sz="2400" dirty="0"/>
          </a:p>
        </p:txBody>
      </p:sp>
      <p:sp>
        <p:nvSpPr>
          <p:cNvPr id="14" name="Text 11"/>
          <p:cNvSpPr txBox="1"/>
          <p:nvPr/>
        </p:nvSpPr>
        <p:spPr>
          <a:xfrm>
            <a:off x="7900416" y="4700016"/>
            <a:ext cx="3474720" cy="566928"/>
          </a:xfrm>
          <a:prstGeom prst="rect">
            <a:avLst/>
          </a:prstGeom>
          <a:noFill/>
          <a:ln/>
        </p:spPr>
        <p:txBody>
          <a:bodyPr wrap="square" lIns="0" tIns="0" rIns="0" bIns="0" rtlCol="0" anchor="ctr"/>
          <a:lstStyle/>
          <a:p>
            <a:pPr marL="0" indent="0">
              <a:lnSpc>
                <a:spcPct val="110000"/>
              </a:lnSpc>
              <a:buNone/>
            </a:pPr>
            <a:r>
              <a:rPr lang="en-US" sz="1100" dirty="0">
                <a:solidFill>
                  <a:srgbClr val="E8F0E2"/>
                </a:solidFill>
                <a:latin typeface="Calibri" pitchFamily="34" charset="0"/>
                <a:ea typeface="Calibri" pitchFamily="34" charset="-122"/>
                <a:cs typeface="Calibri" pitchFamily="34" charset="-120"/>
              </a:rPr>
              <a:t>Unlabelled domain adaptation, PlantVillage to PlantDoc. Transfer without labels still mostly fails.</a:t>
            </a:r>
            <a:endParaRPr lang="en-US" sz="1100" dirty="0"/>
          </a:p>
        </p:txBody>
      </p:sp>
      <p:sp>
        <p:nvSpPr>
          <p:cNvPr id="15" name="Text 12"/>
          <p:cNvSpPr txBox="1"/>
          <p:nvPr/>
        </p:nvSpPr>
        <p:spPr>
          <a:xfrm>
            <a:off x="548640" y="5541264"/>
            <a:ext cx="11091672" cy="457200"/>
          </a:xfrm>
          <a:prstGeom prst="rect">
            <a:avLst/>
          </a:prstGeom>
          <a:noFill/>
          <a:ln/>
        </p:spPr>
        <p:txBody>
          <a:bodyPr wrap="square" lIns="0" tIns="0" rIns="0" bIns="0" rtlCol="0" anchor="ctr"/>
          <a:lstStyle/>
          <a:p>
            <a:pPr marL="0" indent="0" algn="ctr">
              <a:buNone/>
            </a:pPr>
            <a:r>
              <a:rPr lang="en-US" sz="1800" b="1" i="1" dirty="0">
                <a:solidFill>
                  <a:srgbClr val="97BC62"/>
                </a:solidFill>
                <a:latin typeface="Cambria" pitchFamily="34" charset="0"/>
                <a:ea typeface="Cambria" pitchFamily="34" charset="-122"/>
                <a:cs typeface="Cambria" pitchFamily="34" charset="-120"/>
              </a:rPr>
              <a:t>“This is not a weak model. This is the same ViT. Only the farm changed.”</a:t>
            </a:r>
            <a:endParaRPr lang="en-US" sz="1800" dirty="0"/>
          </a:p>
        </p:txBody>
      </p:sp>
      <p:sp>
        <p:nvSpPr>
          <p:cNvPr id="16" name="Text 13"/>
          <p:cNvSpPr txBox="1"/>
          <p:nvPr/>
        </p:nvSpPr>
        <p:spPr>
          <a:xfrm>
            <a:off x="548640" y="6345936"/>
            <a:ext cx="11091672" cy="274320"/>
          </a:xfrm>
          <a:prstGeom prst="rect">
            <a:avLst/>
          </a:prstGeom>
          <a:noFill/>
          <a:ln/>
        </p:spPr>
        <p:txBody>
          <a:bodyPr wrap="square" lIns="0" tIns="0" rIns="0" bIns="0" rtlCol="0" anchor="ctr"/>
          <a:lstStyle/>
          <a:p>
            <a:pPr marL="0" indent="0" algn="l">
              <a:buNone/>
            </a:pPr>
            <a:r>
              <a:rPr lang="en-US" sz="1000" i="1" dirty="0">
                <a:solidFill>
                  <a:srgbClr val="A9BCA4"/>
                </a:solidFill>
                <a:latin typeface="Calibri" pitchFamily="34" charset="0"/>
                <a:ea typeface="Calibri" pitchFamily="34" charset="-122"/>
                <a:cs typeface="Calibri" pitchFamily="34" charset="-120"/>
              </a:rPr>
              <a:t>Sections 3.1, 8.1  ·  [5], [6], [12], [13]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6E9443"/>
                </a:solidFill>
                <a:latin typeface="Calibri" pitchFamily="34" charset="0"/>
                <a:ea typeface="Calibri" pitchFamily="34" charset="-122"/>
                <a:cs typeface="Calibri" pitchFamily="34" charset="-120"/>
              </a:rPr>
              <a:t>PART 3 · METHODS</a:t>
            </a:r>
            <a:endParaRPr lang="en-US" sz="1100" dirty="0"/>
          </a:p>
        </p:txBody>
      </p:sp>
      <p:sp>
        <p:nvSpPr>
          <p:cNvPr id="3" name="Text 1"/>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13211B"/>
                </a:solidFill>
                <a:latin typeface="Cambria" pitchFamily="34" charset="0"/>
                <a:ea typeface="Cambria" pitchFamily="34" charset="-122"/>
                <a:cs typeface="Cambria" pitchFamily="34" charset="-120"/>
              </a:rPr>
              <a:t>Classification: the race already hit the ceiling</a:t>
            </a:r>
            <a:endParaRPr lang="en-US" sz="3000" dirty="0"/>
          </a:p>
        </p:txBody>
      </p:sp>
      <p:sp>
        <p:nvSpPr>
          <p:cNvPr id="4" name="Shape 2"/>
          <p:cNvSpPr/>
          <p:nvPr/>
        </p:nvSpPr>
        <p:spPr>
          <a:xfrm>
            <a:off x="548640" y="1481328"/>
            <a:ext cx="6309360" cy="3017520"/>
          </a:xfrm>
          <a:prstGeom prst="roundRect">
            <a:avLst>
              <a:gd name="adj" fmla="val 2424"/>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graphicFrame>
        <p:nvGraphicFramePr>
          <p:cNvPr id="5" name="Chart 0"/>
          <p:cNvGraphicFramePr/>
          <p:nvPr/>
        </p:nvGraphicFramePr>
        <p:xfrm>
          <a:off x="731520" y="1645920"/>
          <a:ext cx="5943600" cy="2706624"/>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095744" y="1481328"/>
            <a:ext cx="4544568" cy="1426464"/>
          </a:xfrm>
          <a:prstGeom prst="roundRect">
            <a:avLst>
              <a:gd name="adj" fmla="val 5128"/>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7" name="Text 4"/>
          <p:cNvSpPr txBox="1"/>
          <p:nvPr/>
        </p:nvSpPr>
        <p:spPr>
          <a:xfrm>
            <a:off x="7351776" y="1664208"/>
            <a:ext cx="4023360" cy="292608"/>
          </a:xfrm>
          <a:prstGeom prst="rect">
            <a:avLst/>
          </a:prstGeom>
          <a:noFill/>
          <a:ln/>
        </p:spPr>
        <p:txBody>
          <a:bodyPr wrap="square" lIns="0" tIns="0" rIns="0" bIns="0" rtlCol="0" anchor="t"/>
          <a:lstStyle/>
          <a:p>
            <a:pPr marL="0" indent="0" algn="l">
              <a:buNone/>
            </a:pPr>
            <a:r>
              <a:rPr lang="en-US" sz="1500" b="1" dirty="0">
                <a:solidFill>
                  <a:srgbClr val="13211B"/>
                </a:solidFill>
                <a:latin typeface="Calibri" pitchFamily="34" charset="0"/>
                <a:ea typeface="Calibri" pitchFamily="34" charset="-122"/>
                <a:cs typeface="Calibri" pitchFamily="34" charset="-120"/>
              </a:rPr>
              <a:t>Benchmark saturation (≈ 2023)</a:t>
            </a:r>
            <a:endParaRPr lang="en-US" sz="1500" dirty="0"/>
          </a:p>
        </p:txBody>
      </p:sp>
      <p:sp>
        <p:nvSpPr>
          <p:cNvPr id="8" name="Text 5"/>
          <p:cNvSpPr txBox="1"/>
          <p:nvPr/>
        </p:nvSpPr>
        <p:spPr>
          <a:xfrm>
            <a:off x="7351776" y="2011680"/>
            <a:ext cx="4023360" cy="822960"/>
          </a:xfrm>
          <a:prstGeom prst="rect">
            <a:avLst/>
          </a:prstGeom>
          <a:noFill/>
          <a:ln/>
        </p:spPr>
        <p:txBody>
          <a:bodyPr wrap="square" lIns="0" tIns="0" rIns="0" bIns="0" rtlCol="0" anchor="t"/>
          <a:lstStyle/>
          <a:p>
            <a:pPr marL="0" indent="0" algn="l">
              <a:lnSpc>
                <a:spcPct val="112000"/>
              </a:lnSpc>
              <a:buNone/>
            </a:pPr>
            <a:r>
              <a:rPr lang="en-US" sz="1200" dirty="0">
                <a:solidFill>
                  <a:srgbClr val="6E7C72"/>
                </a:solidFill>
                <a:latin typeface="Calibri" pitchFamily="34" charset="0"/>
                <a:ea typeface="Calibri" pitchFamily="34" charset="-122"/>
                <a:cs typeface="Calibri" pitchFamily="34" charset="-120"/>
              </a:rPr>
              <a:t>The gap between CNNs shrank to under 1 point. Their compute cost still differs by tens of times.</a:t>
            </a:r>
            <a:endParaRPr lang="en-US" sz="1200" dirty="0"/>
          </a:p>
        </p:txBody>
      </p:sp>
      <p:sp>
        <p:nvSpPr>
          <p:cNvPr id="9" name="Shape 6"/>
          <p:cNvSpPr/>
          <p:nvPr/>
        </p:nvSpPr>
        <p:spPr>
          <a:xfrm>
            <a:off x="7095744" y="3072384"/>
            <a:ext cx="4544568" cy="1426464"/>
          </a:xfrm>
          <a:prstGeom prst="roundRect">
            <a:avLst>
              <a:gd name="adj" fmla="val 5128"/>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0" name="Text 7"/>
          <p:cNvSpPr txBox="1"/>
          <p:nvPr/>
        </p:nvSpPr>
        <p:spPr>
          <a:xfrm>
            <a:off x="7351776" y="3255264"/>
            <a:ext cx="4023360" cy="292608"/>
          </a:xfrm>
          <a:prstGeom prst="rect">
            <a:avLst/>
          </a:prstGeom>
          <a:noFill/>
          <a:ln/>
        </p:spPr>
        <p:txBody>
          <a:bodyPr wrap="square" lIns="0" tIns="0" rIns="0" bIns="0" rtlCol="0" anchor="t"/>
          <a:lstStyle/>
          <a:p>
            <a:pPr marL="0" indent="0" algn="l">
              <a:buNone/>
            </a:pPr>
            <a:r>
              <a:rPr lang="en-US" sz="1500" b="1" dirty="0">
                <a:solidFill>
                  <a:srgbClr val="13211B"/>
                </a:solidFill>
                <a:latin typeface="Calibri" pitchFamily="34" charset="0"/>
                <a:ea typeface="Calibri" pitchFamily="34" charset="-122"/>
                <a:cs typeface="Calibri" pitchFamily="34" charset="-120"/>
              </a:rPr>
              <a:t>A plain ViT does not win by default</a:t>
            </a:r>
            <a:endParaRPr lang="en-US" sz="1500" dirty="0"/>
          </a:p>
        </p:txBody>
      </p:sp>
      <p:sp>
        <p:nvSpPr>
          <p:cNvPr id="11" name="Text 8"/>
          <p:cNvSpPr txBox="1"/>
          <p:nvPr/>
        </p:nvSpPr>
        <p:spPr>
          <a:xfrm>
            <a:off x="7351776" y="3602736"/>
            <a:ext cx="4023360" cy="822960"/>
          </a:xfrm>
          <a:prstGeom prst="rect">
            <a:avLst/>
          </a:prstGeom>
          <a:noFill/>
          <a:ln/>
        </p:spPr>
        <p:txBody>
          <a:bodyPr wrap="square" lIns="0" tIns="0" rIns="0" bIns="0" rtlCol="0" anchor="t"/>
          <a:lstStyle/>
          <a:p>
            <a:pPr marL="0" indent="0" algn="l">
              <a:lnSpc>
                <a:spcPct val="112000"/>
              </a:lnSpc>
              <a:buNone/>
            </a:pPr>
            <a:r>
              <a:rPr lang="en-US" sz="1200" dirty="0">
                <a:solidFill>
                  <a:srgbClr val="6E7C72"/>
                </a:solidFill>
                <a:latin typeface="Calibri" pitchFamily="34" charset="0"/>
                <a:ea typeface="Calibri" pitchFamily="34" charset="-122"/>
                <a:cs typeface="Calibri" pitchFamily="34" charset="-120"/>
              </a:rPr>
              <a:t>On small, clean datasets a tuned EfficientNet-B0 still competes. ViT only leads when global context matters.</a:t>
            </a:r>
            <a:endParaRPr lang="en-US" sz="1200" dirty="0"/>
          </a:p>
        </p:txBody>
      </p:sp>
      <p:sp>
        <p:nvSpPr>
          <p:cNvPr id="12" name="Shape 9"/>
          <p:cNvSpPr/>
          <p:nvPr/>
        </p:nvSpPr>
        <p:spPr>
          <a:xfrm>
            <a:off x="548640" y="4681728"/>
            <a:ext cx="11091672" cy="1426464"/>
          </a:xfrm>
          <a:prstGeom prst="roundRect">
            <a:avLst>
              <a:gd name="adj" fmla="val 5128"/>
            </a:avLst>
          </a:prstGeom>
          <a:solidFill>
            <a:srgbClr val="FBEBEA"/>
          </a:solidFill>
          <a:ln w="12700">
            <a:solidFill>
              <a:srgbClr val="F0D2D1"/>
            </a:solidFill>
            <a:prstDash val="solid"/>
          </a:ln>
          <a:effectLst>
            <a:outerShdw blurRad="127000" dist="25400" dir="5400000" algn="bl" rotWithShape="0">
              <a:srgbClr val="1B3A2B">
                <a:alpha val="10000"/>
              </a:srgbClr>
            </a:outerShdw>
          </a:effectLst>
        </p:spPr>
      </p:sp>
      <p:sp>
        <p:nvSpPr>
          <p:cNvPr id="13" name="Text 10"/>
          <p:cNvSpPr txBox="1"/>
          <p:nvPr/>
        </p:nvSpPr>
        <p:spPr>
          <a:xfrm>
            <a:off x="859536" y="4846320"/>
            <a:ext cx="10424160" cy="292608"/>
          </a:xfrm>
          <a:prstGeom prst="rect">
            <a:avLst/>
          </a:prstGeom>
          <a:noFill/>
          <a:ln/>
        </p:spPr>
        <p:txBody>
          <a:bodyPr wrap="square" lIns="0" tIns="0" rIns="0" bIns="0" rtlCol="0" anchor="ctr"/>
          <a:lstStyle/>
          <a:p>
            <a:pPr marL="0" indent="0">
              <a:buNone/>
            </a:pPr>
            <a:r>
              <a:rPr lang="en-US" sz="1400" b="1" dirty="0">
                <a:solidFill>
                  <a:srgbClr val="C62828"/>
                </a:solidFill>
                <a:latin typeface="Calibri" pitchFamily="34" charset="0"/>
                <a:ea typeface="Calibri" pitchFamily="34" charset="-122"/>
                <a:cs typeface="Calibri" pitchFamily="34" charset="-120"/>
              </a:rPr>
              <a:t>The strongest evidence for structure-aware learning</a:t>
            </a:r>
            <a:endParaRPr lang="en-US" sz="1400" dirty="0"/>
          </a:p>
        </p:txBody>
      </p:sp>
      <p:sp>
        <p:nvSpPr>
          <p:cNvPr id="14" name="Text 11"/>
          <p:cNvSpPr txBox="1"/>
          <p:nvPr/>
        </p:nvSpPr>
        <p:spPr>
          <a:xfrm>
            <a:off x="859536" y="5193792"/>
            <a:ext cx="10424160" cy="804672"/>
          </a:xfrm>
          <a:prstGeom prst="rect">
            <a:avLst/>
          </a:prstGeom>
          <a:noFill/>
          <a:ln/>
        </p:spPr>
        <p:txBody>
          <a:bodyPr wrap="square" lIns="0" tIns="0" rIns="0" bIns="0" rtlCol="0" anchor="ctr"/>
          <a:lstStyle/>
          <a:p>
            <a:pPr marL="0" indent="0">
              <a:lnSpc>
                <a:spcPct val="112000"/>
              </a:lnSpc>
              <a:buNone/>
            </a:pPr>
            <a:r>
              <a:rPr lang="en-US" sz="1300" dirty="0">
                <a:solidFill>
                  <a:srgbClr val="13211B"/>
                </a:solidFill>
                <a:latin typeface="Calibri" pitchFamily="34" charset="0"/>
                <a:ea typeface="Calibri" pitchFamily="34" charset="-122"/>
                <a:cs typeface="Calibri" pitchFamily="34" charset="-120"/>
              </a:rPr>
              <a:t>A biological hierarchy, ViT then expert CNN, scores 97.8% on clean images. That is LOWER than a flat CNN at 99.3%. Now add Gaussian noise of σ = 0.05: the hierarchy still keeps 97.4%, while the flat CNN falls to 41%.</a:t>
            </a:r>
            <a:endParaRPr lang="en-US" sz="1300" dirty="0"/>
          </a:p>
        </p:txBody>
      </p:sp>
      <p:sp>
        <p:nvSpPr>
          <p:cNvPr id="15" name="Text 12"/>
          <p:cNvSpPr txBox="1"/>
          <p:nvPr/>
        </p:nvSpPr>
        <p:spPr>
          <a:xfrm>
            <a:off x="548640" y="6345936"/>
            <a:ext cx="11091672" cy="274320"/>
          </a:xfrm>
          <a:prstGeom prst="rect">
            <a:avLst/>
          </a:prstGeom>
          <a:noFill/>
          <a:ln/>
        </p:spPr>
        <p:txBody>
          <a:bodyPr wrap="square" lIns="0" tIns="0" rIns="0" bIns="0" rtlCol="0" anchor="ctr"/>
          <a:lstStyle/>
          <a:p>
            <a:pPr marL="0" indent="0" algn="l">
              <a:buNone/>
            </a:pPr>
            <a:r>
              <a:rPr lang="en-US" sz="1000" i="1" dirty="0">
                <a:solidFill>
                  <a:srgbClr val="6E7C72"/>
                </a:solidFill>
                <a:latin typeface="Calibri" pitchFamily="34" charset="0"/>
                <a:ea typeface="Calibri" pitchFamily="34" charset="-122"/>
                <a:cs typeface="Calibri" pitchFamily="34" charset="-120"/>
              </a:rPr>
              <a:t>Sections 4.1–4.2  ·  [3], [5], [12], [14]–[17], [19]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6E9443"/>
                </a:solidFill>
                <a:latin typeface="Calibri" pitchFamily="34" charset="0"/>
                <a:ea typeface="Calibri" pitchFamily="34" charset="-122"/>
                <a:cs typeface="Calibri" pitchFamily="34" charset="-120"/>
              </a:rPr>
              <a:t>PART 3 · METHODS</a:t>
            </a:r>
            <a:endParaRPr lang="en-US" sz="1100" dirty="0"/>
          </a:p>
        </p:txBody>
      </p:sp>
      <p:sp>
        <p:nvSpPr>
          <p:cNvPr id="3" name="Text 1"/>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13211B"/>
                </a:solidFill>
                <a:latin typeface="Cambria" pitchFamily="34" charset="0"/>
                <a:ea typeface="Cambria" pitchFamily="34" charset="-122"/>
                <a:cs typeface="Cambria" pitchFamily="34" charset="-120"/>
              </a:rPr>
              <a:t>Detection: always read mAP in pairs</a:t>
            </a:r>
            <a:endParaRPr lang="en-US" sz="3000" dirty="0"/>
          </a:p>
        </p:txBody>
      </p:sp>
      <p:sp>
        <p:nvSpPr>
          <p:cNvPr id="4" name="Shape 2"/>
          <p:cNvSpPr/>
          <p:nvPr/>
        </p:nvSpPr>
        <p:spPr>
          <a:xfrm>
            <a:off x="548640" y="1481328"/>
            <a:ext cx="6309360" cy="3218688"/>
          </a:xfrm>
          <a:prstGeom prst="roundRect">
            <a:avLst>
              <a:gd name="adj" fmla="val 2273"/>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graphicFrame>
        <p:nvGraphicFramePr>
          <p:cNvPr id="5" name="Chart 0"/>
          <p:cNvGraphicFramePr/>
          <p:nvPr/>
        </p:nvGraphicFramePr>
        <p:xfrm>
          <a:off x="731520" y="1645920"/>
          <a:ext cx="5943600" cy="2907792"/>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095744" y="1481328"/>
            <a:ext cx="4544568" cy="713232"/>
          </a:xfrm>
          <a:prstGeom prst="roundRect">
            <a:avLst>
              <a:gd name="adj" fmla="val 10256"/>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7" name="Text 4"/>
          <p:cNvSpPr txBox="1"/>
          <p:nvPr/>
        </p:nvSpPr>
        <p:spPr>
          <a:xfrm>
            <a:off x="7333488" y="1554480"/>
            <a:ext cx="4114800" cy="256032"/>
          </a:xfrm>
          <a:prstGeom prst="rect">
            <a:avLst/>
          </a:prstGeom>
          <a:noFill/>
          <a:ln/>
        </p:spPr>
        <p:txBody>
          <a:bodyPr wrap="square" lIns="0" tIns="0" rIns="0" bIns="0" rtlCol="0" anchor="t"/>
          <a:lstStyle/>
          <a:p>
            <a:pPr marL="0" indent="0" algn="l">
              <a:buNone/>
            </a:pPr>
            <a:r>
              <a:rPr lang="en-US" sz="1250" b="1" dirty="0">
                <a:solidFill>
                  <a:srgbClr val="13211B"/>
                </a:solidFill>
                <a:latin typeface="Calibri" pitchFamily="34" charset="0"/>
                <a:ea typeface="Calibri" pitchFamily="34" charset="-122"/>
                <a:cs typeface="Calibri" pitchFamily="34" charset="-120"/>
              </a:rPr>
              <a:t>YOLO-TGI-N</a:t>
            </a:r>
            <a:endParaRPr lang="en-US" sz="1250" dirty="0"/>
          </a:p>
        </p:txBody>
      </p:sp>
      <p:sp>
        <p:nvSpPr>
          <p:cNvPr id="8" name="Text 5"/>
          <p:cNvSpPr txBox="1"/>
          <p:nvPr/>
        </p:nvSpPr>
        <p:spPr>
          <a:xfrm>
            <a:off x="7333488" y="1828800"/>
            <a:ext cx="4114800" cy="310896"/>
          </a:xfrm>
          <a:prstGeom prst="rect">
            <a:avLst/>
          </a:prstGeom>
          <a:noFill/>
          <a:ln/>
        </p:spPr>
        <p:txBody>
          <a:bodyPr wrap="square" lIns="0" tIns="0" rIns="0" bIns="0" rtlCol="0" anchor="t"/>
          <a:lstStyle/>
          <a:p>
            <a:pPr marL="0" indent="0" algn="l">
              <a:lnSpc>
                <a:spcPct val="112000"/>
              </a:lnSpc>
              <a:buNone/>
            </a:pPr>
            <a:r>
              <a:rPr lang="en-US" sz="1050" dirty="0">
                <a:solidFill>
                  <a:srgbClr val="6E7C72"/>
                </a:solidFill>
                <a:latin typeface="Calibri" pitchFamily="34" charset="0"/>
                <a:ea typeface="Calibri" pitchFamily="34" charset="-122"/>
                <a:cs typeface="Calibri" pitchFamily="34" charset="-120"/>
              </a:rPr>
              <a:t>mAP 0.72 · 2.05 GFLOPs · 3.7 MB checkpoint — greenhouse robot</a:t>
            </a:r>
            <a:endParaRPr lang="en-US" sz="1050" dirty="0"/>
          </a:p>
        </p:txBody>
      </p:sp>
      <p:sp>
        <p:nvSpPr>
          <p:cNvPr id="9" name="Shape 6"/>
          <p:cNvSpPr/>
          <p:nvPr/>
        </p:nvSpPr>
        <p:spPr>
          <a:xfrm>
            <a:off x="7095744" y="2304288"/>
            <a:ext cx="4544568" cy="713232"/>
          </a:xfrm>
          <a:prstGeom prst="roundRect">
            <a:avLst>
              <a:gd name="adj" fmla="val 10256"/>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0" name="Text 7"/>
          <p:cNvSpPr txBox="1"/>
          <p:nvPr/>
        </p:nvSpPr>
        <p:spPr>
          <a:xfrm>
            <a:off x="7333488" y="2377440"/>
            <a:ext cx="4114800" cy="256032"/>
          </a:xfrm>
          <a:prstGeom prst="rect">
            <a:avLst/>
          </a:prstGeom>
          <a:noFill/>
          <a:ln/>
        </p:spPr>
        <p:txBody>
          <a:bodyPr wrap="square" lIns="0" tIns="0" rIns="0" bIns="0" rtlCol="0" anchor="t"/>
          <a:lstStyle/>
          <a:p>
            <a:pPr marL="0" indent="0" algn="l">
              <a:buNone/>
            </a:pPr>
            <a:r>
              <a:rPr lang="en-US" sz="1250" b="1" dirty="0">
                <a:solidFill>
                  <a:srgbClr val="13211B"/>
                </a:solidFill>
                <a:latin typeface="Calibri" pitchFamily="34" charset="0"/>
                <a:ea typeface="Calibri" pitchFamily="34" charset="-122"/>
                <a:cs typeface="Calibri" pitchFamily="34" charset="-120"/>
              </a:rPr>
              <a:t>LeafDet (YOLOv8n+)</a:t>
            </a:r>
            <a:endParaRPr lang="en-US" sz="1250" dirty="0"/>
          </a:p>
        </p:txBody>
      </p:sp>
      <p:sp>
        <p:nvSpPr>
          <p:cNvPr id="11" name="Text 8"/>
          <p:cNvSpPr txBox="1"/>
          <p:nvPr/>
        </p:nvSpPr>
        <p:spPr>
          <a:xfrm>
            <a:off x="7333488" y="2651760"/>
            <a:ext cx="4114800" cy="310896"/>
          </a:xfrm>
          <a:prstGeom prst="rect">
            <a:avLst/>
          </a:prstGeom>
          <a:noFill/>
          <a:ln/>
        </p:spPr>
        <p:txBody>
          <a:bodyPr wrap="square" lIns="0" tIns="0" rIns="0" bIns="0" rtlCol="0" anchor="t"/>
          <a:lstStyle/>
          <a:p>
            <a:pPr marL="0" indent="0" algn="l">
              <a:lnSpc>
                <a:spcPct val="112000"/>
              </a:lnSpc>
              <a:buNone/>
            </a:pPr>
            <a:r>
              <a:rPr lang="en-US" sz="1050" dirty="0">
                <a:solidFill>
                  <a:srgbClr val="6E7C72"/>
                </a:solidFill>
                <a:latin typeface="Calibri" pitchFamily="34" charset="0"/>
                <a:ea typeface="Calibri" pitchFamily="34" charset="-122"/>
                <a:cs typeface="Calibri" pitchFamily="34" charset="-120"/>
              </a:rPr>
              <a:t>91.6% mAP50 on PlantTom · 2.69M parameters · 2.4 ms per image</a:t>
            </a:r>
            <a:endParaRPr lang="en-US" sz="1050" dirty="0"/>
          </a:p>
        </p:txBody>
      </p:sp>
      <p:sp>
        <p:nvSpPr>
          <p:cNvPr id="12" name="Shape 9"/>
          <p:cNvSpPr/>
          <p:nvPr/>
        </p:nvSpPr>
        <p:spPr>
          <a:xfrm>
            <a:off x="7095744" y="3127248"/>
            <a:ext cx="4544568" cy="713232"/>
          </a:xfrm>
          <a:prstGeom prst="roundRect">
            <a:avLst>
              <a:gd name="adj" fmla="val 10256"/>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3" name="Text 10"/>
          <p:cNvSpPr txBox="1"/>
          <p:nvPr/>
        </p:nvSpPr>
        <p:spPr>
          <a:xfrm>
            <a:off x="7333488" y="3200400"/>
            <a:ext cx="4114800" cy="256032"/>
          </a:xfrm>
          <a:prstGeom prst="rect">
            <a:avLst/>
          </a:prstGeom>
          <a:noFill/>
          <a:ln/>
        </p:spPr>
        <p:txBody>
          <a:bodyPr wrap="square" lIns="0" tIns="0" rIns="0" bIns="0" rtlCol="0" anchor="t"/>
          <a:lstStyle/>
          <a:p>
            <a:pPr marL="0" indent="0" algn="l">
              <a:buNone/>
            </a:pPr>
            <a:r>
              <a:rPr lang="en-US" sz="1250" b="1" dirty="0">
                <a:solidFill>
                  <a:srgbClr val="13211B"/>
                </a:solidFill>
                <a:latin typeface="Calibri" pitchFamily="34" charset="0"/>
                <a:ea typeface="Calibri" pitchFamily="34" charset="-122"/>
                <a:cs typeface="Calibri" pitchFamily="34" charset="-120"/>
              </a:rPr>
              <a:t>SLIF-Tomato + YOLOv12-L</a:t>
            </a:r>
            <a:endParaRPr lang="en-US" sz="1250" dirty="0"/>
          </a:p>
        </p:txBody>
      </p:sp>
      <p:sp>
        <p:nvSpPr>
          <p:cNvPr id="14" name="Text 11"/>
          <p:cNvSpPr txBox="1"/>
          <p:nvPr/>
        </p:nvSpPr>
        <p:spPr>
          <a:xfrm>
            <a:off x="7333488" y="3474720"/>
            <a:ext cx="4114800" cy="310896"/>
          </a:xfrm>
          <a:prstGeom prst="rect">
            <a:avLst/>
          </a:prstGeom>
          <a:noFill/>
          <a:ln/>
        </p:spPr>
        <p:txBody>
          <a:bodyPr wrap="square" lIns="0" tIns="0" rIns="0" bIns="0" rtlCol="0" anchor="t"/>
          <a:lstStyle/>
          <a:p>
            <a:pPr marL="0" indent="0" algn="l">
              <a:lnSpc>
                <a:spcPct val="112000"/>
              </a:lnSpc>
              <a:buNone/>
            </a:pPr>
            <a:r>
              <a:rPr lang="en-US" sz="1050" dirty="0">
                <a:solidFill>
                  <a:srgbClr val="6E7C72"/>
                </a:solidFill>
                <a:latin typeface="Calibri" pitchFamily="34" charset="0"/>
                <a:ea typeface="Calibri" pitchFamily="34" charset="-122"/>
                <a:cs typeface="Calibri" pitchFamily="34" charset="-120"/>
              </a:rPr>
              <a:t>88.5% average AP on the Sri Lanka field set</a:t>
            </a:r>
            <a:endParaRPr lang="en-US" sz="1050" dirty="0"/>
          </a:p>
        </p:txBody>
      </p:sp>
      <p:sp>
        <p:nvSpPr>
          <p:cNvPr id="15" name="Shape 12"/>
          <p:cNvSpPr/>
          <p:nvPr/>
        </p:nvSpPr>
        <p:spPr>
          <a:xfrm>
            <a:off x="7095744" y="3950208"/>
            <a:ext cx="4544568" cy="713232"/>
          </a:xfrm>
          <a:prstGeom prst="roundRect">
            <a:avLst>
              <a:gd name="adj" fmla="val 10256"/>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6" name="Text 13"/>
          <p:cNvSpPr txBox="1"/>
          <p:nvPr/>
        </p:nvSpPr>
        <p:spPr>
          <a:xfrm>
            <a:off x="7333488" y="4023360"/>
            <a:ext cx="4114800" cy="256032"/>
          </a:xfrm>
          <a:prstGeom prst="rect">
            <a:avLst/>
          </a:prstGeom>
          <a:noFill/>
          <a:ln/>
        </p:spPr>
        <p:txBody>
          <a:bodyPr wrap="square" lIns="0" tIns="0" rIns="0" bIns="0" rtlCol="0" anchor="t"/>
          <a:lstStyle/>
          <a:p>
            <a:pPr marL="0" indent="0" algn="l">
              <a:buNone/>
            </a:pPr>
            <a:r>
              <a:rPr lang="en-US" sz="1250" b="1" dirty="0">
                <a:solidFill>
                  <a:srgbClr val="13211B"/>
                </a:solidFill>
                <a:latin typeface="Calibri" pitchFamily="34" charset="0"/>
                <a:ea typeface="Calibri" pitchFamily="34" charset="-122"/>
                <a:cs typeface="Calibri" pitchFamily="34" charset="-120"/>
              </a:rPr>
              <a:t>Yuan &amp; Liu YOLO11n+</a:t>
            </a:r>
            <a:endParaRPr lang="en-US" sz="1250" dirty="0"/>
          </a:p>
        </p:txBody>
      </p:sp>
      <p:sp>
        <p:nvSpPr>
          <p:cNvPr id="17" name="Text 14"/>
          <p:cNvSpPr txBox="1"/>
          <p:nvPr/>
        </p:nvSpPr>
        <p:spPr>
          <a:xfrm>
            <a:off x="7333488" y="4297680"/>
            <a:ext cx="4114800" cy="310896"/>
          </a:xfrm>
          <a:prstGeom prst="rect">
            <a:avLst/>
          </a:prstGeom>
          <a:noFill/>
          <a:ln/>
        </p:spPr>
        <p:txBody>
          <a:bodyPr wrap="square" lIns="0" tIns="0" rIns="0" bIns="0" rtlCol="0" anchor="t"/>
          <a:lstStyle/>
          <a:p>
            <a:pPr marL="0" indent="0" algn="l">
              <a:lnSpc>
                <a:spcPct val="112000"/>
              </a:lnSpc>
              <a:buNone/>
            </a:pPr>
            <a:r>
              <a:rPr lang="en-US" sz="1050" dirty="0">
                <a:solidFill>
                  <a:srgbClr val="6E7C72"/>
                </a:solidFill>
                <a:latin typeface="Calibri" pitchFamily="34" charset="0"/>
                <a:ea typeface="Calibri" pitchFamily="34" charset="-122"/>
                <a:cs typeface="Calibri" pitchFamily="34" charset="-120"/>
              </a:rPr>
              <a:t>+2.1 mAP50 and +2.9 mAP50–95 · 482 FPS</a:t>
            </a:r>
            <a:endParaRPr lang="en-US" sz="1050" dirty="0"/>
          </a:p>
        </p:txBody>
      </p:sp>
      <p:sp>
        <p:nvSpPr>
          <p:cNvPr id="18" name="Shape 15"/>
          <p:cNvSpPr/>
          <p:nvPr/>
        </p:nvSpPr>
        <p:spPr>
          <a:xfrm>
            <a:off x="548640" y="4901184"/>
            <a:ext cx="11091672" cy="1188720"/>
          </a:xfrm>
          <a:prstGeom prst="roundRect">
            <a:avLst>
              <a:gd name="adj" fmla="val 6154"/>
            </a:avLst>
          </a:prstGeom>
          <a:solidFill>
            <a:srgbClr val="FBEBEA"/>
          </a:solidFill>
          <a:ln w="12700">
            <a:solidFill>
              <a:srgbClr val="F0D2D1"/>
            </a:solidFill>
            <a:prstDash val="solid"/>
          </a:ln>
          <a:effectLst>
            <a:outerShdw blurRad="127000" dist="25400" dir="5400000" algn="bl" rotWithShape="0">
              <a:srgbClr val="1B3A2B">
                <a:alpha val="10000"/>
              </a:srgbClr>
            </a:outerShdw>
          </a:effectLst>
        </p:spPr>
      </p:sp>
      <p:sp>
        <p:nvSpPr>
          <p:cNvPr id="19" name="Text 16"/>
          <p:cNvSpPr txBox="1"/>
          <p:nvPr/>
        </p:nvSpPr>
        <p:spPr>
          <a:xfrm>
            <a:off x="859536" y="4901184"/>
            <a:ext cx="10469880" cy="1188720"/>
          </a:xfrm>
          <a:prstGeom prst="rect">
            <a:avLst/>
          </a:prstGeom>
          <a:noFill/>
          <a:ln/>
        </p:spPr>
        <p:txBody>
          <a:bodyPr wrap="square" lIns="0" tIns="0" rIns="0" bIns="0" rtlCol="0" anchor="ctr"/>
          <a:lstStyle/>
          <a:p>
            <a:pPr marL="0" indent="0">
              <a:lnSpc>
                <a:spcPct val="114000"/>
              </a:lnSpc>
              <a:buNone/>
            </a:pPr>
            <a:r>
              <a:rPr lang="en-US" sz="1300" dirty="0">
                <a:solidFill>
                  <a:srgbClr val="13211B"/>
                </a:solidFill>
                <a:latin typeface="Calibri" pitchFamily="34" charset="0"/>
                <a:ea typeface="Calibri" pitchFamily="34" charset="-122"/>
                <a:cs typeface="Calibri" pitchFamily="34" charset="-120"/>
              </a:rPr>
              <a:t>The trap: the same YOLOv11n–DeiT scores 97.8% mAP50 on Taiwan, but only 87% mAP50 and 48% mAP50–95 on TLDDCV. Locating small, blurry, early lesions is still the weakest point of field detectors.</a:t>
            </a:r>
            <a:endParaRPr lang="en-US" sz="1300" dirty="0"/>
          </a:p>
        </p:txBody>
      </p:sp>
      <p:sp>
        <p:nvSpPr>
          <p:cNvPr id="20" name="Text 17"/>
          <p:cNvSpPr txBox="1"/>
          <p:nvPr/>
        </p:nvSpPr>
        <p:spPr>
          <a:xfrm>
            <a:off x="548640" y="6345936"/>
            <a:ext cx="11091672" cy="274320"/>
          </a:xfrm>
          <a:prstGeom prst="rect">
            <a:avLst/>
          </a:prstGeom>
          <a:noFill/>
          <a:ln/>
        </p:spPr>
        <p:txBody>
          <a:bodyPr wrap="square" lIns="0" tIns="0" rIns="0" bIns="0" rtlCol="0" anchor="ctr"/>
          <a:lstStyle/>
          <a:p>
            <a:pPr marL="0" indent="0" algn="l">
              <a:buNone/>
            </a:pPr>
            <a:r>
              <a:rPr lang="en-US" sz="1000" i="1" dirty="0">
                <a:solidFill>
                  <a:srgbClr val="6E7C72"/>
                </a:solidFill>
                <a:latin typeface="Calibri" pitchFamily="34" charset="0"/>
                <a:ea typeface="Calibri" pitchFamily="34" charset="-122"/>
                <a:cs typeface="Calibri" pitchFamily="34" charset="-120"/>
              </a:rPr>
              <a:t>Section 4.3  ·  [8], [21]–[25]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6E9443"/>
                </a:solidFill>
                <a:latin typeface="Calibri" pitchFamily="34" charset="0"/>
                <a:ea typeface="Calibri" pitchFamily="34" charset="-122"/>
                <a:cs typeface="Calibri" pitchFamily="34" charset="-120"/>
              </a:rPr>
              <a:t>PART 3 · METHODS</a:t>
            </a:r>
            <a:endParaRPr lang="en-US" sz="1100" dirty="0"/>
          </a:p>
        </p:txBody>
      </p:sp>
      <p:sp>
        <p:nvSpPr>
          <p:cNvPr id="3" name="Text 1"/>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13211B"/>
                </a:solidFill>
                <a:latin typeface="Cambria" pitchFamily="34" charset="0"/>
                <a:ea typeface="Cambria" pitchFamily="34" charset="-122"/>
                <a:cs typeface="Cambria" pitchFamily="34" charset="-120"/>
              </a:rPr>
              <a:t>Leaf segmentation: from “which disease” to “how bad”</a:t>
            </a:r>
            <a:endParaRPr lang="en-US" sz="3000" dirty="0"/>
          </a:p>
        </p:txBody>
      </p:sp>
      <p:sp>
        <p:nvSpPr>
          <p:cNvPr id="4" name="Shape 2"/>
          <p:cNvSpPr/>
          <p:nvPr/>
        </p:nvSpPr>
        <p:spPr>
          <a:xfrm>
            <a:off x="548640" y="1499616"/>
            <a:ext cx="2560320" cy="841248"/>
          </a:xfrm>
          <a:prstGeom prst="roundRect">
            <a:avLst>
              <a:gd name="adj" fmla="val 7609"/>
            </a:avLst>
          </a:prstGeom>
          <a:solidFill>
            <a:srgbClr val="F2F6EF"/>
          </a:solidFill>
          <a:ln w="12700">
            <a:solidFill>
              <a:srgbClr val="D9E2D2"/>
            </a:solidFill>
            <a:prstDash val="solid"/>
          </a:ln>
        </p:spPr>
      </p:sp>
      <p:sp>
        <p:nvSpPr>
          <p:cNvPr id="5" name="Text 3"/>
          <p:cNvSpPr txBox="1"/>
          <p:nvPr/>
        </p:nvSpPr>
        <p:spPr>
          <a:xfrm>
            <a:off x="694944" y="1609344"/>
            <a:ext cx="2286000" cy="274320"/>
          </a:xfrm>
          <a:prstGeom prst="rect">
            <a:avLst/>
          </a:prstGeom>
          <a:noFill/>
          <a:ln/>
        </p:spPr>
        <p:txBody>
          <a:bodyPr wrap="square" lIns="0" tIns="0" rIns="0" bIns="0" rtlCol="0" anchor="ctr"/>
          <a:lstStyle/>
          <a:p>
            <a:pPr marL="0" indent="0">
              <a:buNone/>
            </a:pPr>
            <a:r>
              <a:rPr lang="en-US" sz="1350" b="1" dirty="0">
                <a:solidFill>
                  <a:srgbClr val="13211B"/>
                </a:solidFill>
                <a:latin typeface="Calibri" pitchFamily="34" charset="0"/>
                <a:ea typeface="Calibri" pitchFamily="34" charset="-122"/>
                <a:cs typeface="Calibri" pitchFamily="34" charset="-120"/>
              </a:rPr>
              <a:t>Classification</a:t>
            </a:r>
            <a:endParaRPr lang="en-US" sz="1350" dirty="0"/>
          </a:p>
        </p:txBody>
      </p:sp>
      <p:sp>
        <p:nvSpPr>
          <p:cNvPr id="6" name="Text 4"/>
          <p:cNvSpPr txBox="1"/>
          <p:nvPr/>
        </p:nvSpPr>
        <p:spPr>
          <a:xfrm>
            <a:off x="694944" y="1901952"/>
            <a:ext cx="2286000" cy="292608"/>
          </a:xfrm>
          <a:prstGeom prst="rect">
            <a:avLst/>
          </a:prstGeom>
          <a:noFill/>
          <a:ln/>
        </p:spPr>
        <p:txBody>
          <a:bodyPr wrap="square" lIns="0" tIns="0" rIns="0" bIns="0" rtlCol="0" anchor="ctr"/>
          <a:lstStyle/>
          <a:p>
            <a:pPr marL="0" indent="0">
              <a:buNone/>
            </a:pPr>
            <a:r>
              <a:rPr lang="en-US" sz="1100" dirty="0">
                <a:solidFill>
                  <a:srgbClr val="6E7C72"/>
                </a:solidFill>
                <a:latin typeface="Calibri" pitchFamily="34" charset="0"/>
                <a:ea typeface="Calibri" pitchFamily="34" charset="-122"/>
                <a:cs typeface="Calibri" pitchFamily="34" charset="-120"/>
              </a:rPr>
              <a:t>“Which disease?”</a:t>
            </a:r>
            <a:endParaRPr lang="en-US" sz="1100" dirty="0"/>
          </a:p>
        </p:txBody>
      </p:sp>
      <p:sp>
        <p:nvSpPr>
          <p:cNvPr id="7" name="Shape 5"/>
          <p:cNvSpPr/>
          <p:nvPr/>
        </p:nvSpPr>
        <p:spPr>
          <a:xfrm>
            <a:off x="3200400" y="1810512"/>
            <a:ext cx="146304" cy="219456"/>
          </a:xfrm>
          <a:prstGeom prst="rightArrow">
            <a:avLst/>
          </a:prstGeom>
          <a:solidFill>
            <a:srgbClr val="D9E2D2"/>
          </a:solidFill>
          <a:ln w="12700">
            <a:solidFill>
              <a:srgbClr val="333333"/>
            </a:solidFill>
            <a:prstDash val="solid"/>
          </a:ln>
        </p:spPr>
      </p:sp>
      <p:sp>
        <p:nvSpPr>
          <p:cNvPr id="8" name="Shape 6"/>
          <p:cNvSpPr/>
          <p:nvPr/>
        </p:nvSpPr>
        <p:spPr>
          <a:xfrm>
            <a:off x="3401568" y="1499616"/>
            <a:ext cx="2560320" cy="841248"/>
          </a:xfrm>
          <a:prstGeom prst="roundRect">
            <a:avLst>
              <a:gd name="adj" fmla="val 7609"/>
            </a:avLst>
          </a:prstGeom>
          <a:solidFill>
            <a:srgbClr val="F2F6EF"/>
          </a:solidFill>
          <a:ln w="12700">
            <a:solidFill>
              <a:srgbClr val="D9E2D2"/>
            </a:solidFill>
            <a:prstDash val="solid"/>
          </a:ln>
        </p:spPr>
      </p:sp>
      <p:sp>
        <p:nvSpPr>
          <p:cNvPr id="9" name="Text 7"/>
          <p:cNvSpPr txBox="1"/>
          <p:nvPr/>
        </p:nvSpPr>
        <p:spPr>
          <a:xfrm>
            <a:off x="3547872" y="1609344"/>
            <a:ext cx="2286000" cy="274320"/>
          </a:xfrm>
          <a:prstGeom prst="rect">
            <a:avLst/>
          </a:prstGeom>
          <a:noFill/>
          <a:ln/>
        </p:spPr>
        <p:txBody>
          <a:bodyPr wrap="square" lIns="0" tIns="0" rIns="0" bIns="0" rtlCol="0" anchor="ctr"/>
          <a:lstStyle/>
          <a:p>
            <a:pPr marL="0" indent="0">
              <a:buNone/>
            </a:pPr>
            <a:r>
              <a:rPr lang="en-US" sz="1350" b="1" dirty="0">
                <a:solidFill>
                  <a:srgbClr val="13211B"/>
                </a:solidFill>
                <a:latin typeface="Calibri" pitchFamily="34" charset="0"/>
                <a:ea typeface="Calibri" pitchFamily="34" charset="-122"/>
                <a:cs typeface="Calibri" pitchFamily="34" charset="-120"/>
              </a:rPr>
              <a:t>Detection</a:t>
            </a:r>
            <a:endParaRPr lang="en-US" sz="1350" dirty="0"/>
          </a:p>
        </p:txBody>
      </p:sp>
      <p:sp>
        <p:nvSpPr>
          <p:cNvPr id="10" name="Text 8"/>
          <p:cNvSpPr txBox="1"/>
          <p:nvPr/>
        </p:nvSpPr>
        <p:spPr>
          <a:xfrm>
            <a:off x="3547872" y="1901952"/>
            <a:ext cx="2286000" cy="292608"/>
          </a:xfrm>
          <a:prstGeom prst="rect">
            <a:avLst/>
          </a:prstGeom>
          <a:noFill/>
          <a:ln/>
        </p:spPr>
        <p:txBody>
          <a:bodyPr wrap="square" lIns="0" tIns="0" rIns="0" bIns="0" rtlCol="0" anchor="ctr"/>
          <a:lstStyle/>
          <a:p>
            <a:pPr marL="0" indent="0">
              <a:buNone/>
            </a:pPr>
            <a:r>
              <a:rPr lang="en-US" sz="1100" dirty="0">
                <a:solidFill>
                  <a:srgbClr val="6E7C72"/>
                </a:solidFill>
                <a:latin typeface="Calibri" pitchFamily="34" charset="0"/>
                <a:ea typeface="Calibri" pitchFamily="34" charset="-122"/>
                <a:cs typeface="Calibri" pitchFamily="34" charset="-120"/>
              </a:rPr>
              <a:t>“Where is the lesion?”</a:t>
            </a:r>
            <a:endParaRPr lang="en-US" sz="1100" dirty="0"/>
          </a:p>
        </p:txBody>
      </p:sp>
      <p:sp>
        <p:nvSpPr>
          <p:cNvPr id="11" name="Shape 9"/>
          <p:cNvSpPr/>
          <p:nvPr/>
        </p:nvSpPr>
        <p:spPr>
          <a:xfrm>
            <a:off x="6053328" y="1810512"/>
            <a:ext cx="146304" cy="219456"/>
          </a:xfrm>
          <a:prstGeom prst="rightArrow">
            <a:avLst/>
          </a:prstGeom>
          <a:solidFill>
            <a:srgbClr val="D9E2D2"/>
          </a:solidFill>
          <a:ln w="12700">
            <a:solidFill>
              <a:srgbClr val="333333"/>
            </a:solidFill>
            <a:prstDash val="solid"/>
          </a:ln>
        </p:spPr>
      </p:sp>
      <p:sp>
        <p:nvSpPr>
          <p:cNvPr id="12" name="Shape 10"/>
          <p:cNvSpPr/>
          <p:nvPr/>
        </p:nvSpPr>
        <p:spPr>
          <a:xfrm>
            <a:off x="6254496" y="1499616"/>
            <a:ext cx="2560320" cy="841248"/>
          </a:xfrm>
          <a:prstGeom prst="roundRect">
            <a:avLst>
              <a:gd name="adj" fmla="val 7609"/>
            </a:avLst>
          </a:prstGeom>
          <a:solidFill>
            <a:srgbClr val="97BC62"/>
          </a:solidFill>
          <a:ln w="12700">
            <a:solidFill>
              <a:srgbClr val="97BC62"/>
            </a:solidFill>
            <a:prstDash val="solid"/>
          </a:ln>
        </p:spPr>
      </p:sp>
      <p:sp>
        <p:nvSpPr>
          <p:cNvPr id="13" name="Text 11"/>
          <p:cNvSpPr txBox="1"/>
          <p:nvPr/>
        </p:nvSpPr>
        <p:spPr>
          <a:xfrm>
            <a:off x="6400800" y="1609344"/>
            <a:ext cx="2286000" cy="274320"/>
          </a:xfrm>
          <a:prstGeom prst="rect">
            <a:avLst/>
          </a:prstGeom>
          <a:noFill/>
          <a:ln/>
        </p:spPr>
        <p:txBody>
          <a:bodyPr wrap="square" lIns="0" tIns="0" rIns="0" bIns="0" rtlCol="0" anchor="ctr"/>
          <a:lstStyle/>
          <a:p>
            <a:pPr marL="0" indent="0">
              <a:buNone/>
            </a:pPr>
            <a:r>
              <a:rPr lang="en-US" sz="1350" b="1" dirty="0">
                <a:solidFill>
                  <a:srgbClr val="13211B"/>
                </a:solidFill>
                <a:latin typeface="Calibri" pitchFamily="34" charset="0"/>
                <a:ea typeface="Calibri" pitchFamily="34" charset="-122"/>
                <a:cs typeface="Calibri" pitchFamily="34" charset="-120"/>
              </a:rPr>
              <a:t>Segmentation</a:t>
            </a:r>
            <a:endParaRPr lang="en-US" sz="1350" dirty="0"/>
          </a:p>
        </p:txBody>
      </p:sp>
      <p:sp>
        <p:nvSpPr>
          <p:cNvPr id="14" name="Text 12"/>
          <p:cNvSpPr txBox="1"/>
          <p:nvPr/>
        </p:nvSpPr>
        <p:spPr>
          <a:xfrm>
            <a:off x="6400800" y="1901952"/>
            <a:ext cx="2286000" cy="292608"/>
          </a:xfrm>
          <a:prstGeom prst="rect">
            <a:avLst/>
          </a:prstGeom>
          <a:noFill/>
          <a:ln/>
        </p:spPr>
        <p:txBody>
          <a:bodyPr wrap="square" lIns="0" tIns="0" rIns="0" bIns="0" rtlCol="0" anchor="ctr"/>
          <a:lstStyle/>
          <a:p>
            <a:pPr marL="0" indent="0">
              <a:buNone/>
            </a:pPr>
            <a:r>
              <a:rPr lang="en-US" sz="1100" dirty="0">
                <a:solidFill>
                  <a:srgbClr val="6E7C72"/>
                </a:solidFill>
                <a:latin typeface="Calibri" pitchFamily="34" charset="0"/>
                <a:ea typeface="Calibri" pitchFamily="34" charset="-122"/>
                <a:cs typeface="Calibri" pitchFamily="34" charset="-120"/>
              </a:rPr>
              <a:t>“What % of leaf area?”</a:t>
            </a:r>
            <a:endParaRPr lang="en-US" sz="1100" dirty="0"/>
          </a:p>
        </p:txBody>
      </p:sp>
      <p:sp>
        <p:nvSpPr>
          <p:cNvPr id="15" name="Shape 13"/>
          <p:cNvSpPr/>
          <p:nvPr/>
        </p:nvSpPr>
        <p:spPr>
          <a:xfrm>
            <a:off x="8906256" y="1810512"/>
            <a:ext cx="146304" cy="219456"/>
          </a:xfrm>
          <a:prstGeom prst="rightArrow">
            <a:avLst/>
          </a:prstGeom>
          <a:solidFill>
            <a:srgbClr val="D9E2D2"/>
          </a:solidFill>
          <a:ln w="12700">
            <a:solidFill>
              <a:srgbClr val="333333"/>
            </a:solidFill>
            <a:prstDash val="solid"/>
          </a:ln>
        </p:spPr>
      </p:sp>
      <p:sp>
        <p:nvSpPr>
          <p:cNvPr id="16" name="Shape 14"/>
          <p:cNvSpPr/>
          <p:nvPr/>
        </p:nvSpPr>
        <p:spPr>
          <a:xfrm>
            <a:off x="9107424" y="1499616"/>
            <a:ext cx="2560320" cy="841248"/>
          </a:xfrm>
          <a:prstGeom prst="roundRect">
            <a:avLst>
              <a:gd name="adj" fmla="val 7609"/>
            </a:avLst>
          </a:prstGeom>
          <a:solidFill>
            <a:srgbClr val="2C5F2D"/>
          </a:solidFill>
          <a:ln w="12700">
            <a:solidFill>
              <a:srgbClr val="2C5F2D"/>
            </a:solidFill>
            <a:prstDash val="solid"/>
          </a:ln>
        </p:spPr>
      </p:sp>
      <p:sp>
        <p:nvSpPr>
          <p:cNvPr id="17" name="Text 15"/>
          <p:cNvSpPr txBox="1"/>
          <p:nvPr/>
        </p:nvSpPr>
        <p:spPr>
          <a:xfrm>
            <a:off x="9253728" y="1609344"/>
            <a:ext cx="228600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Severity</a:t>
            </a:r>
            <a:endParaRPr lang="en-US" sz="1350" dirty="0"/>
          </a:p>
        </p:txBody>
      </p:sp>
      <p:sp>
        <p:nvSpPr>
          <p:cNvPr id="18" name="Text 16"/>
          <p:cNvSpPr txBox="1"/>
          <p:nvPr/>
        </p:nvSpPr>
        <p:spPr>
          <a:xfrm>
            <a:off x="9253728" y="1901952"/>
            <a:ext cx="2286000" cy="292608"/>
          </a:xfrm>
          <a:prstGeom prst="rect">
            <a:avLst/>
          </a:prstGeom>
          <a:noFill/>
          <a:ln/>
        </p:spPr>
        <p:txBody>
          <a:bodyPr wrap="square" lIns="0" tIns="0" rIns="0" bIns="0" rtlCol="0" anchor="ctr"/>
          <a:lstStyle/>
          <a:p>
            <a:pPr marL="0" indent="0">
              <a:buNone/>
            </a:pPr>
            <a:r>
              <a:rPr lang="en-US" sz="1100" dirty="0">
                <a:solidFill>
                  <a:srgbClr val="E8F0E2"/>
                </a:solidFill>
                <a:latin typeface="Calibri" pitchFamily="34" charset="0"/>
                <a:ea typeface="Calibri" pitchFamily="34" charset="-122"/>
                <a:cs typeface="Calibri" pitchFamily="34" charset="-120"/>
              </a:rPr>
              <a:t>The spraying decision</a:t>
            </a:r>
            <a:endParaRPr lang="en-US" sz="1100" dirty="0"/>
          </a:p>
        </p:txBody>
      </p:sp>
      <p:sp>
        <p:nvSpPr>
          <p:cNvPr id="19" name="Shape 17"/>
          <p:cNvSpPr/>
          <p:nvPr/>
        </p:nvSpPr>
        <p:spPr>
          <a:xfrm>
            <a:off x="548640" y="2615184"/>
            <a:ext cx="3429000" cy="2121408"/>
          </a:xfrm>
          <a:prstGeom prst="roundRect">
            <a:avLst>
              <a:gd name="adj" fmla="val 3448"/>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20" name="Text 18"/>
          <p:cNvSpPr txBox="1"/>
          <p:nvPr/>
        </p:nvSpPr>
        <p:spPr>
          <a:xfrm>
            <a:off x="804672" y="2779776"/>
            <a:ext cx="2926080" cy="402336"/>
          </a:xfrm>
          <a:prstGeom prst="rect">
            <a:avLst/>
          </a:prstGeom>
          <a:noFill/>
          <a:ln/>
        </p:spPr>
        <p:txBody>
          <a:bodyPr wrap="square" lIns="0" tIns="0" rIns="0" bIns="0" rtlCol="0" anchor="ctr"/>
          <a:lstStyle/>
          <a:p>
            <a:pPr marL="0" indent="0">
              <a:buNone/>
            </a:pPr>
            <a:r>
              <a:rPr lang="en-US" sz="2100" b="1" dirty="0">
                <a:solidFill>
                  <a:srgbClr val="2C5F2D"/>
                </a:solidFill>
                <a:latin typeface="Cambria" pitchFamily="34" charset="0"/>
                <a:ea typeface="Cambria" pitchFamily="34" charset="-122"/>
                <a:cs typeface="Cambria" pitchFamily="34" charset="-120"/>
              </a:rPr>
              <a:t>98.67%</a:t>
            </a:r>
            <a:endParaRPr lang="en-US" sz="2100" dirty="0"/>
          </a:p>
        </p:txBody>
      </p:sp>
      <p:sp>
        <p:nvSpPr>
          <p:cNvPr id="21" name="Text 19"/>
          <p:cNvSpPr txBox="1"/>
          <p:nvPr/>
        </p:nvSpPr>
        <p:spPr>
          <a:xfrm>
            <a:off x="804672" y="3200400"/>
            <a:ext cx="2926080" cy="310896"/>
          </a:xfrm>
          <a:prstGeom prst="rect">
            <a:avLst/>
          </a:prstGeom>
          <a:noFill/>
          <a:ln/>
        </p:spPr>
        <p:txBody>
          <a:bodyPr wrap="square" lIns="0" tIns="0" rIns="0" bIns="0" rtlCol="0" anchor="t"/>
          <a:lstStyle/>
          <a:p>
            <a:pPr marL="0" indent="0" algn="l">
              <a:buNone/>
            </a:pPr>
            <a:r>
              <a:rPr lang="en-US" sz="1300" b="1" dirty="0">
                <a:solidFill>
                  <a:srgbClr val="13211B"/>
                </a:solidFill>
                <a:latin typeface="Calibri" pitchFamily="34" charset="0"/>
                <a:ea typeface="Calibri" pitchFamily="34" charset="-122"/>
                <a:cs typeface="Calibri" pitchFamily="34" charset="-120"/>
              </a:rPr>
              <a:t>UNet++  [53]</a:t>
            </a:r>
            <a:endParaRPr lang="en-US" sz="1300" dirty="0"/>
          </a:p>
        </p:txBody>
      </p:sp>
      <p:sp>
        <p:nvSpPr>
          <p:cNvPr id="22" name="Text 20"/>
          <p:cNvSpPr txBox="1"/>
          <p:nvPr/>
        </p:nvSpPr>
        <p:spPr>
          <a:xfrm>
            <a:off x="804672" y="3547872"/>
            <a:ext cx="2926080" cy="1097280"/>
          </a:xfrm>
          <a:prstGeom prst="rect">
            <a:avLst/>
          </a:prstGeom>
          <a:noFill/>
          <a:ln/>
        </p:spPr>
        <p:txBody>
          <a:bodyPr wrap="square" lIns="0" tIns="0" rIns="0" bIns="0" rtlCol="0" anchor="t"/>
          <a:lstStyle/>
          <a:p>
            <a:pPr marL="0" indent="0" algn="l">
              <a:lnSpc>
                <a:spcPct val="112000"/>
              </a:lnSpc>
              <a:buNone/>
            </a:pPr>
            <a:r>
              <a:rPr lang="en-US" sz="1150" dirty="0">
                <a:solidFill>
                  <a:srgbClr val="6E7C72"/>
                </a:solidFill>
                <a:latin typeface="Calibri" pitchFamily="34" charset="0"/>
                <a:ea typeface="Calibri" pitchFamily="34" charset="-122"/>
                <a:cs typeface="Calibri" pitchFamily="34" charset="-120"/>
              </a:rPr>
              <a:t>Segments infected regions on tomato leaves, using dense skip connections and deep supervision.</a:t>
            </a:r>
            <a:endParaRPr lang="en-US" sz="1150" dirty="0"/>
          </a:p>
        </p:txBody>
      </p:sp>
      <p:sp>
        <p:nvSpPr>
          <p:cNvPr id="23" name="Shape 21"/>
          <p:cNvSpPr/>
          <p:nvPr/>
        </p:nvSpPr>
        <p:spPr>
          <a:xfrm>
            <a:off x="4297680" y="2615184"/>
            <a:ext cx="3429000" cy="2121408"/>
          </a:xfrm>
          <a:prstGeom prst="roundRect">
            <a:avLst>
              <a:gd name="adj" fmla="val 3448"/>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24" name="Text 22"/>
          <p:cNvSpPr txBox="1"/>
          <p:nvPr/>
        </p:nvSpPr>
        <p:spPr>
          <a:xfrm>
            <a:off x="4553712" y="2779776"/>
            <a:ext cx="2926080" cy="402336"/>
          </a:xfrm>
          <a:prstGeom prst="rect">
            <a:avLst/>
          </a:prstGeom>
          <a:noFill/>
          <a:ln/>
        </p:spPr>
        <p:txBody>
          <a:bodyPr wrap="square" lIns="0" tIns="0" rIns="0" bIns="0" rtlCol="0" anchor="ctr"/>
          <a:lstStyle/>
          <a:p>
            <a:pPr marL="0" indent="0">
              <a:buNone/>
            </a:pPr>
            <a:r>
              <a:rPr lang="en-US" sz="2100" b="1" dirty="0">
                <a:solidFill>
                  <a:srgbClr val="2C5F2D"/>
                </a:solidFill>
                <a:latin typeface="Cambria" pitchFamily="34" charset="0"/>
                <a:ea typeface="Cambria" pitchFamily="34" charset="-122"/>
                <a:cs typeface="Cambria" pitchFamily="34" charset="-120"/>
              </a:rPr>
              <a:t>IoU 89.09%</a:t>
            </a:r>
            <a:endParaRPr lang="en-US" sz="2100" dirty="0"/>
          </a:p>
        </p:txBody>
      </p:sp>
      <p:sp>
        <p:nvSpPr>
          <p:cNvPr id="25" name="Text 23"/>
          <p:cNvSpPr txBox="1"/>
          <p:nvPr/>
        </p:nvSpPr>
        <p:spPr>
          <a:xfrm>
            <a:off x="4553712" y="3200400"/>
            <a:ext cx="2926080" cy="310896"/>
          </a:xfrm>
          <a:prstGeom prst="rect">
            <a:avLst/>
          </a:prstGeom>
          <a:noFill/>
          <a:ln/>
        </p:spPr>
        <p:txBody>
          <a:bodyPr wrap="square" lIns="0" tIns="0" rIns="0" bIns="0" rtlCol="0" anchor="t"/>
          <a:lstStyle/>
          <a:p>
            <a:pPr marL="0" indent="0" algn="l">
              <a:buNone/>
            </a:pPr>
            <a:r>
              <a:rPr lang="en-US" sz="1300" b="1" dirty="0">
                <a:solidFill>
                  <a:srgbClr val="13211B"/>
                </a:solidFill>
                <a:latin typeface="Calibri" pitchFamily="34" charset="0"/>
                <a:ea typeface="Calibri" pitchFamily="34" charset="-122"/>
                <a:cs typeface="Calibri" pitchFamily="34" charset="-120"/>
              </a:rPr>
              <a:t>Tomato TransDeepLab  [50]</a:t>
            </a:r>
            <a:endParaRPr lang="en-US" sz="1300" dirty="0"/>
          </a:p>
        </p:txBody>
      </p:sp>
      <p:sp>
        <p:nvSpPr>
          <p:cNvPr id="26" name="Text 24"/>
          <p:cNvSpPr txBox="1"/>
          <p:nvPr/>
        </p:nvSpPr>
        <p:spPr>
          <a:xfrm>
            <a:off x="4553712" y="3547872"/>
            <a:ext cx="2926080" cy="1097280"/>
          </a:xfrm>
          <a:prstGeom prst="rect">
            <a:avLst/>
          </a:prstGeom>
          <a:noFill/>
          <a:ln/>
        </p:spPr>
        <p:txBody>
          <a:bodyPr wrap="square" lIns="0" tIns="0" rIns="0" bIns="0" rtlCol="0" anchor="t"/>
          <a:lstStyle/>
          <a:p>
            <a:pPr marL="0" indent="0" algn="l">
              <a:lnSpc>
                <a:spcPct val="112000"/>
              </a:lnSpc>
              <a:buNone/>
            </a:pPr>
            <a:r>
              <a:rPr lang="en-US" sz="1150" dirty="0">
                <a:solidFill>
                  <a:srgbClr val="6E7C72"/>
                </a:solidFill>
                <a:latin typeface="Calibri" pitchFamily="34" charset="0"/>
                <a:ea typeface="Calibri" pitchFamily="34" charset="-122"/>
                <a:cs typeface="Calibri" pitchFamily="34" charset="-120"/>
              </a:rPr>
              <a:t>Separates many small lesions on one leaf, even on a complex background. Maps lesion area to a pathologist severity scale and estimates 1–5% yield loss.</a:t>
            </a:r>
            <a:endParaRPr lang="en-US" sz="1150" dirty="0"/>
          </a:p>
        </p:txBody>
      </p:sp>
      <p:sp>
        <p:nvSpPr>
          <p:cNvPr id="27" name="Shape 25"/>
          <p:cNvSpPr/>
          <p:nvPr/>
        </p:nvSpPr>
        <p:spPr>
          <a:xfrm>
            <a:off x="8046720" y="2615184"/>
            <a:ext cx="3429000" cy="2121408"/>
          </a:xfrm>
          <a:prstGeom prst="roundRect">
            <a:avLst>
              <a:gd name="adj" fmla="val 3448"/>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28" name="Text 26"/>
          <p:cNvSpPr txBox="1"/>
          <p:nvPr/>
        </p:nvSpPr>
        <p:spPr>
          <a:xfrm>
            <a:off x="8302752" y="2779776"/>
            <a:ext cx="2926080" cy="402336"/>
          </a:xfrm>
          <a:prstGeom prst="rect">
            <a:avLst/>
          </a:prstGeom>
          <a:noFill/>
          <a:ln/>
        </p:spPr>
        <p:txBody>
          <a:bodyPr wrap="square" lIns="0" tIns="0" rIns="0" bIns="0" rtlCol="0" anchor="ctr"/>
          <a:lstStyle/>
          <a:p>
            <a:pPr marL="0" indent="0">
              <a:buNone/>
            </a:pPr>
            <a:r>
              <a:rPr lang="en-US" sz="2100" b="1" dirty="0">
                <a:solidFill>
                  <a:srgbClr val="2C5F2D"/>
                </a:solidFill>
                <a:latin typeface="Cambria" pitchFamily="34" charset="0"/>
                <a:ea typeface="Cambria" pitchFamily="34" charset="-122"/>
                <a:cs typeface="Cambria" pitchFamily="34" charset="-120"/>
              </a:rPr>
              <a:t>AP mask 68.2%</a:t>
            </a:r>
            <a:endParaRPr lang="en-US" sz="2100" dirty="0"/>
          </a:p>
        </p:txBody>
      </p:sp>
      <p:sp>
        <p:nvSpPr>
          <p:cNvPr id="29" name="Text 27"/>
          <p:cNvSpPr txBox="1"/>
          <p:nvPr/>
        </p:nvSpPr>
        <p:spPr>
          <a:xfrm>
            <a:off x="8302752" y="3200400"/>
            <a:ext cx="2926080" cy="310896"/>
          </a:xfrm>
          <a:prstGeom prst="rect">
            <a:avLst/>
          </a:prstGeom>
          <a:noFill/>
          <a:ln/>
        </p:spPr>
        <p:txBody>
          <a:bodyPr wrap="square" lIns="0" tIns="0" rIns="0" bIns="0" rtlCol="0" anchor="t"/>
          <a:lstStyle/>
          <a:p>
            <a:pPr marL="0" indent="0" algn="l">
              <a:buNone/>
            </a:pPr>
            <a:r>
              <a:rPr lang="en-US" sz="1300" b="1" dirty="0">
                <a:solidFill>
                  <a:srgbClr val="13211B"/>
                </a:solidFill>
                <a:latin typeface="Calibri" pitchFamily="34" charset="0"/>
                <a:ea typeface="Calibri" pitchFamily="34" charset="-122"/>
                <a:cs typeface="Calibri" pitchFamily="34" charset="-120"/>
              </a:rPr>
              <a:t>DETR + CoTNet (multi-task)  [54]</a:t>
            </a:r>
            <a:endParaRPr lang="en-US" sz="1300" dirty="0"/>
          </a:p>
        </p:txBody>
      </p:sp>
      <p:sp>
        <p:nvSpPr>
          <p:cNvPr id="30" name="Text 28"/>
          <p:cNvSpPr txBox="1"/>
          <p:nvPr/>
        </p:nvSpPr>
        <p:spPr>
          <a:xfrm>
            <a:off x="8302752" y="3547872"/>
            <a:ext cx="2926080" cy="1097280"/>
          </a:xfrm>
          <a:prstGeom prst="rect">
            <a:avLst/>
          </a:prstGeom>
          <a:noFill/>
          <a:ln/>
        </p:spPr>
        <p:txBody>
          <a:bodyPr wrap="square" lIns="0" tIns="0" rIns="0" bIns="0" rtlCol="0" anchor="t"/>
          <a:lstStyle/>
          <a:p>
            <a:pPr marL="0" indent="0" algn="l">
              <a:lnSpc>
                <a:spcPct val="112000"/>
              </a:lnSpc>
              <a:buNone/>
            </a:pPr>
            <a:r>
              <a:rPr lang="en-US" sz="1150" dirty="0">
                <a:solidFill>
                  <a:srgbClr val="6E7C72"/>
                </a:solidFill>
                <a:latin typeface="Calibri" pitchFamily="34" charset="0"/>
                <a:ea typeface="Calibri" pitchFamily="34" charset="-122"/>
                <a:cs typeface="Calibri" pitchFamily="34" charset="-120"/>
              </a:rPr>
              <a:t>Combines detection and segmentation on 5,886 images. AP box is 73.9% and severity scoring reaches 92.07%.</a:t>
            </a:r>
            <a:endParaRPr lang="en-US" sz="1150" dirty="0"/>
          </a:p>
        </p:txBody>
      </p:sp>
      <p:sp>
        <p:nvSpPr>
          <p:cNvPr id="31" name="Shape 29"/>
          <p:cNvSpPr/>
          <p:nvPr/>
        </p:nvSpPr>
        <p:spPr>
          <a:xfrm>
            <a:off x="548640" y="4937760"/>
            <a:ext cx="11091672" cy="1152144"/>
          </a:xfrm>
          <a:prstGeom prst="roundRect">
            <a:avLst>
              <a:gd name="adj" fmla="val 6349"/>
            </a:avLst>
          </a:prstGeom>
          <a:solidFill>
            <a:srgbClr val="FBEBEA"/>
          </a:solidFill>
          <a:ln w="12700">
            <a:solidFill>
              <a:srgbClr val="F0D2D1"/>
            </a:solidFill>
            <a:prstDash val="solid"/>
          </a:ln>
          <a:effectLst>
            <a:outerShdw blurRad="127000" dist="25400" dir="5400000" algn="bl" rotWithShape="0">
              <a:srgbClr val="1B3A2B">
                <a:alpha val="10000"/>
              </a:srgbClr>
            </a:outerShdw>
          </a:effectLst>
        </p:spPr>
      </p:sp>
      <p:sp>
        <p:nvSpPr>
          <p:cNvPr id="32" name="Text 30"/>
          <p:cNvSpPr txBox="1"/>
          <p:nvPr/>
        </p:nvSpPr>
        <p:spPr>
          <a:xfrm>
            <a:off x="859536" y="4937760"/>
            <a:ext cx="10469880" cy="1152144"/>
          </a:xfrm>
          <a:prstGeom prst="rect">
            <a:avLst/>
          </a:prstGeom>
          <a:noFill/>
          <a:ln/>
        </p:spPr>
        <p:txBody>
          <a:bodyPr wrap="square" lIns="0" tIns="0" rIns="0" bIns="0" rtlCol="0" anchor="ctr"/>
          <a:lstStyle/>
          <a:p>
            <a:pPr marL="0" indent="0">
              <a:lnSpc>
                <a:spcPct val="114000"/>
              </a:lnSpc>
              <a:buNone/>
            </a:pPr>
            <a:r>
              <a:rPr lang="en-US" sz="1300" dirty="0">
                <a:solidFill>
                  <a:srgbClr val="13211B"/>
                </a:solidFill>
                <a:latin typeface="Calibri" pitchFamily="34" charset="0"/>
                <a:ea typeface="Calibri" pitchFamily="34" charset="-122"/>
                <a:cs typeface="Calibri" pitchFamily="34" charset="-120"/>
              </a:rPr>
              <a:t>The bottleneck: AP mask on SMALL lesions is only about 27%. Severity becomes unstable when the mask misses young lesions — and young lesions are exactly when a warning matters. Pixel masks also cost far more to label than boxes.</a:t>
            </a:r>
            <a:endParaRPr lang="en-US" sz="1300" dirty="0"/>
          </a:p>
        </p:txBody>
      </p:sp>
      <p:sp>
        <p:nvSpPr>
          <p:cNvPr id="33" name="Text 31"/>
          <p:cNvSpPr txBox="1"/>
          <p:nvPr/>
        </p:nvSpPr>
        <p:spPr>
          <a:xfrm>
            <a:off x="548640" y="6345936"/>
            <a:ext cx="11091672" cy="274320"/>
          </a:xfrm>
          <a:prstGeom prst="rect">
            <a:avLst/>
          </a:prstGeom>
          <a:noFill/>
          <a:ln/>
        </p:spPr>
        <p:txBody>
          <a:bodyPr wrap="square" lIns="0" tIns="0" rIns="0" bIns="0" rtlCol="0" anchor="ctr"/>
          <a:lstStyle/>
          <a:p>
            <a:pPr marL="0" indent="0" algn="l">
              <a:buNone/>
            </a:pPr>
            <a:r>
              <a:rPr lang="en-US" sz="1000" i="1" dirty="0">
                <a:solidFill>
                  <a:srgbClr val="6E7C72"/>
                </a:solidFill>
                <a:latin typeface="Calibri" pitchFamily="34" charset="0"/>
                <a:ea typeface="Calibri" pitchFamily="34" charset="-122"/>
                <a:cs typeface="Calibri" pitchFamily="34" charset="-120"/>
              </a:rPr>
              <a:t>Section 4.4  ·  [2], [50], [51], [53]–[56]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6E9443"/>
                </a:solidFill>
                <a:latin typeface="Calibri" pitchFamily="34" charset="0"/>
                <a:ea typeface="Calibri" pitchFamily="34" charset="-122"/>
                <a:cs typeface="Calibri" pitchFamily="34" charset="-120"/>
              </a:rPr>
              <a:t>PART 3 · METHODS</a:t>
            </a:r>
            <a:endParaRPr lang="en-US" sz="1100" dirty="0"/>
          </a:p>
        </p:txBody>
      </p:sp>
      <p:sp>
        <p:nvSpPr>
          <p:cNvPr id="3" name="Text 1"/>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13211B"/>
                </a:solidFill>
                <a:latin typeface="Cambria" pitchFamily="34" charset="0"/>
                <a:ea typeface="Cambria" pitchFamily="34" charset="-122"/>
                <a:cs typeface="Cambria" pitchFamily="34" charset="-120"/>
              </a:rPr>
              <a:t>Fruit segmentation: a parallel community that barely overlaps</a:t>
            </a:r>
            <a:endParaRPr lang="en-US" sz="3000" dirty="0"/>
          </a:p>
        </p:txBody>
      </p:sp>
      <p:sp>
        <p:nvSpPr>
          <p:cNvPr id="4" name="Shape 2"/>
          <p:cNvSpPr/>
          <p:nvPr/>
        </p:nvSpPr>
        <p:spPr>
          <a:xfrm>
            <a:off x="548640" y="1517904"/>
            <a:ext cx="5404104" cy="1737360"/>
          </a:xfrm>
          <a:prstGeom prst="roundRect">
            <a:avLst>
              <a:gd name="adj" fmla="val 421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5" name="Text 3"/>
          <p:cNvSpPr txBox="1"/>
          <p:nvPr/>
        </p:nvSpPr>
        <p:spPr>
          <a:xfrm>
            <a:off x="822960" y="1664208"/>
            <a:ext cx="2834640" cy="365760"/>
          </a:xfrm>
          <a:prstGeom prst="rect">
            <a:avLst/>
          </a:prstGeom>
          <a:noFill/>
          <a:ln/>
        </p:spPr>
        <p:txBody>
          <a:bodyPr wrap="square" lIns="0" tIns="0" rIns="0" bIns="0" rtlCol="0" anchor="ctr"/>
          <a:lstStyle/>
          <a:p>
            <a:pPr marL="0" indent="0">
              <a:buNone/>
            </a:pPr>
            <a:r>
              <a:rPr lang="en-US" sz="1800" b="1" dirty="0">
                <a:solidFill>
                  <a:srgbClr val="2C5F2D"/>
                </a:solidFill>
                <a:latin typeface="Cambria" pitchFamily="34" charset="0"/>
                <a:ea typeface="Cambria" pitchFamily="34" charset="-122"/>
                <a:cs typeface="Cambria" pitchFamily="34" charset="-120"/>
              </a:rPr>
              <a:t>mAP@0.5 = 84.1%</a:t>
            </a:r>
            <a:endParaRPr lang="en-US" sz="1800" dirty="0"/>
          </a:p>
        </p:txBody>
      </p:sp>
      <p:sp>
        <p:nvSpPr>
          <p:cNvPr id="6" name="Text 4"/>
          <p:cNvSpPr txBox="1"/>
          <p:nvPr/>
        </p:nvSpPr>
        <p:spPr>
          <a:xfrm>
            <a:off x="3703320" y="1700784"/>
            <a:ext cx="2011680" cy="292608"/>
          </a:xfrm>
          <a:prstGeom prst="rect">
            <a:avLst/>
          </a:prstGeom>
          <a:noFill/>
          <a:ln/>
        </p:spPr>
        <p:txBody>
          <a:bodyPr wrap="square" lIns="0" tIns="0" rIns="0" bIns="0" rtlCol="0" anchor="ctr"/>
          <a:lstStyle/>
          <a:p>
            <a:pPr marL="0" indent="0" algn="r">
              <a:buNone/>
            </a:pPr>
            <a:r>
              <a:rPr lang="en-US" sz="1100" b="1" dirty="0">
                <a:solidFill>
                  <a:srgbClr val="6E7C72"/>
                </a:solidFill>
                <a:latin typeface="Calibri" pitchFamily="34" charset="0"/>
                <a:ea typeface="Calibri" pitchFamily="34" charset="-122"/>
                <a:cs typeface="Calibri" pitchFamily="34" charset="-120"/>
              </a:rPr>
              <a:t>YOLO-ALDS  ·  2025  [58]</a:t>
            </a:r>
            <a:endParaRPr lang="en-US" sz="1100" dirty="0"/>
          </a:p>
        </p:txBody>
      </p:sp>
      <p:sp>
        <p:nvSpPr>
          <p:cNvPr id="7" name="Text 5"/>
          <p:cNvSpPr txBox="1"/>
          <p:nvPr/>
        </p:nvSpPr>
        <p:spPr>
          <a:xfrm>
            <a:off x="822960" y="2139696"/>
            <a:ext cx="4846320" cy="960120"/>
          </a:xfrm>
          <a:prstGeom prst="rect">
            <a:avLst/>
          </a:prstGeom>
          <a:noFill/>
          <a:ln/>
        </p:spPr>
        <p:txBody>
          <a:bodyPr wrap="square" lIns="0" tIns="0" rIns="0" bIns="0" rtlCol="0" anchor="ctr"/>
          <a:lstStyle/>
          <a:p>
            <a:pPr marL="0" indent="0">
              <a:lnSpc>
                <a:spcPct val="112000"/>
              </a:lnSpc>
              <a:buNone/>
            </a:pPr>
            <a:r>
              <a:rPr lang="en-US" sz="1200" dirty="0">
                <a:solidFill>
                  <a:srgbClr val="6E7C72"/>
                </a:solidFill>
                <a:latin typeface="Calibri" pitchFamily="34" charset="0"/>
                <a:ea typeface="Calibri" pitchFamily="34" charset="-122"/>
                <a:cs typeface="Calibri" pitchFamily="34" charset="-120"/>
              </a:rPr>
              <a:t>Instance segmentation of fruit defects, built on YOLO11. Active learning cuts labelling work by over 40%, with clear gains on white spots, proliferation and cracking.</a:t>
            </a:r>
            <a:endParaRPr lang="en-US" sz="1200" dirty="0"/>
          </a:p>
        </p:txBody>
      </p:sp>
      <p:sp>
        <p:nvSpPr>
          <p:cNvPr id="8" name="Shape 6"/>
          <p:cNvSpPr/>
          <p:nvPr/>
        </p:nvSpPr>
        <p:spPr>
          <a:xfrm>
            <a:off x="6236208" y="1517904"/>
            <a:ext cx="5404104" cy="1737360"/>
          </a:xfrm>
          <a:prstGeom prst="roundRect">
            <a:avLst>
              <a:gd name="adj" fmla="val 421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9" name="Text 7"/>
          <p:cNvSpPr txBox="1"/>
          <p:nvPr/>
        </p:nvSpPr>
        <p:spPr>
          <a:xfrm>
            <a:off x="6510528" y="1664208"/>
            <a:ext cx="2834640" cy="365760"/>
          </a:xfrm>
          <a:prstGeom prst="rect">
            <a:avLst/>
          </a:prstGeom>
          <a:noFill/>
          <a:ln/>
        </p:spPr>
        <p:txBody>
          <a:bodyPr wrap="square" lIns="0" tIns="0" rIns="0" bIns="0" rtlCol="0" anchor="ctr"/>
          <a:lstStyle/>
          <a:p>
            <a:pPr marL="0" indent="0">
              <a:buNone/>
            </a:pPr>
            <a:r>
              <a:rPr lang="en-US" sz="1800" b="1" dirty="0">
                <a:solidFill>
                  <a:srgbClr val="2C5F2D"/>
                </a:solidFill>
                <a:latin typeface="Cambria" pitchFamily="34" charset="0"/>
                <a:ea typeface="Cambria" pitchFamily="34" charset="-122"/>
                <a:cs typeface="Cambria" pitchFamily="34" charset="-120"/>
              </a:rPr>
              <a:t>+5.8 points mask mAP50</a:t>
            </a:r>
            <a:endParaRPr lang="en-US" sz="1800" dirty="0"/>
          </a:p>
        </p:txBody>
      </p:sp>
      <p:sp>
        <p:nvSpPr>
          <p:cNvPr id="10" name="Text 8"/>
          <p:cNvSpPr txBox="1"/>
          <p:nvPr/>
        </p:nvSpPr>
        <p:spPr>
          <a:xfrm>
            <a:off x="9390888" y="1700784"/>
            <a:ext cx="2011680" cy="292608"/>
          </a:xfrm>
          <a:prstGeom prst="rect">
            <a:avLst/>
          </a:prstGeom>
          <a:noFill/>
          <a:ln/>
        </p:spPr>
        <p:txBody>
          <a:bodyPr wrap="square" lIns="0" tIns="0" rIns="0" bIns="0" rtlCol="0" anchor="ctr"/>
          <a:lstStyle/>
          <a:p>
            <a:pPr marL="0" indent="0" algn="r">
              <a:buNone/>
            </a:pPr>
            <a:r>
              <a:rPr lang="en-US" sz="1100" b="1" dirty="0">
                <a:solidFill>
                  <a:srgbClr val="6E7C72"/>
                </a:solidFill>
                <a:latin typeface="Calibri" pitchFamily="34" charset="0"/>
                <a:ea typeface="Calibri" pitchFamily="34" charset="-122"/>
                <a:cs typeface="Calibri" pitchFamily="34" charset="-120"/>
              </a:rPr>
              <a:t>ACP-Tomato-Seg  ·  2025  [59]</a:t>
            </a:r>
            <a:endParaRPr lang="en-US" sz="1100" dirty="0"/>
          </a:p>
        </p:txBody>
      </p:sp>
      <p:sp>
        <p:nvSpPr>
          <p:cNvPr id="11" name="Text 9"/>
          <p:cNvSpPr txBox="1"/>
          <p:nvPr/>
        </p:nvSpPr>
        <p:spPr>
          <a:xfrm>
            <a:off x="6510528" y="2139696"/>
            <a:ext cx="4846320" cy="960120"/>
          </a:xfrm>
          <a:prstGeom prst="rect">
            <a:avLst/>
          </a:prstGeom>
          <a:noFill/>
          <a:ln/>
        </p:spPr>
        <p:txBody>
          <a:bodyPr wrap="square" lIns="0" tIns="0" rIns="0" bIns="0" rtlCol="0" anchor="ctr"/>
          <a:lstStyle/>
          <a:p>
            <a:pPr marL="0" indent="0">
              <a:lnSpc>
                <a:spcPct val="112000"/>
              </a:lnSpc>
              <a:buNone/>
            </a:pPr>
            <a:r>
              <a:rPr lang="en-US" sz="1200" dirty="0">
                <a:solidFill>
                  <a:srgbClr val="6E7C72"/>
                </a:solidFill>
                <a:latin typeface="Calibri" pitchFamily="34" charset="0"/>
                <a:ea typeface="Calibri" pitchFamily="34" charset="-122"/>
                <a:cs typeface="Calibri" pitchFamily="34" charset="-120"/>
              </a:rPr>
              <a:t>YOLOv8s-seg with AOFRM and CMPRD to handle overlap and occlusion. Six ripeness levels, for large and cherry tomatoes, on 1,061 images.</a:t>
            </a:r>
            <a:endParaRPr lang="en-US" sz="1200" dirty="0"/>
          </a:p>
        </p:txBody>
      </p:sp>
      <p:sp>
        <p:nvSpPr>
          <p:cNvPr id="12" name="Shape 10"/>
          <p:cNvSpPr/>
          <p:nvPr/>
        </p:nvSpPr>
        <p:spPr>
          <a:xfrm>
            <a:off x="548640" y="3419856"/>
            <a:ext cx="5404104" cy="1737360"/>
          </a:xfrm>
          <a:prstGeom prst="roundRect">
            <a:avLst>
              <a:gd name="adj" fmla="val 421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3" name="Text 11"/>
          <p:cNvSpPr txBox="1"/>
          <p:nvPr/>
        </p:nvSpPr>
        <p:spPr>
          <a:xfrm>
            <a:off x="822960" y="3566160"/>
            <a:ext cx="2834640" cy="365760"/>
          </a:xfrm>
          <a:prstGeom prst="rect">
            <a:avLst/>
          </a:prstGeom>
          <a:noFill/>
          <a:ln/>
        </p:spPr>
        <p:txBody>
          <a:bodyPr wrap="square" lIns="0" tIns="0" rIns="0" bIns="0" rtlCol="0" anchor="ctr"/>
          <a:lstStyle/>
          <a:p>
            <a:pPr marL="0" indent="0">
              <a:buNone/>
            </a:pPr>
            <a:r>
              <a:rPr lang="en-US" sz="1800" b="1" dirty="0">
                <a:solidFill>
                  <a:srgbClr val="2C5F2D"/>
                </a:solidFill>
                <a:latin typeface="Cambria" pitchFamily="34" charset="0"/>
                <a:ea typeface="Cambria" pitchFamily="34" charset="-122"/>
                <a:cs typeface="Cambria" pitchFamily="34" charset="-120"/>
              </a:rPr>
              <a:t>97.8 / 79.1</a:t>
            </a:r>
            <a:endParaRPr lang="en-US" sz="1800" dirty="0"/>
          </a:p>
        </p:txBody>
      </p:sp>
      <p:sp>
        <p:nvSpPr>
          <p:cNvPr id="14" name="Text 12"/>
          <p:cNvSpPr txBox="1"/>
          <p:nvPr/>
        </p:nvSpPr>
        <p:spPr>
          <a:xfrm>
            <a:off x="3703320" y="3602736"/>
            <a:ext cx="2011680" cy="292608"/>
          </a:xfrm>
          <a:prstGeom prst="rect">
            <a:avLst/>
          </a:prstGeom>
          <a:noFill/>
          <a:ln/>
        </p:spPr>
        <p:txBody>
          <a:bodyPr wrap="square" lIns="0" tIns="0" rIns="0" bIns="0" rtlCol="0" anchor="ctr"/>
          <a:lstStyle/>
          <a:p>
            <a:pPr marL="0" indent="0" algn="r">
              <a:buNone/>
            </a:pPr>
            <a:r>
              <a:rPr lang="en-US" sz="1100" b="1" dirty="0">
                <a:solidFill>
                  <a:srgbClr val="6E7C72"/>
                </a:solidFill>
                <a:latin typeface="Calibri" pitchFamily="34" charset="0"/>
                <a:ea typeface="Calibri" pitchFamily="34" charset="-122"/>
                <a:cs typeface="Calibri" pitchFamily="34" charset="-120"/>
              </a:rPr>
              <a:t>YOLO-MSRF  ·  2026  [60]</a:t>
            </a:r>
            <a:endParaRPr lang="en-US" sz="1100" dirty="0"/>
          </a:p>
        </p:txBody>
      </p:sp>
      <p:sp>
        <p:nvSpPr>
          <p:cNvPr id="15" name="Text 13"/>
          <p:cNvSpPr txBox="1"/>
          <p:nvPr/>
        </p:nvSpPr>
        <p:spPr>
          <a:xfrm>
            <a:off x="822960" y="4041648"/>
            <a:ext cx="4846320" cy="960120"/>
          </a:xfrm>
          <a:prstGeom prst="rect">
            <a:avLst/>
          </a:prstGeom>
          <a:noFill/>
          <a:ln/>
        </p:spPr>
        <p:txBody>
          <a:bodyPr wrap="square" lIns="0" tIns="0" rIns="0" bIns="0" rtlCol="0" anchor="ctr"/>
          <a:lstStyle/>
          <a:p>
            <a:pPr marL="0" indent="0">
              <a:lnSpc>
                <a:spcPct val="112000"/>
              </a:lnSpc>
              <a:buNone/>
            </a:pPr>
            <a:r>
              <a:rPr lang="en-US" sz="1200" dirty="0">
                <a:solidFill>
                  <a:srgbClr val="6E7C72"/>
                </a:solidFill>
                <a:latin typeface="Calibri" pitchFamily="34" charset="0"/>
                <a:ea typeface="Calibri" pitchFamily="34" charset="-122"/>
                <a:cs typeface="Calibri" pitchFamily="34" charset="-120"/>
              </a:rPr>
              <a:t>Segmentation plus counting plus size estimation, under four lighting conditions: natural, artificial, low light and sodium lamp.</a:t>
            </a:r>
            <a:endParaRPr lang="en-US" sz="1200" dirty="0"/>
          </a:p>
        </p:txBody>
      </p:sp>
      <p:sp>
        <p:nvSpPr>
          <p:cNvPr id="16" name="Shape 14"/>
          <p:cNvSpPr/>
          <p:nvPr/>
        </p:nvSpPr>
        <p:spPr>
          <a:xfrm>
            <a:off x="6236208" y="3419856"/>
            <a:ext cx="5404104" cy="1737360"/>
          </a:xfrm>
          <a:prstGeom prst="roundRect">
            <a:avLst>
              <a:gd name="adj" fmla="val 421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7" name="Text 15"/>
          <p:cNvSpPr txBox="1"/>
          <p:nvPr/>
        </p:nvSpPr>
        <p:spPr>
          <a:xfrm>
            <a:off x="6510528" y="3566160"/>
            <a:ext cx="2834640" cy="365760"/>
          </a:xfrm>
          <a:prstGeom prst="rect">
            <a:avLst/>
          </a:prstGeom>
          <a:noFill/>
          <a:ln/>
        </p:spPr>
        <p:txBody>
          <a:bodyPr wrap="square" lIns="0" tIns="0" rIns="0" bIns="0" rtlCol="0" anchor="ctr"/>
          <a:lstStyle/>
          <a:p>
            <a:pPr marL="0" indent="0">
              <a:buNone/>
            </a:pPr>
            <a:r>
              <a:rPr lang="en-US" sz="1800" b="1" dirty="0">
                <a:solidFill>
                  <a:srgbClr val="2C5F2D"/>
                </a:solidFill>
                <a:latin typeface="Cambria" pitchFamily="34" charset="0"/>
                <a:ea typeface="Cambria" pitchFamily="34" charset="-122"/>
                <a:cs typeface="Cambria" pitchFamily="34" charset="-120"/>
              </a:rPr>
              <a:t>2.96% boundary error</a:t>
            </a:r>
            <a:endParaRPr lang="en-US" sz="1800" dirty="0"/>
          </a:p>
        </p:txBody>
      </p:sp>
      <p:sp>
        <p:nvSpPr>
          <p:cNvPr id="18" name="Text 16"/>
          <p:cNvSpPr txBox="1"/>
          <p:nvPr/>
        </p:nvSpPr>
        <p:spPr>
          <a:xfrm>
            <a:off x="9390888" y="3602736"/>
            <a:ext cx="2011680" cy="292608"/>
          </a:xfrm>
          <a:prstGeom prst="rect">
            <a:avLst/>
          </a:prstGeom>
          <a:noFill/>
          <a:ln/>
        </p:spPr>
        <p:txBody>
          <a:bodyPr wrap="square" lIns="0" tIns="0" rIns="0" bIns="0" rtlCol="0" anchor="ctr"/>
          <a:lstStyle/>
          <a:p>
            <a:pPr marL="0" indent="0" algn="r">
              <a:buNone/>
            </a:pPr>
            <a:r>
              <a:rPr lang="en-US" sz="1100" b="1" dirty="0">
                <a:solidFill>
                  <a:srgbClr val="6E7C72"/>
                </a:solidFill>
                <a:latin typeface="Calibri" pitchFamily="34" charset="0"/>
                <a:ea typeface="Calibri" pitchFamily="34" charset="-122"/>
                <a:cs typeface="Calibri" pitchFamily="34" charset="-120"/>
              </a:rPr>
              <a:t>TomatoScanner  ·  2025  [61]</a:t>
            </a:r>
            <a:endParaRPr lang="en-US" sz="1100" dirty="0"/>
          </a:p>
        </p:txBody>
      </p:sp>
      <p:sp>
        <p:nvSpPr>
          <p:cNvPr id="19" name="Text 17"/>
          <p:cNvSpPr txBox="1"/>
          <p:nvPr/>
        </p:nvSpPr>
        <p:spPr>
          <a:xfrm>
            <a:off x="6510528" y="4041648"/>
            <a:ext cx="4846320" cy="960120"/>
          </a:xfrm>
          <a:prstGeom prst="rect">
            <a:avLst/>
          </a:prstGeom>
          <a:noFill/>
          <a:ln/>
        </p:spPr>
        <p:txBody>
          <a:bodyPr wrap="square" lIns="0" tIns="0" rIns="0" bIns="0" rtlCol="0" anchor="ctr"/>
          <a:lstStyle/>
          <a:p>
            <a:pPr marL="0" indent="0">
              <a:lnSpc>
                <a:spcPct val="112000"/>
              </a:lnSpc>
              <a:buNone/>
            </a:pPr>
            <a:r>
              <a:rPr lang="en-US" sz="1200" dirty="0">
                <a:solidFill>
                  <a:srgbClr val="6E7C72"/>
                </a:solidFill>
                <a:latin typeface="Calibri" pitchFamily="34" charset="0"/>
                <a:ea typeface="Calibri" pitchFamily="34" charset="-122"/>
                <a:cs typeface="Calibri" pitchFamily="34" charset="-120"/>
              </a:rPr>
              <a:t>EdgeYOLO instance segmentation from RGB only, to measure fruit phenotype. Precision 0.986, faster than Mask R-CNN and SAM2.</a:t>
            </a:r>
            <a:endParaRPr lang="en-US" sz="1200" dirty="0"/>
          </a:p>
        </p:txBody>
      </p:sp>
      <p:sp>
        <p:nvSpPr>
          <p:cNvPr id="20" name="Shape 18"/>
          <p:cNvSpPr/>
          <p:nvPr/>
        </p:nvSpPr>
        <p:spPr>
          <a:xfrm>
            <a:off x="548640" y="5358384"/>
            <a:ext cx="11091672" cy="859536"/>
          </a:xfrm>
          <a:prstGeom prst="roundRect">
            <a:avLst>
              <a:gd name="adj" fmla="val 8511"/>
            </a:avLst>
          </a:prstGeom>
          <a:solidFill>
            <a:srgbClr val="FBEBEA"/>
          </a:solidFill>
          <a:ln w="12700">
            <a:solidFill>
              <a:srgbClr val="F0D2D1"/>
            </a:solidFill>
            <a:prstDash val="solid"/>
          </a:ln>
          <a:effectLst>
            <a:outerShdw blurRad="127000" dist="25400" dir="5400000" algn="bl" rotWithShape="0">
              <a:srgbClr val="1B3A2B">
                <a:alpha val="10000"/>
              </a:srgbClr>
            </a:outerShdw>
          </a:effectLst>
        </p:spPr>
      </p:sp>
      <p:sp>
        <p:nvSpPr>
          <p:cNvPr id="21" name="Text 19"/>
          <p:cNvSpPr txBox="1"/>
          <p:nvPr/>
        </p:nvSpPr>
        <p:spPr>
          <a:xfrm>
            <a:off x="859536" y="5358384"/>
            <a:ext cx="10469880" cy="859536"/>
          </a:xfrm>
          <a:prstGeom prst="rect">
            <a:avLst/>
          </a:prstGeom>
          <a:noFill/>
          <a:ln/>
        </p:spPr>
        <p:txBody>
          <a:bodyPr wrap="square" lIns="0" tIns="0" rIns="0" bIns="0"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Very few papers train ONE multi-organ leaf and fruit network. The two communities barely meet. This is exactly research gap 8.10.</a:t>
            </a:r>
            <a:endParaRPr lang="en-US" sz="1300" dirty="0"/>
          </a:p>
        </p:txBody>
      </p:sp>
      <p:sp>
        <p:nvSpPr>
          <p:cNvPr id="22" name="Text 20"/>
          <p:cNvSpPr txBox="1"/>
          <p:nvPr/>
        </p:nvSpPr>
        <p:spPr>
          <a:xfrm>
            <a:off x="548640" y="6345936"/>
            <a:ext cx="11091672" cy="274320"/>
          </a:xfrm>
          <a:prstGeom prst="rect">
            <a:avLst/>
          </a:prstGeom>
          <a:noFill/>
          <a:ln/>
        </p:spPr>
        <p:txBody>
          <a:bodyPr wrap="square" lIns="0" tIns="0" rIns="0" bIns="0" rtlCol="0" anchor="ctr"/>
          <a:lstStyle/>
          <a:p>
            <a:pPr marL="0" indent="0" algn="l">
              <a:buNone/>
            </a:pPr>
            <a:r>
              <a:rPr lang="en-US" sz="1000" i="1" dirty="0">
                <a:solidFill>
                  <a:srgbClr val="6E7C72"/>
                </a:solidFill>
                <a:latin typeface="Calibri" pitchFamily="34" charset="0"/>
                <a:ea typeface="Calibri" pitchFamily="34" charset="-122"/>
                <a:cs typeface="Calibri" pitchFamily="34" charset="-120"/>
              </a:rPr>
              <a:t>Section 4.5  ·  [57]–[62]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6E9443"/>
                </a:solidFill>
                <a:latin typeface="Calibri" pitchFamily="34" charset="0"/>
                <a:ea typeface="Calibri" pitchFamily="34" charset="-122"/>
                <a:cs typeface="Calibri" pitchFamily="34" charset="-120"/>
              </a:rPr>
              <a:t>PART 4 · DEPLOYMENT</a:t>
            </a:r>
            <a:endParaRPr lang="en-US" sz="1100" dirty="0"/>
          </a:p>
        </p:txBody>
      </p:sp>
      <p:sp>
        <p:nvSpPr>
          <p:cNvPr id="3" name="Text 1"/>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13211B"/>
                </a:solidFill>
                <a:latin typeface="Cambria" pitchFamily="34" charset="0"/>
                <a:ea typeface="Cambria" pitchFamily="34" charset="-122"/>
                <a:cs typeface="Cambria" pitchFamily="34" charset="-120"/>
              </a:rPr>
              <a:t>Getting the model onto a real device</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1672" cy="2866136"/>
        </p:xfrm>
        <a:graphic>
          <a:graphicData uri="http://schemas.openxmlformats.org/drawingml/2006/table">
            <a:tbl>
              <a:tblPr/>
              <a:tblGrid>
                <a:gridCol w="32004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370832">
                  <a:extLst>
                    <a:ext uri="{9D8B030D-6E8A-4147-A177-3AD203B41FA5}">
                      <a16:colId xmlns:a16="http://schemas.microsoft.com/office/drawing/2014/main" val="20003"/>
                    </a:ext>
                  </a:extLst>
                </a:gridCol>
              </a:tblGrid>
              <a:tr h="402336">
                <a:tc>
                  <a:txBody>
                    <a:bodyPr/>
                    <a:lstStyle/>
                    <a:p>
                      <a:pPr marL="0" indent="0">
                        <a:buNone/>
                      </a:pPr>
                      <a:r>
                        <a:rPr lang="en-US" sz="1150" b="1" dirty="0">
                          <a:solidFill>
                            <a:srgbClr val="13211B"/>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b="1" dirty="0">
                          <a:solidFill>
                            <a:srgbClr val="13211B"/>
                          </a:solidFill>
                          <a:latin typeface="Calibri" pitchFamily="34" charset="0"/>
                          <a:ea typeface="Calibri" pitchFamily="34" charset="-122"/>
                          <a:cs typeface="Calibri" pitchFamily="34" charset="-120"/>
                        </a:rPr>
                        <a:t>Year</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b="1" dirty="0">
                          <a:solidFill>
                            <a:srgbClr val="13211B"/>
                          </a:solidFill>
                          <a:latin typeface="Calibri" pitchFamily="34" charset="0"/>
                          <a:ea typeface="Calibri" pitchFamily="34" charset="-122"/>
                          <a:cs typeface="Calibri" pitchFamily="34" charset="-120"/>
                        </a:rPr>
                        <a:t>Accuracy / mAP</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b="1" dirty="0">
                          <a:solidFill>
                            <a:srgbClr val="13211B"/>
                          </a:solidFill>
                          <a:latin typeface="Calibri" pitchFamily="34" charset="0"/>
                          <a:ea typeface="Calibri" pitchFamily="34" charset="-122"/>
                          <a:cs typeface="Calibri" pitchFamily="34" charset="-120"/>
                        </a:rPr>
                        <a:t>Resources</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02336">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MobilePlantViT</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2026</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99.40% ± 0.12</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Peak RAM ~130 MB · ~10 FPS on Raspberry Pi 5 · proposes the PSS metric</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YOLO-TGI-N (Ghost + CBAM)</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2024</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mAP 0.72 (greenhouse)</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2.05 GFLOPs · 3.7 MB checkpoint</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LeafDet (YOLOv8n+)</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2026</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91.6% mAP50</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2.69M parameters · 2.4 ms per image</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150" b="1" dirty="0">
                          <a:solidFill>
                            <a:srgbClr val="2C5F2D"/>
                          </a:solidFill>
                          <a:latin typeface="Calibri" pitchFamily="34" charset="0"/>
                          <a:ea typeface="Calibri" pitchFamily="34" charset="-122"/>
                          <a:cs typeface="Calibri" pitchFamily="34" charset="-120"/>
                        </a:rPr>
                        <a:t>INT8 distilled tomato</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2C5F2D"/>
                          </a:solidFill>
                          <a:latin typeface="Calibri" pitchFamily="34" charset="0"/>
                          <a:ea typeface="Calibri" pitchFamily="34" charset="-122"/>
                          <a:cs typeface="Calibri" pitchFamily="34" charset="-120"/>
                        </a:rPr>
                        <a:t>2025</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2C5F2D"/>
                          </a:solidFill>
                          <a:latin typeface="Calibri" pitchFamily="34" charset="0"/>
                          <a:ea typeface="Calibri" pitchFamily="34" charset="-122"/>
                          <a:cs typeface="Calibri" pitchFamily="34" charset="-120"/>
                        </a:rPr>
                        <a:t>97.46% (15 classes, cross-domain)</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2C5F2D"/>
                          </a:solidFill>
                          <a:latin typeface="Calibri" pitchFamily="34" charset="0"/>
                          <a:ea typeface="Calibri" pitchFamily="34" charset="-122"/>
                          <a:cs typeface="Calibri" pitchFamily="34" charset="-120"/>
                        </a:rPr>
                        <a:t>1.46 MB · 0.29 ms per image — only ~1.07 points below FP32</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Compressed ViT (prune + QAT + KD)</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2026</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95.13%</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6.01 MB, ×54.5 smaller than the original 327.42 MB</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MiniTomatoNet (FPGA-SoC)</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2025</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97.63%</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tc>
                  <a:txBody>
                    <a:bodyPr/>
                    <a:lstStyle/>
                    <a:p>
                      <a:pPr marL="0" indent="0">
                        <a:buNone/>
                      </a:pPr>
                      <a:r>
                        <a:rPr lang="en-US" sz="1150" dirty="0">
                          <a:solidFill>
                            <a:srgbClr val="13211B"/>
                          </a:solidFill>
                          <a:latin typeface="Calibri" pitchFamily="34" charset="0"/>
                          <a:ea typeface="Calibri" pitchFamily="34" charset="-122"/>
                          <a:cs typeface="Calibri" pitchFamily="34" charset="-120"/>
                        </a:rPr>
                        <a:t>23K parameters · 89.5 KB · 2.35 W on a PYNQ-Z1</a:t>
                      </a:r>
                      <a:endParaRPr lang="en-US" sz="1150" dirty="0">
                        <a:latin typeface="Calibri" charset="0"/>
                        <a:ea typeface="Calibri" charset="0"/>
                        <a:cs typeface="Calibri" charset="0"/>
                      </a:endParaRPr>
                    </a:p>
                  </a:txBody>
                  <a:tcPr marL="101600" marR="101600" marT="50800" marB="50800" anchor="ctr">
                    <a:lnL w="12700" cap="flat" cmpd="sng" algn="ctr">
                      <a:solidFill>
                        <a:srgbClr val="D9E2D2"/>
                      </a:solidFill>
                      <a:prstDash val="solid"/>
                      <a:round/>
                      <a:headEnd type="none" w="med" len="med"/>
                      <a:tailEnd type="none" w="med" len="med"/>
                    </a:lnL>
                    <a:lnR w="12700" cap="flat" cmpd="sng" algn="ctr">
                      <a:solidFill>
                        <a:srgbClr val="D9E2D2"/>
                      </a:solidFill>
                      <a:prstDash val="solid"/>
                      <a:round/>
                      <a:headEnd type="none" w="med" len="med"/>
                      <a:tailEnd type="none" w="med" len="med"/>
                    </a:lnR>
                    <a:lnT w="12700" cap="flat" cmpd="sng" algn="ctr">
                      <a:solidFill>
                        <a:srgbClr val="D9E2D2"/>
                      </a:solidFill>
                      <a:prstDash val="solid"/>
                      <a:round/>
                      <a:headEnd type="none" w="med" len="med"/>
                      <a:tailEnd type="none" w="med" len="med"/>
                    </a:lnT>
                    <a:lnB w="12700" cap="flat" cmpd="sng" algn="ctr">
                      <a:solidFill>
                        <a:srgbClr val="D9E2D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548640" y="4754880"/>
            <a:ext cx="11091672" cy="1335024"/>
          </a:xfrm>
          <a:prstGeom prst="roundRect">
            <a:avLst>
              <a:gd name="adj" fmla="val 5479"/>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6" name="Text 3"/>
          <p:cNvSpPr txBox="1"/>
          <p:nvPr/>
        </p:nvSpPr>
        <p:spPr>
          <a:xfrm>
            <a:off x="859536" y="4919472"/>
            <a:ext cx="10469880" cy="292608"/>
          </a:xfrm>
          <a:prstGeom prst="rect">
            <a:avLst/>
          </a:prstGeom>
          <a:noFill/>
          <a:ln/>
        </p:spPr>
        <p:txBody>
          <a:bodyPr wrap="square" lIns="0" tIns="0" rIns="0" bIns="0" rtlCol="0" anchor="ctr"/>
          <a:lstStyle/>
          <a:p>
            <a:pPr marL="0" indent="0">
              <a:buNone/>
            </a:pPr>
            <a:r>
              <a:rPr lang="en-US" sz="1350" b="1" dirty="0">
                <a:solidFill>
                  <a:srgbClr val="2C5F2D"/>
                </a:solidFill>
                <a:latin typeface="Calibri" pitchFamily="34" charset="0"/>
                <a:ea typeface="Calibri" pitchFamily="34" charset="-122"/>
                <a:cs typeface="Calibri" pitchFamily="34" charset="-120"/>
              </a:rPr>
              <a:t>Deployment lesson — four platforms compared: Raspberry Pi 4, Coral USB, Jetson Orin Nano and AGX Orin</a:t>
            </a:r>
            <a:endParaRPr lang="en-US" sz="1350" dirty="0"/>
          </a:p>
        </p:txBody>
      </p:sp>
      <p:sp>
        <p:nvSpPr>
          <p:cNvPr id="7" name="Text 4"/>
          <p:cNvSpPr txBox="1"/>
          <p:nvPr/>
        </p:nvSpPr>
        <p:spPr>
          <a:xfrm>
            <a:off x="859536" y="5266944"/>
            <a:ext cx="10469880" cy="694944"/>
          </a:xfrm>
          <a:prstGeom prst="rect">
            <a:avLst/>
          </a:prstGeom>
          <a:noFill/>
          <a:ln/>
        </p:spPr>
        <p:txBody>
          <a:bodyPr wrap="square" lIns="0" tIns="0" rIns="0" bIns="0" rtlCol="0" anchor="ctr"/>
          <a:lstStyle/>
          <a:p>
            <a:pPr marL="0" indent="0">
              <a:lnSpc>
                <a:spcPct val="112000"/>
              </a:lnSpc>
              <a:buNone/>
            </a:pPr>
            <a:r>
              <a:rPr lang="en-US" sz="1250" dirty="0">
                <a:solidFill>
                  <a:srgbClr val="13211B"/>
                </a:solidFill>
                <a:latin typeface="Calibri" pitchFamily="34" charset="0"/>
                <a:ea typeface="Calibri" pitchFamily="34" charset="-122"/>
                <a:cs typeface="Calibri" pitchFamily="34" charset="-120"/>
              </a:rPr>
              <a:t>Best accuracy is about 98.25% (GoogleNet, MobileNetV2). Fastest is about 3.5 ms per image (AGX + SqueezeNet). Use ONNX for portability, Docker for reproducibility, and do not lock yourself into one GPU vendor.</a:t>
            </a:r>
            <a:endParaRPr lang="en-US" sz="1250" dirty="0"/>
          </a:p>
        </p:txBody>
      </p:sp>
      <p:sp>
        <p:nvSpPr>
          <p:cNvPr id="8" name="Text 5"/>
          <p:cNvSpPr txBox="1"/>
          <p:nvPr/>
        </p:nvSpPr>
        <p:spPr>
          <a:xfrm>
            <a:off x="548640" y="6345936"/>
            <a:ext cx="11091672" cy="274320"/>
          </a:xfrm>
          <a:prstGeom prst="rect">
            <a:avLst/>
          </a:prstGeom>
          <a:noFill/>
          <a:ln/>
        </p:spPr>
        <p:txBody>
          <a:bodyPr wrap="square" lIns="0" tIns="0" rIns="0" bIns="0" rtlCol="0" anchor="ctr"/>
          <a:lstStyle/>
          <a:p>
            <a:pPr marL="0" indent="0" algn="l">
              <a:buNone/>
            </a:pPr>
            <a:r>
              <a:rPr lang="en-US" sz="1000" i="1" dirty="0">
                <a:solidFill>
                  <a:srgbClr val="6E7C72"/>
                </a:solidFill>
                <a:latin typeface="Calibri" pitchFamily="34" charset="0"/>
                <a:ea typeface="Calibri" pitchFamily="34" charset="-122"/>
                <a:cs typeface="Calibri" pitchFamily="34" charset="-120"/>
              </a:rPr>
              <a:t>Section 5, Table 2  ·  [23], [24], [28]–[30], [64], [68]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6E9443"/>
                </a:solidFill>
                <a:latin typeface="Calibri" pitchFamily="34" charset="0"/>
                <a:ea typeface="Calibri" pitchFamily="34" charset="-122"/>
                <a:cs typeface="Calibri" pitchFamily="34" charset="-120"/>
              </a:rPr>
              <a:t>PART 4 · DEPLOYMENT</a:t>
            </a:r>
            <a:endParaRPr lang="en-US" sz="1100" dirty="0"/>
          </a:p>
        </p:txBody>
      </p:sp>
      <p:sp>
        <p:nvSpPr>
          <p:cNvPr id="3" name="Text 1"/>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13211B"/>
                </a:solidFill>
                <a:latin typeface="Cambria" pitchFamily="34" charset="0"/>
                <a:ea typeface="Cambria" pitchFamily="34" charset="-122"/>
                <a:cs typeface="Cambria" pitchFamily="34" charset="-120"/>
              </a:rPr>
              <a:t>Quantization: PTQ is cheap, QAT is safe</a:t>
            </a:r>
            <a:endParaRPr lang="en-US" sz="3000" dirty="0"/>
          </a:p>
        </p:txBody>
      </p:sp>
      <p:sp>
        <p:nvSpPr>
          <p:cNvPr id="4" name="Shape 2"/>
          <p:cNvSpPr/>
          <p:nvPr/>
        </p:nvSpPr>
        <p:spPr>
          <a:xfrm>
            <a:off x="548640" y="1481328"/>
            <a:ext cx="11091672" cy="713232"/>
          </a:xfrm>
          <a:prstGeom prst="roundRect">
            <a:avLst>
              <a:gd name="adj" fmla="val 10256"/>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5" name="Text 3"/>
          <p:cNvSpPr txBox="1"/>
          <p:nvPr/>
        </p:nvSpPr>
        <p:spPr>
          <a:xfrm>
            <a:off x="859536" y="1481328"/>
            <a:ext cx="6035040" cy="713232"/>
          </a:xfrm>
          <a:prstGeom prst="rect">
            <a:avLst/>
          </a:prstGeom>
          <a:noFill/>
          <a:ln/>
        </p:spPr>
        <p:txBody>
          <a:bodyPr wrap="square" lIns="0" tIns="0" rIns="0" bIns="0" rtlCol="0" anchor="ctr"/>
          <a:lstStyle/>
          <a:p>
            <a:pPr marL="0" indent="0">
              <a:buNone/>
            </a:pPr>
            <a:r>
              <a:rPr lang="en-US" sz="1300" b="1" dirty="0">
                <a:solidFill>
                  <a:srgbClr val="13211B"/>
                </a:solidFill>
                <a:latin typeface="Consolas" pitchFamily="34" charset="0"/>
                <a:ea typeface="Consolas" pitchFamily="34" charset="-122"/>
                <a:cs typeface="Consolas" pitchFamily="34" charset="-120"/>
              </a:rPr>
              <a:t>x_q = clip( round(x/s) + z, 0, 2^b−1 )      x ≈ s·(x_q − z)</a:t>
            </a:r>
            <a:endParaRPr lang="en-US" sz="1300" dirty="0"/>
          </a:p>
        </p:txBody>
      </p:sp>
      <p:sp>
        <p:nvSpPr>
          <p:cNvPr id="6" name="Text 4"/>
          <p:cNvSpPr txBox="1"/>
          <p:nvPr/>
        </p:nvSpPr>
        <p:spPr>
          <a:xfrm>
            <a:off x="6949440" y="1481328"/>
            <a:ext cx="4480560" cy="713232"/>
          </a:xfrm>
          <a:prstGeom prst="rect">
            <a:avLst/>
          </a:prstGeom>
          <a:noFill/>
          <a:ln/>
        </p:spPr>
        <p:txBody>
          <a:bodyPr wrap="square" lIns="0" tIns="0" rIns="0" bIns="0" rtlCol="0" anchor="ctr"/>
          <a:lstStyle/>
          <a:p>
            <a:pPr marL="0" indent="0" algn="r">
              <a:buNone/>
            </a:pPr>
            <a:r>
              <a:rPr lang="en-US" sz="1200" i="1" dirty="0">
                <a:solidFill>
                  <a:srgbClr val="6E7C72"/>
                </a:solidFill>
                <a:latin typeface="Calibri" pitchFamily="34" charset="0"/>
                <a:ea typeface="Calibri" pitchFamily="34" charset="-122"/>
                <a:cs typeface="Calibri" pitchFamily="34" charset="-120"/>
              </a:rPr>
              <a:t>s = scale  ·  z = zero-point  ·  b = bit width (usually INT8)</a:t>
            </a:r>
            <a:endParaRPr lang="en-US" sz="1200" dirty="0"/>
          </a:p>
        </p:txBody>
      </p:sp>
      <p:sp>
        <p:nvSpPr>
          <p:cNvPr id="7" name="Shape 5"/>
          <p:cNvSpPr/>
          <p:nvPr/>
        </p:nvSpPr>
        <p:spPr>
          <a:xfrm>
            <a:off x="548640" y="2395728"/>
            <a:ext cx="5404104" cy="2121408"/>
          </a:xfrm>
          <a:prstGeom prst="roundRect">
            <a:avLst>
              <a:gd name="adj" fmla="val 3448"/>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8" name="Shape 6"/>
          <p:cNvSpPr/>
          <p:nvPr/>
        </p:nvSpPr>
        <p:spPr>
          <a:xfrm>
            <a:off x="822960" y="2596896"/>
            <a:ext cx="786384" cy="329184"/>
          </a:xfrm>
          <a:prstGeom prst="roundRect">
            <a:avLst>
              <a:gd name="adj" fmla="val 13889"/>
            </a:avLst>
          </a:prstGeom>
          <a:solidFill>
            <a:srgbClr val="6E7C72"/>
          </a:solidFill>
          <a:ln w="12700">
            <a:solidFill>
              <a:srgbClr val="333333"/>
            </a:solidFill>
            <a:prstDash val="solid"/>
          </a:ln>
        </p:spPr>
      </p:sp>
      <p:sp>
        <p:nvSpPr>
          <p:cNvPr id="9" name="Text 7"/>
          <p:cNvSpPr txBox="1"/>
          <p:nvPr/>
        </p:nvSpPr>
        <p:spPr>
          <a:xfrm>
            <a:off x="822960" y="2596896"/>
            <a:ext cx="7863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PTQ</a:t>
            </a:r>
            <a:endParaRPr lang="en-US" sz="1200" dirty="0"/>
          </a:p>
        </p:txBody>
      </p:sp>
      <p:sp>
        <p:nvSpPr>
          <p:cNvPr id="10" name="Text 8"/>
          <p:cNvSpPr txBox="1"/>
          <p:nvPr/>
        </p:nvSpPr>
        <p:spPr>
          <a:xfrm>
            <a:off x="1700784" y="2596896"/>
            <a:ext cx="3931920" cy="329184"/>
          </a:xfrm>
          <a:prstGeom prst="rect">
            <a:avLst/>
          </a:prstGeom>
          <a:noFill/>
          <a:ln/>
        </p:spPr>
        <p:txBody>
          <a:bodyPr wrap="square" lIns="0" tIns="0" rIns="0" bIns="0" rtlCol="0" anchor="ctr"/>
          <a:lstStyle/>
          <a:p>
            <a:pPr marL="0" indent="0">
              <a:buNone/>
            </a:pPr>
            <a:r>
              <a:rPr lang="en-US" sz="1250" b="1" dirty="0">
                <a:solidFill>
                  <a:srgbClr val="13211B"/>
                </a:solidFill>
                <a:latin typeface="Calibri" pitchFamily="34" charset="0"/>
                <a:ea typeface="Calibri" pitchFamily="34" charset="-122"/>
                <a:cs typeface="Calibri" pitchFamily="34" charset="-120"/>
              </a:rPr>
              <a:t>Post-Training Quantization</a:t>
            </a:r>
            <a:endParaRPr lang="en-US" sz="1250" dirty="0"/>
          </a:p>
        </p:txBody>
      </p:sp>
      <p:sp>
        <p:nvSpPr>
          <p:cNvPr id="11" name="Text 9"/>
          <p:cNvSpPr txBox="1"/>
          <p:nvPr/>
        </p:nvSpPr>
        <p:spPr>
          <a:xfrm>
            <a:off x="822960" y="3035808"/>
            <a:ext cx="4846320" cy="1371600"/>
          </a:xfrm>
          <a:prstGeom prst="rect">
            <a:avLst/>
          </a:prstGeom>
          <a:noFill/>
          <a:ln/>
        </p:spPr>
        <p:txBody>
          <a:bodyPr wrap="square" lIns="0" tIns="0" rIns="0" bIns="0" rtlCol="0" anchor="ctr"/>
          <a:lstStyle/>
          <a:p>
            <a:pPr marL="0" indent="0">
              <a:lnSpc>
                <a:spcPct val="114000"/>
              </a:lnSpc>
              <a:spcAft>
                <a:spcPts val="500"/>
              </a:spcAft>
              <a:buNone/>
            </a:pPr>
            <a:r>
              <a:rPr lang="en-US" sz="1150" dirty="0">
                <a:solidFill>
                  <a:srgbClr val="13211B"/>
                </a:solidFill>
                <a:latin typeface="Calibri" pitchFamily="34" charset="0"/>
                <a:ea typeface="Calibri" pitchFamily="34" charset="-122"/>
                <a:cs typeface="Calibri" pitchFamily="34" charset="-120"/>
              </a:rPr>
              <a:t>Calibrate s and z on a small calibration set AFTER the network is fully trained.</a:t>
            </a:r>
            <a:endParaRPr lang="en-US" sz="1150" dirty="0"/>
          </a:p>
          <a:p>
            <a:pPr marL="0" indent="0">
              <a:lnSpc>
                <a:spcPct val="114000"/>
              </a:lnSpc>
              <a:spcAft>
                <a:spcPts val="500"/>
              </a:spcAft>
              <a:buNone/>
            </a:pPr>
            <a:r>
              <a:rPr lang="en-US" sz="1150" b="1" dirty="0">
                <a:solidFill>
                  <a:srgbClr val="2C5F2D"/>
                </a:solidFill>
                <a:latin typeface="Calibri" pitchFamily="34" charset="0"/>
                <a:ea typeface="Calibri" pitchFamily="34" charset="-122"/>
                <a:cs typeface="Calibri" pitchFamily="34" charset="-120"/>
              </a:rPr>
              <a:t>+  Cheap and fast. No retraining needed.</a:t>
            </a:r>
            <a:endParaRPr lang="en-US" sz="1150" dirty="0"/>
          </a:p>
          <a:p>
            <a:pPr marL="0" indent="0">
              <a:lnSpc>
                <a:spcPct val="114000"/>
              </a:lnSpc>
              <a:spcAft>
                <a:spcPts val="500"/>
              </a:spcAft>
              <a:buNone/>
            </a:pPr>
            <a:r>
              <a:rPr lang="en-US" sz="1150" dirty="0">
                <a:solidFill>
                  <a:srgbClr val="C62828"/>
                </a:solidFill>
                <a:latin typeface="Calibri" pitchFamily="34" charset="0"/>
                <a:ea typeface="Calibri" pitchFamily="34" charset="-122"/>
                <a:cs typeface="Calibri" pitchFamily="34" charset="-120"/>
              </a:rPr>
              <a:t>−  Loses accuracy on rare disease classes and small lesions.</a:t>
            </a:r>
            <a:endParaRPr lang="en-US" sz="1150" dirty="0"/>
          </a:p>
        </p:txBody>
      </p:sp>
      <p:sp>
        <p:nvSpPr>
          <p:cNvPr id="12" name="Shape 10"/>
          <p:cNvSpPr/>
          <p:nvPr/>
        </p:nvSpPr>
        <p:spPr>
          <a:xfrm>
            <a:off x="6236208" y="2395728"/>
            <a:ext cx="5404104" cy="2121408"/>
          </a:xfrm>
          <a:prstGeom prst="roundRect">
            <a:avLst>
              <a:gd name="adj" fmla="val 3448"/>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3" name="Shape 11"/>
          <p:cNvSpPr/>
          <p:nvPr/>
        </p:nvSpPr>
        <p:spPr>
          <a:xfrm>
            <a:off x="6510528" y="2596896"/>
            <a:ext cx="786384" cy="329184"/>
          </a:xfrm>
          <a:prstGeom prst="roundRect">
            <a:avLst>
              <a:gd name="adj" fmla="val 13889"/>
            </a:avLst>
          </a:prstGeom>
          <a:solidFill>
            <a:srgbClr val="2C5F2D"/>
          </a:solidFill>
          <a:ln w="12700">
            <a:solidFill>
              <a:srgbClr val="333333"/>
            </a:solidFill>
            <a:prstDash val="solid"/>
          </a:ln>
        </p:spPr>
      </p:sp>
      <p:sp>
        <p:nvSpPr>
          <p:cNvPr id="14" name="Text 12"/>
          <p:cNvSpPr txBox="1"/>
          <p:nvPr/>
        </p:nvSpPr>
        <p:spPr>
          <a:xfrm>
            <a:off x="6510528" y="2596896"/>
            <a:ext cx="7863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a:t>
            </a:r>
            <a:endParaRPr lang="en-US" sz="1200" dirty="0"/>
          </a:p>
        </p:txBody>
      </p:sp>
      <p:sp>
        <p:nvSpPr>
          <p:cNvPr id="15" name="Text 13"/>
          <p:cNvSpPr txBox="1"/>
          <p:nvPr/>
        </p:nvSpPr>
        <p:spPr>
          <a:xfrm>
            <a:off x="7388352" y="2596896"/>
            <a:ext cx="3931920" cy="329184"/>
          </a:xfrm>
          <a:prstGeom prst="rect">
            <a:avLst/>
          </a:prstGeom>
          <a:noFill/>
          <a:ln/>
        </p:spPr>
        <p:txBody>
          <a:bodyPr wrap="square" lIns="0" tIns="0" rIns="0" bIns="0" rtlCol="0" anchor="ctr"/>
          <a:lstStyle/>
          <a:p>
            <a:pPr marL="0" indent="0">
              <a:buNone/>
            </a:pPr>
            <a:r>
              <a:rPr lang="en-US" sz="1250" b="1" dirty="0">
                <a:solidFill>
                  <a:srgbClr val="13211B"/>
                </a:solidFill>
                <a:latin typeface="Calibri" pitchFamily="34" charset="0"/>
                <a:ea typeface="Calibri" pitchFamily="34" charset="-122"/>
                <a:cs typeface="Calibri" pitchFamily="34" charset="-120"/>
              </a:rPr>
              <a:t>Quantization-Aware Training</a:t>
            </a:r>
            <a:endParaRPr lang="en-US" sz="1250" dirty="0"/>
          </a:p>
        </p:txBody>
      </p:sp>
      <p:sp>
        <p:nvSpPr>
          <p:cNvPr id="16" name="Text 14"/>
          <p:cNvSpPr txBox="1"/>
          <p:nvPr/>
        </p:nvSpPr>
        <p:spPr>
          <a:xfrm>
            <a:off x="6510528" y="3035808"/>
            <a:ext cx="4846320" cy="1371600"/>
          </a:xfrm>
          <a:prstGeom prst="rect">
            <a:avLst/>
          </a:prstGeom>
          <a:noFill/>
          <a:ln/>
        </p:spPr>
        <p:txBody>
          <a:bodyPr wrap="square" lIns="0" tIns="0" rIns="0" bIns="0" rtlCol="0" anchor="ctr"/>
          <a:lstStyle/>
          <a:p>
            <a:pPr marL="0" indent="0">
              <a:lnSpc>
                <a:spcPct val="114000"/>
              </a:lnSpc>
              <a:spcAft>
                <a:spcPts val="500"/>
              </a:spcAft>
              <a:buNone/>
            </a:pPr>
            <a:r>
              <a:rPr lang="en-US" sz="1150" dirty="0">
                <a:solidFill>
                  <a:srgbClr val="13211B"/>
                </a:solidFill>
                <a:latin typeface="Calibri" pitchFamily="34" charset="0"/>
                <a:ea typeface="Calibri" pitchFamily="34" charset="-122"/>
                <a:cs typeface="Calibri" pitchFamily="34" charset="-120"/>
              </a:rPr>
              <a:t>Insert “fake quant” into the forward pass during training. A Straight-Through Estimator carries gradients through the round function.</a:t>
            </a:r>
            <a:endParaRPr lang="en-US" sz="1150" dirty="0"/>
          </a:p>
          <a:p>
            <a:pPr marL="0" indent="0">
              <a:lnSpc>
                <a:spcPct val="114000"/>
              </a:lnSpc>
              <a:spcAft>
                <a:spcPts val="500"/>
              </a:spcAft>
              <a:buNone/>
            </a:pPr>
            <a:r>
              <a:rPr lang="en-US" sz="1150" b="1" dirty="0">
                <a:solidFill>
                  <a:srgbClr val="2C5F2D"/>
                </a:solidFill>
                <a:latin typeface="Calibri" pitchFamily="34" charset="0"/>
                <a:ea typeface="Calibri" pitchFamily="34" charset="-122"/>
                <a:cs typeface="Calibri" pitchFamily="34" charset="-120"/>
              </a:rPr>
              <a:t>+  The network learns to live with quantization noise, so the accuracy drop is smaller than PTQ.</a:t>
            </a:r>
            <a:endParaRPr lang="en-US" sz="1150" dirty="0"/>
          </a:p>
          <a:p>
            <a:pPr marL="0" indent="0">
              <a:lnSpc>
                <a:spcPct val="114000"/>
              </a:lnSpc>
              <a:spcAft>
                <a:spcPts val="500"/>
              </a:spcAft>
              <a:buNone/>
            </a:pPr>
            <a:r>
              <a:rPr lang="en-US" sz="1150" dirty="0">
                <a:solidFill>
                  <a:srgbClr val="C62828"/>
                </a:solidFill>
                <a:latin typeface="Calibri" pitchFamily="34" charset="0"/>
                <a:ea typeface="Calibri" pitchFamily="34" charset="-122"/>
                <a:cs typeface="Calibri" pitchFamily="34" charset="-120"/>
              </a:rPr>
              <a:t>−  More expensive to train.</a:t>
            </a:r>
            <a:endParaRPr lang="en-US" sz="1150" dirty="0"/>
          </a:p>
        </p:txBody>
      </p:sp>
      <p:sp>
        <p:nvSpPr>
          <p:cNvPr id="17" name="Shape 15"/>
          <p:cNvSpPr/>
          <p:nvPr/>
        </p:nvSpPr>
        <p:spPr>
          <a:xfrm>
            <a:off x="548640" y="4700016"/>
            <a:ext cx="3429000" cy="1005840"/>
          </a:xfrm>
          <a:prstGeom prst="roundRect">
            <a:avLst>
              <a:gd name="adj" fmla="val 7273"/>
            </a:avLst>
          </a:prstGeom>
          <a:solidFill>
            <a:srgbClr val="EAF1E4"/>
          </a:solidFill>
          <a:ln w="12700">
            <a:solidFill>
              <a:srgbClr val="D9E2D2"/>
            </a:solidFill>
            <a:prstDash val="solid"/>
          </a:ln>
          <a:effectLst>
            <a:outerShdw blurRad="127000" dist="25400" dir="5400000" algn="bl" rotWithShape="0">
              <a:srgbClr val="1B3A2B">
                <a:alpha val="10000"/>
              </a:srgbClr>
            </a:outerShdw>
          </a:effectLst>
        </p:spPr>
      </p:sp>
      <p:sp>
        <p:nvSpPr>
          <p:cNvPr id="18" name="Text 16"/>
          <p:cNvSpPr txBox="1"/>
          <p:nvPr/>
        </p:nvSpPr>
        <p:spPr>
          <a:xfrm>
            <a:off x="786384" y="4791456"/>
            <a:ext cx="2971800" cy="365760"/>
          </a:xfrm>
          <a:prstGeom prst="rect">
            <a:avLst/>
          </a:prstGeom>
          <a:noFill/>
          <a:ln/>
        </p:spPr>
        <p:txBody>
          <a:bodyPr wrap="square" lIns="0" tIns="0" rIns="0" bIns="0" rtlCol="0" anchor="ctr"/>
          <a:lstStyle/>
          <a:p>
            <a:pPr marL="0" indent="0">
              <a:buNone/>
            </a:pPr>
            <a:r>
              <a:rPr lang="en-US" sz="2000" b="1" dirty="0">
                <a:solidFill>
                  <a:srgbClr val="2C5F2D"/>
                </a:solidFill>
                <a:latin typeface="Cambria" pitchFamily="34" charset="0"/>
                <a:ea typeface="Cambria" pitchFamily="34" charset="-122"/>
                <a:cs typeface="Cambria" pitchFamily="34" charset="-120"/>
              </a:rPr>
              <a:t>97.46%</a:t>
            </a:r>
            <a:endParaRPr lang="en-US" sz="2000" dirty="0"/>
          </a:p>
        </p:txBody>
      </p:sp>
      <p:sp>
        <p:nvSpPr>
          <p:cNvPr id="19" name="Text 17"/>
          <p:cNvSpPr txBox="1"/>
          <p:nvPr/>
        </p:nvSpPr>
        <p:spPr>
          <a:xfrm>
            <a:off x="786384" y="5157216"/>
            <a:ext cx="2971800" cy="475488"/>
          </a:xfrm>
          <a:prstGeom prst="rect">
            <a:avLst/>
          </a:prstGeom>
          <a:noFill/>
          <a:ln/>
        </p:spPr>
        <p:txBody>
          <a:bodyPr wrap="square" lIns="0" tIns="0" rIns="0" bIns="0" rtlCol="0" anchor="ctr"/>
          <a:lstStyle/>
          <a:p>
            <a:pPr marL="0" indent="0">
              <a:lnSpc>
                <a:spcPct val="108000"/>
              </a:lnSpc>
              <a:buNone/>
            </a:pPr>
            <a:r>
              <a:rPr lang="en-US" sz="1050" dirty="0">
                <a:solidFill>
                  <a:srgbClr val="13211B"/>
                </a:solidFill>
                <a:latin typeface="Calibri" pitchFamily="34" charset="0"/>
                <a:ea typeface="Calibri" pitchFamily="34" charset="-122"/>
                <a:cs typeface="Calibri" pitchFamily="34" charset="-120"/>
              </a:rPr>
              <a:t>at 1.46 MB and 0.29 ms — only 1.07 points below FP32, on a 15-class cross-domain benchmark</a:t>
            </a:r>
            <a:endParaRPr lang="en-US" sz="1050" dirty="0"/>
          </a:p>
        </p:txBody>
      </p:sp>
      <p:sp>
        <p:nvSpPr>
          <p:cNvPr id="20" name="Shape 18"/>
          <p:cNvSpPr/>
          <p:nvPr/>
        </p:nvSpPr>
        <p:spPr>
          <a:xfrm>
            <a:off x="4297680" y="4700016"/>
            <a:ext cx="3429000" cy="1005840"/>
          </a:xfrm>
          <a:prstGeom prst="roundRect">
            <a:avLst>
              <a:gd name="adj" fmla="val 7273"/>
            </a:avLst>
          </a:prstGeom>
          <a:solidFill>
            <a:srgbClr val="EAF1E4"/>
          </a:solidFill>
          <a:ln w="12700">
            <a:solidFill>
              <a:srgbClr val="D9E2D2"/>
            </a:solidFill>
            <a:prstDash val="solid"/>
          </a:ln>
          <a:effectLst>
            <a:outerShdw blurRad="127000" dist="25400" dir="5400000" algn="bl" rotWithShape="0">
              <a:srgbClr val="1B3A2B">
                <a:alpha val="10000"/>
              </a:srgbClr>
            </a:outerShdw>
          </a:effectLst>
        </p:spPr>
      </p:sp>
      <p:sp>
        <p:nvSpPr>
          <p:cNvPr id="21" name="Text 19"/>
          <p:cNvSpPr txBox="1"/>
          <p:nvPr/>
        </p:nvSpPr>
        <p:spPr>
          <a:xfrm>
            <a:off x="4535424" y="4791456"/>
            <a:ext cx="2971800" cy="365760"/>
          </a:xfrm>
          <a:prstGeom prst="rect">
            <a:avLst/>
          </a:prstGeom>
          <a:noFill/>
          <a:ln/>
        </p:spPr>
        <p:txBody>
          <a:bodyPr wrap="square" lIns="0" tIns="0" rIns="0" bIns="0" rtlCol="0" anchor="ctr"/>
          <a:lstStyle/>
          <a:p>
            <a:pPr marL="0" indent="0">
              <a:buNone/>
            </a:pPr>
            <a:r>
              <a:rPr lang="en-US" sz="2000" b="1" dirty="0">
                <a:solidFill>
                  <a:srgbClr val="2C5F2D"/>
                </a:solidFill>
                <a:latin typeface="Cambria" pitchFamily="34" charset="0"/>
                <a:ea typeface="Cambria" pitchFamily="34" charset="-122"/>
                <a:cs typeface="Cambria" pitchFamily="34" charset="-120"/>
              </a:rPr>
              <a:t>6.01 MB</a:t>
            </a:r>
            <a:endParaRPr lang="en-US" sz="2000" dirty="0"/>
          </a:p>
        </p:txBody>
      </p:sp>
      <p:sp>
        <p:nvSpPr>
          <p:cNvPr id="22" name="Text 20"/>
          <p:cNvSpPr txBox="1"/>
          <p:nvPr/>
        </p:nvSpPr>
        <p:spPr>
          <a:xfrm>
            <a:off x="4535424" y="5157216"/>
            <a:ext cx="2971800" cy="475488"/>
          </a:xfrm>
          <a:prstGeom prst="rect">
            <a:avLst/>
          </a:prstGeom>
          <a:noFill/>
          <a:ln/>
        </p:spPr>
        <p:txBody>
          <a:bodyPr wrap="square" lIns="0" tIns="0" rIns="0" bIns="0" rtlCol="0" anchor="ctr"/>
          <a:lstStyle/>
          <a:p>
            <a:pPr marL="0" indent="0">
              <a:lnSpc>
                <a:spcPct val="108000"/>
              </a:lnSpc>
              <a:buNone/>
            </a:pPr>
            <a:r>
              <a:rPr lang="en-US" sz="1050" dirty="0">
                <a:solidFill>
                  <a:srgbClr val="13211B"/>
                </a:solidFill>
                <a:latin typeface="Calibri" pitchFamily="34" charset="0"/>
                <a:ea typeface="Calibri" pitchFamily="34" charset="-122"/>
                <a:cs typeface="Calibri" pitchFamily="34" charset="-120"/>
              </a:rPr>
              <a:t>A ViT compressed from 327.42 MB (×54.5) that still scores 95.13%</a:t>
            </a:r>
            <a:endParaRPr lang="en-US" sz="1050" dirty="0"/>
          </a:p>
        </p:txBody>
      </p:sp>
      <p:sp>
        <p:nvSpPr>
          <p:cNvPr id="23" name="Shape 21"/>
          <p:cNvSpPr/>
          <p:nvPr/>
        </p:nvSpPr>
        <p:spPr>
          <a:xfrm>
            <a:off x="8046720" y="4700016"/>
            <a:ext cx="3429000" cy="1005840"/>
          </a:xfrm>
          <a:prstGeom prst="roundRect">
            <a:avLst>
              <a:gd name="adj" fmla="val 7273"/>
            </a:avLst>
          </a:prstGeom>
          <a:solidFill>
            <a:srgbClr val="EAF1E4"/>
          </a:solidFill>
          <a:ln w="12700">
            <a:solidFill>
              <a:srgbClr val="D9E2D2"/>
            </a:solidFill>
            <a:prstDash val="solid"/>
          </a:ln>
          <a:effectLst>
            <a:outerShdw blurRad="127000" dist="25400" dir="5400000" algn="bl" rotWithShape="0">
              <a:srgbClr val="1B3A2B">
                <a:alpha val="10000"/>
              </a:srgbClr>
            </a:outerShdw>
          </a:effectLst>
        </p:spPr>
      </p:sp>
      <p:sp>
        <p:nvSpPr>
          <p:cNvPr id="24" name="Text 22"/>
          <p:cNvSpPr txBox="1"/>
          <p:nvPr/>
        </p:nvSpPr>
        <p:spPr>
          <a:xfrm>
            <a:off x="8284464" y="4791456"/>
            <a:ext cx="2971800" cy="365760"/>
          </a:xfrm>
          <a:prstGeom prst="rect">
            <a:avLst/>
          </a:prstGeom>
          <a:noFill/>
          <a:ln/>
        </p:spPr>
        <p:txBody>
          <a:bodyPr wrap="square" lIns="0" tIns="0" rIns="0" bIns="0" rtlCol="0" anchor="ctr"/>
          <a:lstStyle/>
          <a:p>
            <a:pPr marL="0" indent="0">
              <a:buNone/>
            </a:pPr>
            <a:r>
              <a:rPr lang="en-US" sz="2000" b="1" dirty="0">
                <a:solidFill>
                  <a:srgbClr val="2C5F2D"/>
                </a:solidFill>
                <a:latin typeface="Cambria" pitchFamily="34" charset="0"/>
                <a:ea typeface="Cambria" pitchFamily="34" charset="-122"/>
                <a:cs typeface="Cambria" pitchFamily="34" charset="-120"/>
              </a:rPr>
              <a:t>−2.8 mAP</a:t>
            </a:r>
            <a:endParaRPr lang="en-US" sz="2000" dirty="0"/>
          </a:p>
        </p:txBody>
      </p:sp>
      <p:sp>
        <p:nvSpPr>
          <p:cNvPr id="25" name="Text 23"/>
          <p:cNvSpPr txBox="1"/>
          <p:nvPr/>
        </p:nvSpPr>
        <p:spPr>
          <a:xfrm>
            <a:off x="8284464" y="5157216"/>
            <a:ext cx="2971800" cy="475488"/>
          </a:xfrm>
          <a:prstGeom prst="rect">
            <a:avLst/>
          </a:prstGeom>
          <a:noFill/>
          <a:ln/>
        </p:spPr>
        <p:txBody>
          <a:bodyPr wrap="square" lIns="0" tIns="0" rIns="0" bIns="0" rtlCol="0" anchor="ctr"/>
          <a:lstStyle/>
          <a:p>
            <a:pPr marL="0" indent="0">
              <a:lnSpc>
                <a:spcPct val="108000"/>
              </a:lnSpc>
              <a:buNone/>
            </a:pPr>
            <a:r>
              <a:rPr lang="en-US" sz="1050" dirty="0">
                <a:solidFill>
                  <a:srgbClr val="13211B"/>
                </a:solidFill>
                <a:latin typeface="Calibri" pitchFamily="34" charset="0"/>
                <a:ea typeface="Calibri" pitchFamily="34" charset="-122"/>
                <a:cs typeface="Calibri" pitchFamily="34" charset="-120"/>
              </a:rPr>
              <a:t>Quant-YOLOv5x via Brevitas, in exchange for −50% size and +4.7 FPS</a:t>
            </a:r>
            <a:endParaRPr lang="en-US" sz="1050" dirty="0"/>
          </a:p>
        </p:txBody>
      </p:sp>
      <p:sp>
        <p:nvSpPr>
          <p:cNvPr id="26" name="Text 24"/>
          <p:cNvSpPr txBox="1"/>
          <p:nvPr/>
        </p:nvSpPr>
        <p:spPr>
          <a:xfrm>
            <a:off x="548640" y="5870448"/>
            <a:ext cx="11091672" cy="384048"/>
          </a:xfrm>
          <a:prstGeom prst="rect">
            <a:avLst/>
          </a:prstGeom>
          <a:noFill/>
          <a:ln/>
        </p:spPr>
        <p:txBody>
          <a:bodyPr wrap="square" lIns="0" tIns="0" rIns="0" bIns="0" rtlCol="0" anchor="ctr"/>
          <a:lstStyle/>
          <a:p>
            <a:pPr marL="0" indent="0">
              <a:buNone/>
            </a:pPr>
            <a:r>
              <a:rPr lang="en-US" sz="1200" b="1" i="1" dirty="0">
                <a:solidFill>
                  <a:srgbClr val="C62828"/>
                </a:solidFill>
                <a:latin typeface="Calibri" pitchFamily="34" charset="0"/>
                <a:ea typeface="Calibri" pitchFamily="34" charset="-122"/>
                <a:cs typeface="Calibri" pitchFamily="34" charset="-120"/>
              </a:rPr>
              <a:t>Kumar’s warning: a student trained directly at the target size reaches 94.87%, almost matching the full compression pipeline. Compression gains must be MEASURED, never assumed.</a:t>
            </a:r>
            <a:endParaRPr lang="en-US" sz="1200" dirty="0"/>
          </a:p>
        </p:txBody>
      </p:sp>
      <p:sp>
        <p:nvSpPr>
          <p:cNvPr id="27" name="Text 25"/>
          <p:cNvSpPr txBox="1"/>
          <p:nvPr/>
        </p:nvSpPr>
        <p:spPr>
          <a:xfrm>
            <a:off x="548640" y="6345936"/>
            <a:ext cx="11091672" cy="274320"/>
          </a:xfrm>
          <a:prstGeom prst="rect">
            <a:avLst/>
          </a:prstGeom>
          <a:noFill/>
          <a:ln/>
        </p:spPr>
        <p:txBody>
          <a:bodyPr wrap="square" lIns="0" tIns="0" rIns="0" bIns="0" rtlCol="0" anchor="ctr"/>
          <a:lstStyle/>
          <a:p>
            <a:pPr marL="0" indent="0" algn="l">
              <a:buNone/>
            </a:pPr>
            <a:r>
              <a:rPr lang="en-US" sz="1000" i="1" dirty="0">
                <a:solidFill>
                  <a:srgbClr val="6E7C72"/>
                </a:solidFill>
                <a:latin typeface="Calibri" pitchFamily="34" charset="0"/>
                <a:ea typeface="Calibri" pitchFamily="34" charset="-122"/>
                <a:cs typeface="Calibri" pitchFamily="34" charset="-120"/>
              </a:rPr>
              <a:t>Section 5.1  ·  [30], [63]–[68]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6E9443"/>
                </a:solidFill>
                <a:latin typeface="Calibri" pitchFamily="34" charset="0"/>
                <a:ea typeface="Calibri" pitchFamily="34" charset="-122"/>
                <a:cs typeface="Calibri" pitchFamily="34" charset="-120"/>
              </a:rPr>
              <a:t>PART 5 · WHAT IS NEW</a:t>
            </a:r>
            <a:endParaRPr lang="en-US" sz="1100" dirty="0"/>
          </a:p>
        </p:txBody>
      </p:sp>
      <p:sp>
        <p:nvSpPr>
          <p:cNvPr id="3" name="Text 1"/>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13211B"/>
                </a:solidFill>
                <a:latin typeface="Cambria" pitchFamily="34" charset="0"/>
                <a:ea typeface="Cambria" pitchFamily="34" charset="-122"/>
                <a:cs typeface="Cambria" pitchFamily="34" charset="-120"/>
              </a:rPr>
              <a:t>Four emerging directions — and their real limits</a:t>
            </a:r>
            <a:endParaRPr lang="en-US" sz="3000" dirty="0"/>
          </a:p>
        </p:txBody>
      </p:sp>
      <p:sp>
        <p:nvSpPr>
          <p:cNvPr id="4" name="Shape 2"/>
          <p:cNvSpPr/>
          <p:nvPr/>
        </p:nvSpPr>
        <p:spPr>
          <a:xfrm>
            <a:off x="548640" y="1517904"/>
            <a:ext cx="5404104" cy="2048256"/>
          </a:xfrm>
          <a:prstGeom prst="roundRect">
            <a:avLst>
              <a:gd name="adj" fmla="val 357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5" name="Shape 3"/>
          <p:cNvSpPr/>
          <p:nvPr/>
        </p:nvSpPr>
        <p:spPr>
          <a:xfrm>
            <a:off x="822960" y="1737360"/>
            <a:ext cx="384048" cy="384048"/>
          </a:xfrm>
          <a:prstGeom prst="ellipse">
            <a:avLst/>
          </a:prstGeom>
          <a:solidFill>
            <a:srgbClr val="2C5F2D"/>
          </a:solidFill>
          <a:ln w="12700">
            <a:solidFill>
              <a:srgbClr val="2C5F2D"/>
            </a:solidFill>
            <a:prstDash val="solid"/>
          </a:ln>
        </p:spPr>
      </p:sp>
      <p:sp>
        <p:nvSpPr>
          <p:cNvPr id="6" name="Text 4"/>
          <p:cNvSpPr txBox="1"/>
          <p:nvPr/>
        </p:nvSpPr>
        <p:spPr>
          <a:xfrm>
            <a:off x="822960" y="1737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16736" y="1737360"/>
            <a:ext cx="3291840" cy="384048"/>
          </a:xfrm>
          <a:prstGeom prst="rect">
            <a:avLst/>
          </a:prstGeom>
          <a:noFill/>
          <a:ln/>
        </p:spPr>
        <p:txBody>
          <a:bodyPr wrap="square" lIns="0" tIns="0" rIns="0" bIns="0" rtlCol="0" anchor="ctr"/>
          <a:lstStyle/>
          <a:p>
            <a:pPr marL="0" indent="0">
              <a:buNone/>
            </a:pPr>
            <a:r>
              <a:rPr lang="en-US" sz="1500" b="1" dirty="0">
                <a:solidFill>
                  <a:srgbClr val="13211B"/>
                </a:solidFill>
                <a:latin typeface="Calibri" pitchFamily="34" charset="0"/>
                <a:ea typeface="Calibri" pitchFamily="34" charset="-122"/>
                <a:cs typeface="Calibri" pitchFamily="34" charset="-120"/>
              </a:rPr>
              <a:t>XAI + Uncertainty</a:t>
            </a:r>
            <a:endParaRPr lang="en-US" sz="1500" dirty="0"/>
          </a:p>
        </p:txBody>
      </p:sp>
      <p:sp>
        <p:nvSpPr>
          <p:cNvPr id="8" name="Text 6"/>
          <p:cNvSpPr txBox="1"/>
          <p:nvPr/>
        </p:nvSpPr>
        <p:spPr>
          <a:xfrm>
            <a:off x="4480560" y="1737360"/>
            <a:ext cx="1188720" cy="384048"/>
          </a:xfrm>
          <a:prstGeom prst="rect">
            <a:avLst/>
          </a:prstGeom>
          <a:noFill/>
          <a:ln/>
        </p:spPr>
        <p:txBody>
          <a:bodyPr wrap="square" lIns="0" tIns="0" rIns="0" bIns="0" rtlCol="0" anchor="ctr"/>
          <a:lstStyle/>
          <a:p>
            <a:pPr marL="0" indent="0" algn="r">
              <a:buNone/>
            </a:pPr>
            <a:r>
              <a:rPr lang="en-US" sz="1000" dirty="0">
                <a:solidFill>
                  <a:srgbClr val="6E7C72"/>
                </a:solidFill>
                <a:latin typeface="Calibri" pitchFamily="34" charset="0"/>
                <a:ea typeface="Calibri" pitchFamily="34" charset="-122"/>
                <a:cs typeface="Calibri" pitchFamily="34" charset="-120"/>
              </a:rPr>
              <a:t>[18], [29], [35]</a:t>
            </a:r>
            <a:endParaRPr lang="en-US" sz="1000" dirty="0"/>
          </a:p>
        </p:txBody>
      </p:sp>
      <p:sp>
        <p:nvSpPr>
          <p:cNvPr id="9" name="Text 7"/>
          <p:cNvSpPr txBox="1"/>
          <p:nvPr/>
        </p:nvSpPr>
        <p:spPr>
          <a:xfrm>
            <a:off x="822960" y="2212848"/>
            <a:ext cx="4846320" cy="566928"/>
          </a:xfrm>
          <a:prstGeom prst="rect">
            <a:avLst/>
          </a:prstGeom>
          <a:noFill/>
          <a:ln/>
        </p:spPr>
        <p:txBody>
          <a:bodyPr wrap="square" lIns="0" tIns="0" rIns="0" bIns="0" rtlCol="0" anchor="ctr"/>
          <a:lstStyle/>
          <a:p>
            <a:pPr marL="0" indent="0">
              <a:lnSpc>
                <a:spcPct val="110000"/>
              </a:lnSpc>
              <a:buNone/>
            </a:pPr>
            <a:r>
              <a:rPr lang="en-US" sz="1150" dirty="0">
                <a:solidFill>
                  <a:srgbClr val="6E7C72"/>
                </a:solidFill>
                <a:latin typeface="Calibri" pitchFamily="34" charset="0"/>
                <a:ea typeface="Calibri" pitchFamily="34" charset="-122"/>
                <a:cs typeface="Calibri" pitchFamily="34" charset="-120"/>
              </a:rPr>
              <a:t>Grad-CAM is now the default. The new problem is that heatmaps are NOT stable, hence DLIME and the Perturbation Stability Score.</a:t>
            </a:r>
            <a:endParaRPr lang="en-US" sz="1150" dirty="0"/>
          </a:p>
        </p:txBody>
      </p:sp>
      <p:sp>
        <p:nvSpPr>
          <p:cNvPr id="10" name="Text 8"/>
          <p:cNvSpPr txBox="1"/>
          <p:nvPr/>
        </p:nvSpPr>
        <p:spPr>
          <a:xfrm>
            <a:off x="822960" y="2816352"/>
            <a:ext cx="4846320" cy="640080"/>
          </a:xfrm>
          <a:prstGeom prst="rect">
            <a:avLst/>
          </a:prstGeom>
          <a:noFill/>
          <a:ln/>
        </p:spPr>
        <p:txBody>
          <a:bodyPr wrap="square" lIns="0" tIns="0" rIns="0" bIns="0" rtlCol="0" anchor="ctr"/>
          <a:lstStyle/>
          <a:p>
            <a:pPr marL="0" indent="0">
              <a:lnSpc>
                <a:spcPct val="110000"/>
              </a:lnSpc>
              <a:buNone/>
            </a:pPr>
            <a:r>
              <a:rPr lang="en-US" sz="1150" b="1" dirty="0">
                <a:solidFill>
                  <a:srgbClr val="C62828"/>
                </a:solidFill>
                <a:latin typeface="Calibri" pitchFamily="34" charset="0"/>
                <a:ea typeface="Calibri" pitchFamily="34" charset="-122"/>
                <a:cs typeface="Calibri" pitchFamily="34" charset="-120"/>
              </a:rPr>
              <a:t>ECE of 0.032–0.041 with MC-Dropout and temperature scaling; 97.8% in the lab, 93.6% in the field.</a:t>
            </a:r>
            <a:endParaRPr lang="en-US" sz="1150" dirty="0"/>
          </a:p>
        </p:txBody>
      </p:sp>
      <p:sp>
        <p:nvSpPr>
          <p:cNvPr id="11" name="Shape 9"/>
          <p:cNvSpPr/>
          <p:nvPr/>
        </p:nvSpPr>
        <p:spPr>
          <a:xfrm>
            <a:off x="6236208" y="1517904"/>
            <a:ext cx="5404104" cy="2048256"/>
          </a:xfrm>
          <a:prstGeom prst="roundRect">
            <a:avLst>
              <a:gd name="adj" fmla="val 357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2" name="Shape 10"/>
          <p:cNvSpPr/>
          <p:nvPr/>
        </p:nvSpPr>
        <p:spPr>
          <a:xfrm>
            <a:off x="6510528" y="1737360"/>
            <a:ext cx="384048" cy="384048"/>
          </a:xfrm>
          <a:prstGeom prst="ellipse">
            <a:avLst/>
          </a:prstGeom>
          <a:solidFill>
            <a:srgbClr val="2C5F2D"/>
          </a:solidFill>
          <a:ln w="12700">
            <a:solidFill>
              <a:srgbClr val="2C5F2D"/>
            </a:solidFill>
            <a:prstDash val="solid"/>
          </a:ln>
        </p:spPr>
      </p:sp>
      <p:sp>
        <p:nvSpPr>
          <p:cNvPr id="13" name="Text 11"/>
          <p:cNvSpPr txBox="1"/>
          <p:nvPr/>
        </p:nvSpPr>
        <p:spPr>
          <a:xfrm>
            <a:off x="6510528" y="1737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7004304" y="1737360"/>
            <a:ext cx="3291840" cy="384048"/>
          </a:xfrm>
          <a:prstGeom prst="rect">
            <a:avLst/>
          </a:prstGeom>
          <a:noFill/>
          <a:ln/>
        </p:spPr>
        <p:txBody>
          <a:bodyPr wrap="square" lIns="0" tIns="0" rIns="0" bIns="0" rtlCol="0" anchor="ctr"/>
          <a:lstStyle/>
          <a:p>
            <a:pPr marL="0" indent="0">
              <a:buNone/>
            </a:pPr>
            <a:r>
              <a:rPr lang="en-US" sz="1500" b="1" dirty="0">
                <a:solidFill>
                  <a:srgbClr val="13211B"/>
                </a:solidFill>
                <a:latin typeface="Calibri" pitchFamily="34" charset="0"/>
                <a:ea typeface="Calibri" pitchFamily="34" charset="-122"/>
                <a:cs typeface="Calibri" pitchFamily="34" charset="-120"/>
              </a:rPr>
              <a:t>Federated Learning</a:t>
            </a:r>
            <a:endParaRPr lang="en-US" sz="1500" dirty="0"/>
          </a:p>
        </p:txBody>
      </p:sp>
      <p:sp>
        <p:nvSpPr>
          <p:cNvPr id="15" name="Text 13"/>
          <p:cNvSpPr txBox="1"/>
          <p:nvPr/>
        </p:nvSpPr>
        <p:spPr>
          <a:xfrm>
            <a:off x="10168128" y="1737360"/>
            <a:ext cx="1188720" cy="384048"/>
          </a:xfrm>
          <a:prstGeom prst="rect">
            <a:avLst/>
          </a:prstGeom>
          <a:noFill/>
          <a:ln/>
        </p:spPr>
        <p:txBody>
          <a:bodyPr wrap="square" lIns="0" tIns="0" rIns="0" bIns="0" rtlCol="0" anchor="ctr"/>
          <a:lstStyle/>
          <a:p>
            <a:pPr marL="0" indent="0" algn="r">
              <a:buNone/>
            </a:pPr>
            <a:r>
              <a:rPr lang="en-US" sz="1000" dirty="0">
                <a:solidFill>
                  <a:srgbClr val="6E7C72"/>
                </a:solidFill>
                <a:latin typeface="Calibri" pitchFamily="34" charset="0"/>
                <a:ea typeface="Calibri" pitchFamily="34" charset="-122"/>
                <a:cs typeface="Calibri" pitchFamily="34" charset="-120"/>
              </a:rPr>
              <a:t>[6], [36], [37]</a:t>
            </a:r>
            <a:endParaRPr lang="en-US" sz="1000" dirty="0"/>
          </a:p>
        </p:txBody>
      </p:sp>
      <p:sp>
        <p:nvSpPr>
          <p:cNvPr id="16" name="Text 14"/>
          <p:cNvSpPr txBox="1"/>
          <p:nvPr/>
        </p:nvSpPr>
        <p:spPr>
          <a:xfrm>
            <a:off x="6510528" y="2212848"/>
            <a:ext cx="4846320" cy="566928"/>
          </a:xfrm>
          <a:prstGeom prst="rect">
            <a:avLst/>
          </a:prstGeom>
          <a:noFill/>
          <a:ln/>
        </p:spPr>
        <p:txBody>
          <a:bodyPr wrap="square" lIns="0" tIns="0" rIns="0" bIns="0" rtlCol="0" anchor="ctr"/>
          <a:lstStyle/>
          <a:p>
            <a:pPr marL="0" indent="0">
              <a:lnSpc>
                <a:spcPct val="110000"/>
              </a:lnSpc>
              <a:buNone/>
            </a:pPr>
            <a:r>
              <a:rPr lang="en-US" sz="1150" dirty="0">
                <a:solidFill>
                  <a:srgbClr val="6E7C72"/>
                </a:solidFill>
                <a:latin typeface="Calibri" pitchFamily="34" charset="0"/>
                <a:ea typeface="Calibri" pitchFamily="34" charset="-122"/>
                <a:cs typeface="Calibri" pitchFamily="34" charset="-120"/>
              </a:rPr>
              <a:t>Solves farm data privacy and distribution heterogeneity at the same time.</a:t>
            </a:r>
            <a:endParaRPr lang="en-US" sz="1150" dirty="0"/>
          </a:p>
        </p:txBody>
      </p:sp>
      <p:sp>
        <p:nvSpPr>
          <p:cNvPr id="17" name="Text 15"/>
          <p:cNvSpPr txBox="1"/>
          <p:nvPr/>
        </p:nvSpPr>
        <p:spPr>
          <a:xfrm>
            <a:off x="6510528" y="2816352"/>
            <a:ext cx="4846320" cy="640080"/>
          </a:xfrm>
          <a:prstGeom prst="rect">
            <a:avLst/>
          </a:prstGeom>
          <a:noFill/>
          <a:ln/>
        </p:spPr>
        <p:txBody>
          <a:bodyPr wrap="square" lIns="0" tIns="0" rIns="0" bIns="0" rtlCol="0" anchor="ctr"/>
          <a:lstStyle/>
          <a:p>
            <a:pPr marL="0" indent="0">
              <a:lnSpc>
                <a:spcPct val="110000"/>
              </a:lnSpc>
              <a:buNone/>
            </a:pPr>
            <a:r>
              <a:rPr lang="en-US" sz="1150" b="1" dirty="0">
                <a:solidFill>
                  <a:srgbClr val="C62828"/>
                </a:solidFill>
                <a:latin typeface="Calibri" pitchFamily="34" charset="0"/>
                <a:ea typeface="Calibri" pitchFamily="34" charset="-122"/>
                <a:cs typeface="Calibri" pitchFamily="34" charset="-120"/>
              </a:rPr>
              <a:t>But it only reaches about 62% in the field after FTL. Domain shift between clients still beats weight averaging.</a:t>
            </a:r>
            <a:endParaRPr lang="en-US" sz="1150" dirty="0"/>
          </a:p>
        </p:txBody>
      </p:sp>
      <p:sp>
        <p:nvSpPr>
          <p:cNvPr id="18" name="Shape 16"/>
          <p:cNvSpPr/>
          <p:nvPr/>
        </p:nvSpPr>
        <p:spPr>
          <a:xfrm>
            <a:off x="548640" y="3730752"/>
            <a:ext cx="5404104" cy="2048256"/>
          </a:xfrm>
          <a:prstGeom prst="roundRect">
            <a:avLst>
              <a:gd name="adj" fmla="val 357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9" name="Shape 17"/>
          <p:cNvSpPr/>
          <p:nvPr/>
        </p:nvSpPr>
        <p:spPr>
          <a:xfrm>
            <a:off x="822960" y="3950208"/>
            <a:ext cx="384048" cy="384048"/>
          </a:xfrm>
          <a:prstGeom prst="ellipse">
            <a:avLst/>
          </a:prstGeom>
          <a:solidFill>
            <a:srgbClr val="2C5F2D"/>
          </a:solidFill>
          <a:ln w="12700">
            <a:solidFill>
              <a:srgbClr val="2C5F2D"/>
            </a:solidFill>
            <a:prstDash val="solid"/>
          </a:ln>
        </p:spPr>
      </p:sp>
      <p:sp>
        <p:nvSpPr>
          <p:cNvPr id="20" name="Text 18"/>
          <p:cNvSpPr txBox="1"/>
          <p:nvPr/>
        </p:nvSpPr>
        <p:spPr>
          <a:xfrm>
            <a:off x="822960" y="395020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1316736" y="3950208"/>
            <a:ext cx="3291840" cy="384048"/>
          </a:xfrm>
          <a:prstGeom prst="rect">
            <a:avLst/>
          </a:prstGeom>
          <a:noFill/>
          <a:ln/>
        </p:spPr>
        <p:txBody>
          <a:bodyPr wrap="square" lIns="0" tIns="0" rIns="0" bIns="0" rtlCol="0" anchor="ctr"/>
          <a:lstStyle/>
          <a:p>
            <a:pPr marL="0" indent="0">
              <a:buNone/>
            </a:pPr>
            <a:r>
              <a:rPr lang="en-US" sz="1500" b="1" dirty="0">
                <a:solidFill>
                  <a:srgbClr val="13211B"/>
                </a:solidFill>
                <a:latin typeface="Calibri" pitchFamily="34" charset="0"/>
                <a:ea typeface="Calibri" pitchFamily="34" charset="-122"/>
                <a:cs typeface="Calibri" pitchFamily="34" charset="-120"/>
              </a:rPr>
              <a:t>Self-supervised Learning</a:t>
            </a:r>
            <a:endParaRPr lang="en-US" sz="1500" dirty="0"/>
          </a:p>
        </p:txBody>
      </p:sp>
      <p:sp>
        <p:nvSpPr>
          <p:cNvPr id="22" name="Text 20"/>
          <p:cNvSpPr txBox="1"/>
          <p:nvPr/>
        </p:nvSpPr>
        <p:spPr>
          <a:xfrm>
            <a:off x="4480560" y="3950208"/>
            <a:ext cx="1188720" cy="384048"/>
          </a:xfrm>
          <a:prstGeom prst="rect">
            <a:avLst/>
          </a:prstGeom>
          <a:noFill/>
          <a:ln/>
        </p:spPr>
        <p:txBody>
          <a:bodyPr wrap="square" lIns="0" tIns="0" rIns="0" bIns="0" rtlCol="0" anchor="ctr"/>
          <a:lstStyle/>
          <a:p>
            <a:pPr marL="0" indent="0" algn="r">
              <a:buNone/>
            </a:pPr>
            <a:r>
              <a:rPr lang="en-US" sz="1000" dirty="0">
                <a:solidFill>
                  <a:srgbClr val="6E7C72"/>
                </a:solidFill>
                <a:latin typeface="Calibri" pitchFamily="34" charset="0"/>
                <a:ea typeface="Calibri" pitchFamily="34" charset="-122"/>
                <a:cs typeface="Calibri" pitchFamily="34" charset="-120"/>
              </a:rPr>
              <a:t>[38]–[41]</a:t>
            </a:r>
            <a:endParaRPr lang="en-US" sz="1000" dirty="0"/>
          </a:p>
        </p:txBody>
      </p:sp>
      <p:sp>
        <p:nvSpPr>
          <p:cNvPr id="23" name="Text 21"/>
          <p:cNvSpPr txBox="1"/>
          <p:nvPr/>
        </p:nvSpPr>
        <p:spPr>
          <a:xfrm>
            <a:off x="822960" y="4425696"/>
            <a:ext cx="4846320" cy="566928"/>
          </a:xfrm>
          <a:prstGeom prst="rect">
            <a:avLst/>
          </a:prstGeom>
          <a:noFill/>
          <a:ln/>
        </p:spPr>
        <p:txBody>
          <a:bodyPr wrap="square" lIns="0" tIns="0" rIns="0" bIns="0" rtlCol="0" anchor="ctr"/>
          <a:lstStyle/>
          <a:p>
            <a:pPr marL="0" indent="0">
              <a:lnSpc>
                <a:spcPct val="110000"/>
              </a:lnSpc>
              <a:buNone/>
            </a:pPr>
            <a:r>
              <a:rPr lang="en-US" sz="1150" dirty="0">
                <a:solidFill>
                  <a:srgbClr val="6E7C72"/>
                </a:solidFill>
                <a:latin typeface="Calibri" pitchFamily="34" charset="0"/>
                <a:ea typeface="Calibri" pitchFamily="34" charset="-122"/>
                <a:cs typeface="Calibri" pitchFamily="34" charset="-120"/>
              </a:rPr>
              <a:t>Labels are expensive, so SSL and agricultural foundation models are rising.</a:t>
            </a:r>
            <a:endParaRPr lang="en-US" sz="1150" dirty="0"/>
          </a:p>
        </p:txBody>
      </p:sp>
      <p:sp>
        <p:nvSpPr>
          <p:cNvPr id="24" name="Text 22"/>
          <p:cNvSpPr txBox="1"/>
          <p:nvPr/>
        </p:nvSpPr>
        <p:spPr>
          <a:xfrm>
            <a:off x="822960" y="5029200"/>
            <a:ext cx="4846320" cy="640080"/>
          </a:xfrm>
          <a:prstGeom prst="rect">
            <a:avLst/>
          </a:prstGeom>
          <a:noFill/>
          <a:ln/>
        </p:spPr>
        <p:txBody>
          <a:bodyPr wrap="square" lIns="0" tIns="0" rIns="0" bIns="0" rtlCol="0" anchor="ctr"/>
          <a:lstStyle/>
          <a:p>
            <a:pPr marL="0" indent="0">
              <a:lnSpc>
                <a:spcPct val="110000"/>
              </a:lnSpc>
              <a:buNone/>
            </a:pPr>
            <a:r>
              <a:rPr lang="en-US" sz="1150" b="1" dirty="0">
                <a:solidFill>
                  <a:srgbClr val="C62828"/>
                </a:solidFill>
                <a:latin typeface="Calibri" pitchFamily="34" charset="0"/>
                <a:ea typeface="Calibri" pitchFamily="34" charset="-122"/>
                <a:cs typeface="Calibri" pitchFamily="34" charset="-120"/>
              </a:rPr>
              <a:t>SimCLR on just 3,000 unlabelled images gave +4.57%, more than switching to a hierarchical transformer (+3.70%).</a:t>
            </a:r>
            <a:endParaRPr lang="en-US" sz="1150" dirty="0"/>
          </a:p>
        </p:txBody>
      </p:sp>
      <p:sp>
        <p:nvSpPr>
          <p:cNvPr id="25" name="Shape 23"/>
          <p:cNvSpPr/>
          <p:nvPr/>
        </p:nvSpPr>
        <p:spPr>
          <a:xfrm>
            <a:off x="6236208" y="3730752"/>
            <a:ext cx="5404104" cy="2048256"/>
          </a:xfrm>
          <a:prstGeom prst="roundRect">
            <a:avLst>
              <a:gd name="adj" fmla="val 357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26" name="Shape 24"/>
          <p:cNvSpPr/>
          <p:nvPr/>
        </p:nvSpPr>
        <p:spPr>
          <a:xfrm>
            <a:off x="6510528" y="3950208"/>
            <a:ext cx="384048" cy="384048"/>
          </a:xfrm>
          <a:prstGeom prst="ellipse">
            <a:avLst/>
          </a:prstGeom>
          <a:solidFill>
            <a:srgbClr val="2C5F2D"/>
          </a:solidFill>
          <a:ln w="12700">
            <a:solidFill>
              <a:srgbClr val="2C5F2D"/>
            </a:solidFill>
            <a:prstDash val="solid"/>
          </a:ln>
        </p:spPr>
      </p:sp>
      <p:sp>
        <p:nvSpPr>
          <p:cNvPr id="27" name="Text 25"/>
          <p:cNvSpPr txBox="1"/>
          <p:nvPr/>
        </p:nvSpPr>
        <p:spPr>
          <a:xfrm>
            <a:off x="6510528" y="395020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txBox="1"/>
          <p:nvPr/>
        </p:nvSpPr>
        <p:spPr>
          <a:xfrm>
            <a:off x="7004304" y="3950208"/>
            <a:ext cx="3291840" cy="384048"/>
          </a:xfrm>
          <a:prstGeom prst="rect">
            <a:avLst/>
          </a:prstGeom>
          <a:noFill/>
          <a:ln/>
        </p:spPr>
        <p:txBody>
          <a:bodyPr wrap="square" lIns="0" tIns="0" rIns="0" bIns="0" rtlCol="0" anchor="ctr"/>
          <a:lstStyle/>
          <a:p>
            <a:pPr marL="0" indent="0">
              <a:buNone/>
            </a:pPr>
            <a:r>
              <a:rPr lang="en-US" sz="1500" b="1" dirty="0">
                <a:solidFill>
                  <a:srgbClr val="13211B"/>
                </a:solidFill>
                <a:latin typeface="Calibri" pitchFamily="34" charset="0"/>
                <a:ea typeface="Calibri" pitchFamily="34" charset="-122"/>
                <a:cs typeface="Calibri" pitchFamily="34" charset="-120"/>
              </a:rPr>
              <a:t>Vision-Language Models</a:t>
            </a:r>
            <a:endParaRPr lang="en-US" sz="1500" dirty="0"/>
          </a:p>
        </p:txBody>
      </p:sp>
      <p:sp>
        <p:nvSpPr>
          <p:cNvPr id="29" name="Text 27"/>
          <p:cNvSpPr txBox="1"/>
          <p:nvPr/>
        </p:nvSpPr>
        <p:spPr>
          <a:xfrm>
            <a:off x="10168128" y="3950208"/>
            <a:ext cx="1188720" cy="384048"/>
          </a:xfrm>
          <a:prstGeom prst="rect">
            <a:avLst/>
          </a:prstGeom>
          <a:noFill/>
          <a:ln/>
        </p:spPr>
        <p:txBody>
          <a:bodyPr wrap="square" lIns="0" tIns="0" rIns="0" bIns="0" rtlCol="0" anchor="ctr"/>
          <a:lstStyle/>
          <a:p>
            <a:pPr marL="0" indent="0" algn="r">
              <a:buNone/>
            </a:pPr>
            <a:r>
              <a:rPr lang="en-US" sz="1000" dirty="0">
                <a:solidFill>
                  <a:srgbClr val="6E7C72"/>
                </a:solidFill>
                <a:latin typeface="Calibri" pitchFamily="34" charset="0"/>
                <a:ea typeface="Calibri" pitchFamily="34" charset="-122"/>
                <a:cs typeface="Calibri" pitchFamily="34" charset="-120"/>
              </a:rPr>
              <a:t>[42], [43]</a:t>
            </a:r>
            <a:endParaRPr lang="en-US" sz="1000" dirty="0"/>
          </a:p>
        </p:txBody>
      </p:sp>
      <p:sp>
        <p:nvSpPr>
          <p:cNvPr id="30" name="Text 28"/>
          <p:cNvSpPr txBox="1"/>
          <p:nvPr/>
        </p:nvSpPr>
        <p:spPr>
          <a:xfrm>
            <a:off x="6510528" y="4425696"/>
            <a:ext cx="4846320" cy="566928"/>
          </a:xfrm>
          <a:prstGeom prst="rect">
            <a:avLst/>
          </a:prstGeom>
          <a:noFill/>
          <a:ln/>
        </p:spPr>
        <p:txBody>
          <a:bodyPr wrap="square" lIns="0" tIns="0" rIns="0" bIns="0" rtlCol="0" anchor="ctr"/>
          <a:lstStyle/>
          <a:p>
            <a:pPr marL="0" indent="0">
              <a:lnSpc>
                <a:spcPct val="110000"/>
              </a:lnSpc>
              <a:buNone/>
            </a:pPr>
            <a:r>
              <a:rPr lang="en-US" sz="1150" dirty="0">
                <a:solidFill>
                  <a:srgbClr val="6E7C72"/>
                </a:solidFill>
                <a:latin typeface="Calibri" pitchFamily="34" charset="0"/>
                <a:ea typeface="Calibri" pitchFamily="34" charset="-122"/>
                <a:cs typeface="Calibri" pitchFamily="34" charset="-120"/>
              </a:rPr>
              <a:t>TLDVLM (BLIP-2 + LoRA + GroundingDINO + SAM-2) reaches 97.27% on 10 greenhouse diseases.</a:t>
            </a:r>
            <a:endParaRPr lang="en-US" sz="1150" dirty="0"/>
          </a:p>
        </p:txBody>
      </p:sp>
      <p:sp>
        <p:nvSpPr>
          <p:cNvPr id="31" name="Text 29"/>
          <p:cNvSpPr txBox="1"/>
          <p:nvPr/>
        </p:nvSpPr>
        <p:spPr>
          <a:xfrm>
            <a:off x="6510528" y="5029200"/>
            <a:ext cx="4846320" cy="640080"/>
          </a:xfrm>
          <a:prstGeom prst="rect">
            <a:avLst/>
          </a:prstGeom>
          <a:noFill/>
          <a:ln/>
        </p:spPr>
        <p:txBody>
          <a:bodyPr wrap="square" lIns="0" tIns="0" rIns="0" bIns="0" rtlCol="0" anchor="ctr"/>
          <a:lstStyle/>
          <a:p>
            <a:pPr marL="0" indent="0">
              <a:lnSpc>
                <a:spcPct val="110000"/>
              </a:lnSpc>
              <a:buNone/>
            </a:pPr>
            <a:r>
              <a:rPr lang="en-US" sz="1150" b="1" dirty="0">
                <a:solidFill>
                  <a:srgbClr val="C62828"/>
                </a:solidFill>
                <a:latin typeface="Calibri" pitchFamily="34" charset="0"/>
                <a:ea typeface="Calibri" pitchFamily="34" charset="-122"/>
                <a:cs typeface="Calibri" pitchFamily="34" charset="-120"/>
              </a:rPr>
              <a:t>But pure zero-shot is only ~30% on 17,313 multi-domain images. Useful for few-shot new diseases, not a replacement for supervised models.</a:t>
            </a:r>
            <a:endParaRPr lang="en-US" sz="1150" dirty="0"/>
          </a:p>
        </p:txBody>
      </p:sp>
      <p:sp>
        <p:nvSpPr>
          <p:cNvPr id="32" name="Text 30"/>
          <p:cNvSpPr txBox="1"/>
          <p:nvPr/>
        </p:nvSpPr>
        <p:spPr>
          <a:xfrm>
            <a:off x="548640" y="6345936"/>
            <a:ext cx="11091672" cy="274320"/>
          </a:xfrm>
          <a:prstGeom prst="rect">
            <a:avLst/>
          </a:prstGeom>
          <a:noFill/>
          <a:ln/>
        </p:spPr>
        <p:txBody>
          <a:bodyPr wrap="square" lIns="0" tIns="0" rIns="0" bIns="0" rtlCol="0" anchor="ctr"/>
          <a:lstStyle/>
          <a:p>
            <a:pPr marL="0" indent="0" algn="l">
              <a:buNone/>
            </a:pPr>
            <a:r>
              <a:rPr lang="en-US" sz="1000" i="1" dirty="0">
                <a:solidFill>
                  <a:srgbClr val="6E7C72"/>
                </a:solidFill>
                <a:latin typeface="Calibri" pitchFamily="34" charset="0"/>
                <a:ea typeface="Calibri" pitchFamily="34" charset="-122"/>
                <a:cs typeface="Calibri" pitchFamily="34" charset="-120"/>
              </a:rPr>
              <a:t>Section 6  ·  [6], [18], [29], [35]–[43]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6E9443"/>
                </a:solidFill>
                <a:latin typeface="Calibri" pitchFamily="34" charset="0"/>
                <a:ea typeface="Calibri" pitchFamily="34" charset="-122"/>
                <a:cs typeface="Calibri" pitchFamily="34" charset="-120"/>
              </a:rPr>
              <a:t>PART 5 · WHAT IS NEW</a:t>
            </a:r>
            <a:endParaRPr lang="en-US" sz="1100" dirty="0"/>
          </a:p>
        </p:txBody>
      </p:sp>
      <p:sp>
        <p:nvSpPr>
          <p:cNvPr id="3" name="Text 1"/>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13211B"/>
                </a:solidFill>
                <a:latin typeface="Cambria" pitchFamily="34" charset="0"/>
                <a:ea typeface="Cambria" pitchFamily="34" charset="-122"/>
                <a:cs typeface="Cambria" pitchFamily="34" charset="-120"/>
              </a:rPr>
              <a:t>Ten research gaps — and three where Vietnam can contribute</a:t>
            </a:r>
            <a:endParaRPr lang="en-US" sz="3000" dirty="0"/>
          </a:p>
        </p:txBody>
      </p:sp>
      <p:sp>
        <p:nvSpPr>
          <p:cNvPr id="4" name="Shape 2"/>
          <p:cNvSpPr/>
          <p:nvPr/>
        </p:nvSpPr>
        <p:spPr>
          <a:xfrm>
            <a:off x="1577340" y="1472184"/>
            <a:ext cx="2057400" cy="1719072"/>
          </a:xfrm>
          <a:prstGeom prst="roundRect">
            <a:avLst>
              <a:gd name="adj" fmla="val 4255"/>
            </a:avLst>
          </a:prstGeom>
          <a:solidFill>
            <a:srgbClr val="FBEBEA"/>
          </a:solidFill>
          <a:ln w="12700">
            <a:solidFill>
              <a:srgbClr val="F0D2D1"/>
            </a:solidFill>
            <a:prstDash val="solid"/>
          </a:ln>
          <a:effectLst>
            <a:outerShdw blurRad="127000" dist="25400" dir="5400000" algn="bl" rotWithShape="0">
              <a:srgbClr val="1B3A2B">
                <a:alpha val="10000"/>
              </a:srgbClr>
            </a:outerShdw>
          </a:effectLst>
        </p:spPr>
      </p:sp>
      <p:sp>
        <p:nvSpPr>
          <p:cNvPr id="5" name="Text 3"/>
          <p:cNvSpPr txBox="1"/>
          <p:nvPr/>
        </p:nvSpPr>
        <p:spPr>
          <a:xfrm>
            <a:off x="1778508" y="1600200"/>
            <a:ext cx="1645920" cy="292608"/>
          </a:xfrm>
          <a:prstGeom prst="rect">
            <a:avLst/>
          </a:prstGeom>
          <a:noFill/>
          <a:ln/>
        </p:spPr>
        <p:txBody>
          <a:bodyPr wrap="square" lIns="0" tIns="0" rIns="0" bIns="0" rtlCol="0" anchor="ctr"/>
          <a:lstStyle/>
          <a:p>
            <a:pPr marL="0" indent="0">
              <a:buNone/>
            </a:pPr>
            <a:r>
              <a:rPr lang="en-US" sz="1100" b="1" kern="0" spc="100" dirty="0">
                <a:solidFill>
                  <a:srgbClr val="C62828"/>
                </a:solidFill>
                <a:latin typeface="Calibri" pitchFamily="34" charset="0"/>
                <a:ea typeface="Calibri" pitchFamily="34" charset="-122"/>
                <a:cs typeface="Calibri" pitchFamily="34" charset="-120"/>
              </a:rPr>
              <a:t>8.1</a:t>
            </a:r>
            <a:endParaRPr lang="en-US" sz="1100" dirty="0"/>
          </a:p>
        </p:txBody>
      </p:sp>
      <p:sp>
        <p:nvSpPr>
          <p:cNvPr id="6" name="Text 4"/>
          <p:cNvSpPr txBox="1"/>
          <p:nvPr/>
        </p:nvSpPr>
        <p:spPr>
          <a:xfrm>
            <a:off x="1778508" y="1892808"/>
            <a:ext cx="1691640" cy="548640"/>
          </a:xfrm>
          <a:prstGeom prst="rect">
            <a:avLst/>
          </a:prstGeom>
          <a:noFill/>
          <a:ln/>
        </p:spPr>
        <p:txBody>
          <a:bodyPr wrap="square" lIns="0" tIns="0" rIns="0" bIns="0" rtlCol="0" anchor="t"/>
          <a:lstStyle/>
          <a:p>
            <a:pPr marL="0" indent="0">
              <a:lnSpc>
                <a:spcPct val="105000"/>
              </a:lnSpc>
              <a:buNone/>
            </a:pPr>
            <a:r>
              <a:rPr lang="en-US" sz="1250" b="1" dirty="0">
                <a:solidFill>
                  <a:srgbClr val="C62828"/>
                </a:solidFill>
                <a:latin typeface="Calibri" pitchFamily="34" charset="0"/>
                <a:ea typeface="Calibri" pitchFamily="34" charset="-122"/>
                <a:cs typeface="Calibri" pitchFamily="34" charset="-120"/>
              </a:rPr>
              <a:t>Lab–field gap</a:t>
            </a:r>
            <a:endParaRPr lang="en-US" sz="1250" dirty="0"/>
          </a:p>
        </p:txBody>
      </p:sp>
      <p:sp>
        <p:nvSpPr>
          <p:cNvPr id="7" name="Text 5"/>
          <p:cNvSpPr txBox="1"/>
          <p:nvPr/>
        </p:nvSpPr>
        <p:spPr>
          <a:xfrm>
            <a:off x="1778508" y="2441448"/>
            <a:ext cx="1691640" cy="658368"/>
          </a:xfrm>
          <a:prstGeom prst="rect">
            <a:avLst/>
          </a:prstGeom>
          <a:noFill/>
          <a:ln/>
        </p:spPr>
        <p:txBody>
          <a:bodyPr wrap="square" lIns="0" tIns="0" rIns="0" bIns="0" rtlCol="0" anchor="ctr"/>
          <a:lstStyle/>
          <a:p>
            <a:pPr marL="0" indent="0">
              <a:lnSpc>
                <a:spcPct val="108000"/>
              </a:lnSpc>
              <a:buNone/>
            </a:pPr>
            <a:r>
              <a:rPr lang="en-US" sz="950" dirty="0">
                <a:solidFill>
                  <a:srgbClr val="13211B"/>
                </a:solidFill>
                <a:latin typeface="Calibri" pitchFamily="34" charset="0"/>
                <a:ea typeface="Calibri" pitchFamily="34" charset="-122"/>
                <a:cs typeface="Calibri" pitchFamily="34" charset="-120"/>
              </a:rPr>
              <a:t>Zero-shot loses 20–50 points; no tropical tomato foundation model exists yet</a:t>
            </a:r>
            <a:endParaRPr lang="en-US" sz="950" dirty="0"/>
          </a:p>
        </p:txBody>
      </p:sp>
      <p:sp>
        <p:nvSpPr>
          <p:cNvPr id="12" name="Shape 10"/>
          <p:cNvSpPr/>
          <p:nvPr/>
        </p:nvSpPr>
        <p:spPr>
          <a:xfrm>
            <a:off x="3875532" y="1469308"/>
            <a:ext cx="2057400" cy="1719072"/>
          </a:xfrm>
          <a:prstGeom prst="roundRect">
            <a:avLst>
              <a:gd name="adj" fmla="val 4255"/>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3" name="Text 11"/>
          <p:cNvSpPr txBox="1"/>
          <p:nvPr/>
        </p:nvSpPr>
        <p:spPr>
          <a:xfrm>
            <a:off x="4076700" y="1597324"/>
            <a:ext cx="1645920" cy="292608"/>
          </a:xfrm>
          <a:prstGeom prst="rect">
            <a:avLst/>
          </a:prstGeom>
          <a:noFill/>
          <a:ln/>
        </p:spPr>
        <p:txBody>
          <a:bodyPr wrap="square" lIns="0" tIns="0" rIns="0" bIns="0" rtlCol="0" anchor="ctr"/>
          <a:lstStyle/>
          <a:p>
            <a:pPr marL="0" indent="0">
              <a:buNone/>
            </a:pPr>
            <a:r>
              <a:rPr lang="en-US" sz="1100" b="1" kern="0" spc="100" dirty="0">
                <a:solidFill>
                  <a:srgbClr val="6E9443"/>
                </a:solidFill>
                <a:latin typeface="Calibri" pitchFamily="34" charset="0"/>
                <a:ea typeface="Calibri" pitchFamily="34" charset="-122"/>
                <a:cs typeface="Calibri" pitchFamily="34" charset="-120"/>
              </a:rPr>
              <a:t>8.2</a:t>
            </a:r>
            <a:endParaRPr lang="en-US" sz="1100" dirty="0"/>
          </a:p>
        </p:txBody>
      </p:sp>
      <p:sp>
        <p:nvSpPr>
          <p:cNvPr id="14" name="Text 12"/>
          <p:cNvSpPr txBox="1"/>
          <p:nvPr/>
        </p:nvSpPr>
        <p:spPr>
          <a:xfrm>
            <a:off x="4076700" y="1889932"/>
            <a:ext cx="1691640" cy="548640"/>
          </a:xfrm>
          <a:prstGeom prst="rect">
            <a:avLst/>
          </a:prstGeom>
          <a:noFill/>
          <a:ln/>
        </p:spPr>
        <p:txBody>
          <a:bodyPr wrap="square" lIns="0" tIns="0" rIns="0" bIns="0" rtlCol="0" anchor="t"/>
          <a:lstStyle/>
          <a:p>
            <a:pPr marL="0" indent="0">
              <a:lnSpc>
                <a:spcPct val="105000"/>
              </a:lnSpc>
              <a:buNone/>
            </a:pPr>
            <a:r>
              <a:rPr lang="en-US" sz="1250" b="1" dirty="0">
                <a:solidFill>
                  <a:srgbClr val="13211B"/>
                </a:solidFill>
                <a:latin typeface="Calibri" pitchFamily="34" charset="0"/>
                <a:ea typeface="Calibri" pitchFamily="34" charset="-122"/>
                <a:cs typeface="Calibri" pitchFamily="34" charset="-120"/>
              </a:rPr>
              <a:t>Multi-disease, multi-label</a:t>
            </a:r>
            <a:endParaRPr lang="en-US" sz="1250" dirty="0"/>
          </a:p>
        </p:txBody>
      </p:sp>
      <p:sp>
        <p:nvSpPr>
          <p:cNvPr id="15" name="Text 13"/>
          <p:cNvSpPr txBox="1"/>
          <p:nvPr/>
        </p:nvSpPr>
        <p:spPr>
          <a:xfrm>
            <a:off x="4076700" y="2438572"/>
            <a:ext cx="1691640" cy="658368"/>
          </a:xfrm>
          <a:prstGeom prst="rect">
            <a:avLst/>
          </a:prstGeom>
          <a:noFill/>
          <a:ln/>
        </p:spPr>
        <p:txBody>
          <a:bodyPr wrap="square" lIns="0" tIns="0" rIns="0" bIns="0" rtlCol="0" anchor="ctr"/>
          <a:lstStyle/>
          <a:p>
            <a:pPr marL="0" indent="0">
              <a:lnSpc>
                <a:spcPct val="108000"/>
              </a:lnSpc>
              <a:buNone/>
            </a:pPr>
            <a:r>
              <a:rPr lang="en-US" sz="950" dirty="0">
                <a:solidFill>
                  <a:srgbClr val="6E7C72"/>
                </a:solidFill>
                <a:latin typeface="Calibri" pitchFamily="34" charset="0"/>
                <a:ea typeface="Calibri" pitchFamily="34" charset="-122"/>
                <a:cs typeface="Calibri" pitchFamily="34" charset="-120"/>
              </a:rPr>
              <a:t>Real fields mix fungi, virus, mites and abiotic stress together</a:t>
            </a:r>
            <a:endParaRPr lang="en-US" sz="950" dirty="0"/>
          </a:p>
        </p:txBody>
      </p:sp>
      <p:sp>
        <p:nvSpPr>
          <p:cNvPr id="16" name="Shape 14"/>
          <p:cNvSpPr/>
          <p:nvPr/>
        </p:nvSpPr>
        <p:spPr>
          <a:xfrm>
            <a:off x="6115812" y="1469308"/>
            <a:ext cx="2057400" cy="1719072"/>
          </a:xfrm>
          <a:prstGeom prst="roundRect">
            <a:avLst>
              <a:gd name="adj" fmla="val 4255"/>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17" name="Text 15"/>
          <p:cNvSpPr txBox="1"/>
          <p:nvPr/>
        </p:nvSpPr>
        <p:spPr>
          <a:xfrm>
            <a:off x="6316980" y="1597324"/>
            <a:ext cx="1645920" cy="292608"/>
          </a:xfrm>
          <a:prstGeom prst="rect">
            <a:avLst/>
          </a:prstGeom>
          <a:noFill/>
          <a:ln/>
        </p:spPr>
        <p:txBody>
          <a:bodyPr wrap="square" lIns="0" tIns="0" rIns="0" bIns="0" rtlCol="0" anchor="ctr"/>
          <a:lstStyle/>
          <a:p>
            <a:pPr marL="0" indent="0">
              <a:buNone/>
            </a:pPr>
            <a:r>
              <a:rPr lang="en-US" sz="1100" b="1" kern="0" spc="100" dirty="0">
                <a:solidFill>
                  <a:srgbClr val="6E9443"/>
                </a:solidFill>
                <a:latin typeface="Calibri" pitchFamily="34" charset="0"/>
                <a:ea typeface="Calibri" pitchFamily="34" charset="-122"/>
                <a:cs typeface="Calibri" pitchFamily="34" charset="-120"/>
              </a:rPr>
              <a:t>8.3</a:t>
            </a:r>
            <a:endParaRPr lang="en-US" sz="1100" dirty="0"/>
          </a:p>
        </p:txBody>
      </p:sp>
      <p:sp>
        <p:nvSpPr>
          <p:cNvPr id="18" name="Text 16"/>
          <p:cNvSpPr txBox="1"/>
          <p:nvPr/>
        </p:nvSpPr>
        <p:spPr>
          <a:xfrm>
            <a:off x="6316980" y="1889932"/>
            <a:ext cx="1691640" cy="548640"/>
          </a:xfrm>
          <a:prstGeom prst="rect">
            <a:avLst/>
          </a:prstGeom>
          <a:noFill/>
          <a:ln/>
        </p:spPr>
        <p:txBody>
          <a:bodyPr wrap="square" lIns="0" tIns="0" rIns="0" bIns="0" rtlCol="0" anchor="t"/>
          <a:lstStyle/>
          <a:p>
            <a:pPr marL="0" indent="0">
              <a:lnSpc>
                <a:spcPct val="105000"/>
              </a:lnSpc>
              <a:buNone/>
            </a:pPr>
            <a:r>
              <a:rPr lang="en-US" sz="1250" b="1" dirty="0">
                <a:solidFill>
                  <a:srgbClr val="13211B"/>
                </a:solidFill>
                <a:latin typeface="Calibri" pitchFamily="34" charset="0"/>
                <a:ea typeface="Calibri" pitchFamily="34" charset="-122"/>
                <a:cs typeface="Calibri" pitchFamily="34" charset="-120"/>
              </a:rPr>
              <a:t>Standardised severity</a:t>
            </a:r>
            <a:endParaRPr lang="en-US" sz="1250" dirty="0"/>
          </a:p>
        </p:txBody>
      </p:sp>
      <p:sp>
        <p:nvSpPr>
          <p:cNvPr id="19" name="Text 17"/>
          <p:cNvSpPr txBox="1"/>
          <p:nvPr/>
        </p:nvSpPr>
        <p:spPr>
          <a:xfrm>
            <a:off x="6316980" y="2438572"/>
            <a:ext cx="1691640" cy="658368"/>
          </a:xfrm>
          <a:prstGeom prst="rect">
            <a:avLst/>
          </a:prstGeom>
          <a:noFill/>
          <a:ln/>
        </p:spPr>
        <p:txBody>
          <a:bodyPr wrap="square" lIns="0" tIns="0" rIns="0" bIns="0" rtlCol="0" anchor="ctr"/>
          <a:lstStyle/>
          <a:p>
            <a:pPr marL="0" indent="0">
              <a:lnSpc>
                <a:spcPct val="108000"/>
              </a:lnSpc>
              <a:buNone/>
            </a:pPr>
            <a:r>
              <a:rPr lang="en-US" sz="950" dirty="0">
                <a:solidFill>
                  <a:srgbClr val="6E7C72"/>
                </a:solidFill>
                <a:latin typeface="Calibri" pitchFamily="34" charset="0"/>
                <a:ea typeface="Calibri" pitchFamily="34" charset="-122"/>
                <a:cs typeface="Calibri" pitchFamily="34" charset="-120"/>
              </a:rPr>
              <a:t>No agreed 0–4 scale and no public dataset with lesion area</a:t>
            </a:r>
            <a:endParaRPr lang="en-US" sz="950" dirty="0"/>
          </a:p>
        </p:txBody>
      </p:sp>
      <p:sp>
        <p:nvSpPr>
          <p:cNvPr id="20" name="Shape 18"/>
          <p:cNvSpPr/>
          <p:nvPr/>
        </p:nvSpPr>
        <p:spPr>
          <a:xfrm>
            <a:off x="8356092" y="1469308"/>
            <a:ext cx="2057400" cy="1719072"/>
          </a:xfrm>
          <a:prstGeom prst="roundRect">
            <a:avLst>
              <a:gd name="adj" fmla="val 4255"/>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21" name="Text 19"/>
          <p:cNvSpPr txBox="1"/>
          <p:nvPr/>
        </p:nvSpPr>
        <p:spPr>
          <a:xfrm>
            <a:off x="8557260" y="1597324"/>
            <a:ext cx="1645920" cy="292608"/>
          </a:xfrm>
          <a:prstGeom prst="rect">
            <a:avLst/>
          </a:prstGeom>
          <a:noFill/>
          <a:ln/>
        </p:spPr>
        <p:txBody>
          <a:bodyPr wrap="square" lIns="0" tIns="0" rIns="0" bIns="0" rtlCol="0" anchor="ctr"/>
          <a:lstStyle/>
          <a:p>
            <a:pPr marL="0" indent="0">
              <a:buNone/>
            </a:pPr>
            <a:r>
              <a:rPr lang="en-US" sz="1100" b="1" kern="0" spc="100" dirty="0">
                <a:solidFill>
                  <a:srgbClr val="6E9443"/>
                </a:solidFill>
                <a:latin typeface="Calibri" pitchFamily="34" charset="0"/>
                <a:ea typeface="Calibri" pitchFamily="34" charset="-122"/>
                <a:cs typeface="Calibri" pitchFamily="34" charset="-120"/>
              </a:rPr>
              <a:t>8.4</a:t>
            </a:r>
            <a:endParaRPr lang="en-US" sz="1100" dirty="0"/>
          </a:p>
        </p:txBody>
      </p:sp>
      <p:sp>
        <p:nvSpPr>
          <p:cNvPr id="22" name="Text 20"/>
          <p:cNvSpPr txBox="1"/>
          <p:nvPr/>
        </p:nvSpPr>
        <p:spPr>
          <a:xfrm>
            <a:off x="8557260" y="1889932"/>
            <a:ext cx="1691640" cy="548640"/>
          </a:xfrm>
          <a:prstGeom prst="rect">
            <a:avLst/>
          </a:prstGeom>
          <a:noFill/>
          <a:ln/>
        </p:spPr>
        <p:txBody>
          <a:bodyPr wrap="square" lIns="0" tIns="0" rIns="0" bIns="0" rtlCol="0" anchor="t"/>
          <a:lstStyle/>
          <a:p>
            <a:pPr marL="0" indent="0">
              <a:lnSpc>
                <a:spcPct val="105000"/>
              </a:lnSpc>
              <a:buNone/>
            </a:pPr>
            <a:r>
              <a:rPr lang="en-US" sz="1250" b="1" dirty="0">
                <a:solidFill>
                  <a:srgbClr val="13211B"/>
                </a:solidFill>
                <a:latin typeface="Calibri" pitchFamily="34" charset="0"/>
                <a:ea typeface="Calibri" pitchFamily="34" charset="-122"/>
                <a:cs typeface="Calibri" pitchFamily="34" charset="-120"/>
              </a:rPr>
              <a:t>Robustness in the wild</a:t>
            </a:r>
            <a:endParaRPr lang="en-US" sz="1250" dirty="0"/>
          </a:p>
        </p:txBody>
      </p:sp>
      <p:sp>
        <p:nvSpPr>
          <p:cNvPr id="23" name="Text 21"/>
          <p:cNvSpPr txBox="1"/>
          <p:nvPr/>
        </p:nvSpPr>
        <p:spPr>
          <a:xfrm>
            <a:off x="8557260" y="2438572"/>
            <a:ext cx="1691640" cy="658368"/>
          </a:xfrm>
          <a:prstGeom prst="rect">
            <a:avLst/>
          </a:prstGeom>
          <a:noFill/>
          <a:ln/>
        </p:spPr>
        <p:txBody>
          <a:bodyPr wrap="square" lIns="0" tIns="0" rIns="0" bIns="0" rtlCol="0" anchor="ctr"/>
          <a:lstStyle/>
          <a:p>
            <a:pPr marL="0" indent="0">
              <a:lnSpc>
                <a:spcPct val="108000"/>
              </a:lnSpc>
              <a:buNone/>
            </a:pPr>
            <a:r>
              <a:rPr lang="en-US" sz="950" dirty="0">
                <a:solidFill>
                  <a:srgbClr val="6E7C72"/>
                </a:solidFill>
                <a:latin typeface="Calibri" pitchFamily="34" charset="0"/>
                <a:ea typeface="Calibri" pitchFamily="34" charset="-122"/>
                <a:cs typeface="Calibri" pitchFamily="34" charset="-120"/>
              </a:rPr>
              <a:t>Gaussian noise cannot stand in for rain, dust, motion blur and occlusion</a:t>
            </a:r>
            <a:endParaRPr lang="en-US" sz="950" dirty="0"/>
          </a:p>
        </p:txBody>
      </p:sp>
      <p:sp>
        <p:nvSpPr>
          <p:cNvPr id="24" name="Shape 22"/>
          <p:cNvSpPr/>
          <p:nvPr/>
        </p:nvSpPr>
        <p:spPr>
          <a:xfrm>
            <a:off x="548640" y="3401568"/>
            <a:ext cx="2057400" cy="1719072"/>
          </a:xfrm>
          <a:prstGeom prst="roundRect">
            <a:avLst>
              <a:gd name="adj" fmla="val 4255"/>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25" name="Text 23"/>
          <p:cNvSpPr txBox="1"/>
          <p:nvPr/>
        </p:nvSpPr>
        <p:spPr>
          <a:xfrm>
            <a:off x="749808" y="3529584"/>
            <a:ext cx="1645920" cy="292608"/>
          </a:xfrm>
          <a:prstGeom prst="rect">
            <a:avLst/>
          </a:prstGeom>
          <a:noFill/>
          <a:ln/>
        </p:spPr>
        <p:txBody>
          <a:bodyPr wrap="square" lIns="0" tIns="0" rIns="0" bIns="0" rtlCol="0" anchor="ctr"/>
          <a:lstStyle/>
          <a:p>
            <a:pPr marL="0" indent="0">
              <a:buNone/>
            </a:pPr>
            <a:r>
              <a:rPr lang="en-US" sz="1100" b="1" kern="0" spc="100" dirty="0">
                <a:solidFill>
                  <a:srgbClr val="6E9443"/>
                </a:solidFill>
                <a:latin typeface="Calibri" pitchFamily="34" charset="0"/>
                <a:ea typeface="Calibri" pitchFamily="34" charset="-122"/>
                <a:cs typeface="Calibri" pitchFamily="34" charset="-120"/>
              </a:rPr>
              <a:t>8.5</a:t>
            </a:r>
            <a:endParaRPr lang="en-US" sz="1100" dirty="0"/>
          </a:p>
        </p:txBody>
      </p:sp>
      <p:sp>
        <p:nvSpPr>
          <p:cNvPr id="26" name="Text 24"/>
          <p:cNvSpPr txBox="1"/>
          <p:nvPr/>
        </p:nvSpPr>
        <p:spPr>
          <a:xfrm>
            <a:off x="749808" y="3822192"/>
            <a:ext cx="1691640" cy="548640"/>
          </a:xfrm>
          <a:prstGeom prst="rect">
            <a:avLst/>
          </a:prstGeom>
          <a:noFill/>
          <a:ln/>
        </p:spPr>
        <p:txBody>
          <a:bodyPr wrap="square" lIns="0" tIns="0" rIns="0" bIns="0" rtlCol="0" anchor="t"/>
          <a:lstStyle/>
          <a:p>
            <a:pPr marL="0" indent="0">
              <a:lnSpc>
                <a:spcPct val="105000"/>
              </a:lnSpc>
              <a:buNone/>
            </a:pPr>
            <a:r>
              <a:rPr lang="en-US" sz="1250" b="1" dirty="0">
                <a:solidFill>
                  <a:srgbClr val="13211B"/>
                </a:solidFill>
                <a:latin typeface="Calibri" pitchFamily="34" charset="0"/>
                <a:ea typeface="Calibri" pitchFamily="34" charset="-122"/>
                <a:cs typeface="Calibri" pitchFamily="34" charset="-120"/>
              </a:rPr>
              <a:t>Detection before RGB signs</a:t>
            </a:r>
            <a:endParaRPr lang="en-US" sz="1250" dirty="0"/>
          </a:p>
        </p:txBody>
      </p:sp>
      <p:sp>
        <p:nvSpPr>
          <p:cNvPr id="27" name="Text 25"/>
          <p:cNvSpPr txBox="1"/>
          <p:nvPr/>
        </p:nvSpPr>
        <p:spPr>
          <a:xfrm>
            <a:off x="749808" y="4370832"/>
            <a:ext cx="1691640" cy="658368"/>
          </a:xfrm>
          <a:prstGeom prst="rect">
            <a:avLst/>
          </a:prstGeom>
          <a:noFill/>
          <a:ln/>
        </p:spPr>
        <p:txBody>
          <a:bodyPr wrap="square" lIns="0" tIns="0" rIns="0" bIns="0" rtlCol="0" anchor="ctr"/>
          <a:lstStyle/>
          <a:p>
            <a:pPr marL="0" indent="0">
              <a:lnSpc>
                <a:spcPct val="108000"/>
              </a:lnSpc>
              <a:buNone/>
            </a:pPr>
            <a:r>
              <a:rPr lang="en-US" sz="950" dirty="0">
                <a:solidFill>
                  <a:srgbClr val="6E7C72"/>
                </a:solidFill>
                <a:latin typeface="Calibri" pitchFamily="34" charset="0"/>
                <a:ea typeface="Calibri" pitchFamily="34" charset="-122"/>
                <a:cs typeface="Calibri" pitchFamily="34" charset="-120"/>
              </a:rPr>
              <a:t>HSI works but is expensive; the cheap path is RGB plus a phone thermal sensor</a:t>
            </a:r>
            <a:endParaRPr lang="en-US" sz="950" dirty="0"/>
          </a:p>
        </p:txBody>
      </p:sp>
      <p:sp>
        <p:nvSpPr>
          <p:cNvPr id="28" name="Shape 26"/>
          <p:cNvSpPr/>
          <p:nvPr/>
        </p:nvSpPr>
        <p:spPr>
          <a:xfrm>
            <a:off x="2788920" y="3401568"/>
            <a:ext cx="2057400" cy="1719072"/>
          </a:xfrm>
          <a:prstGeom prst="roundRect">
            <a:avLst>
              <a:gd name="adj" fmla="val 4255"/>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29" name="Text 27"/>
          <p:cNvSpPr txBox="1"/>
          <p:nvPr/>
        </p:nvSpPr>
        <p:spPr>
          <a:xfrm>
            <a:off x="2990088" y="3529584"/>
            <a:ext cx="1645920" cy="292608"/>
          </a:xfrm>
          <a:prstGeom prst="rect">
            <a:avLst/>
          </a:prstGeom>
          <a:noFill/>
          <a:ln/>
        </p:spPr>
        <p:txBody>
          <a:bodyPr wrap="square" lIns="0" tIns="0" rIns="0" bIns="0" rtlCol="0" anchor="ctr"/>
          <a:lstStyle/>
          <a:p>
            <a:pPr marL="0" indent="0">
              <a:buNone/>
            </a:pPr>
            <a:r>
              <a:rPr lang="en-US" sz="1100" b="1" kern="0" spc="100" dirty="0">
                <a:solidFill>
                  <a:srgbClr val="6E9443"/>
                </a:solidFill>
                <a:latin typeface="Calibri" pitchFamily="34" charset="0"/>
                <a:ea typeface="Calibri" pitchFamily="34" charset="-122"/>
                <a:cs typeface="Calibri" pitchFamily="34" charset="-120"/>
              </a:rPr>
              <a:t>8.6</a:t>
            </a:r>
            <a:endParaRPr lang="en-US" sz="1100" dirty="0"/>
          </a:p>
        </p:txBody>
      </p:sp>
      <p:sp>
        <p:nvSpPr>
          <p:cNvPr id="30" name="Text 28"/>
          <p:cNvSpPr txBox="1"/>
          <p:nvPr/>
        </p:nvSpPr>
        <p:spPr>
          <a:xfrm>
            <a:off x="2990088" y="3822192"/>
            <a:ext cx="1691640" cy="548640"/>
          </a:xfrm>
          <a:prstGeom prst="rect">
            <a:avLst/>
          </a:prstGeom>
          <a:noFill/>
          <a:ln/>
        </p:spPr>
        <p:txBody>
          <a:bodyPr wrap="square" lIns="0" tIns="0" rIns="0" bIns="0" rtlCol="0" anchor="t"/>
          <a:lstStyle/>
          <a:p>
            <a:pPr marL="0" indent="0">
              <a:lnSpc>
                <a:spcPct val="105000"/>
              </a:lnSpc>
              <a:buNone/>
            </a:pPr>
            <a:r>
              <a:rPr lang="en-US" sz="1250" b="1" dirty="0">
                <a:solidFill>
                  <a:srgbClr val="13211B"/>
                </a:solidFill>
                <a:latin typeface="Calibri" pitchFamily="34" charset="0"/>
                <a:ea typeface="Calibri" pitchFamily="34" charset="-122"/>
                <a:cs typeface="Calibri" pitchFamily="34" charset="-120"/>
              </a:rPr>
              <a:t>IoT and context</a:t>
            </a:r>
            <a:endParaRPr lang="en-US" sz="1250" dirty="0"/>
          </a:p>
        </p:txBody>
      </p:sp>
      <p:sp>
        <p:nvSpPr>
          <p:cNvPr id="31" name="Text 29"/>
          <p:cNvSpPr txBox="1"/>
          <p:nvPr/>
        </p:nvSpPr>
        <p:spPr>
          <a:xfrm>
            <a:off x="2990088" y="4370832"/>
            <a:ext cx="1691640" cy="658368"/>
          </a:xfrm>
          <a:prstGeom prst="rect">
            <a:avLst/>
          </a:prstGeom>
          <a:noFill/>
          <a:ln/>
        </p:spPr>
        <p:txBody>
          <a:bodyPr wrap="square" lIns="0" tIns="0" rIns="0" bIns="0" rtlCol="0" anchor="ctr"/>
          <a:lstStyle/>
          <a:p>
            <a:pPr marL="0" indent="0">
              <a:lnSpc>
                <a:spcPct val="108000"/>
              </a:lnSpc>
              <a:buNone/>
            </a:pPr>
            <a:r>
              <a:rPr lang="en-US" sz="950" dirty="0">
                <a:solidFill>
                  <a:srgbClr val="6E7C72"/>
                </a:solidFill>
                <a:latin typeface="Calibri" pitchFamily="34" charset="0"/>
                <a:ea typeface="Calibri" pitchFamily="34" charset="-122"/>
                <a:cs typeface="Calibri" pitchFamily="34" charset="-120"/>
              </a:rPr>
              <a:t>Very few systems link the image to humidity, temperature and growth stage</a:t>
            </a:r>
            <a:endParaRPr lang="en-US" sz="950" dirty="0"/>
          </a:p>
        </p:txBody>
      </p:sp>
      <p:sp>
        <p:nvSpPr>
          <p:cNvPr id="32" name="Shape 30"/>
          <p:cNvSpPr/>
          <p:nvPr/>
        </p:nvSpPr>
        <p:spPr>
          <a:xfrm>
            <a:off x="5029200" y="3401568"/>
            <a:ext cx="2057400" cy="1719072"/>
          </a:xfrm>
          <a:prstGeom prst="roundRect">
            <a:avLst>
              <a:gd name="adj" fmla="val 4255"/>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33" name="Text 31"/>
          <p:cNvSpPr txBox="1"/>
          <p:nvPr/>
        </p:nvSpPr>
        <p:spPr>
          <a:xfrm>
            <a:off x="5230368" y="3529584"/>
            <a:ext cx="1645920" cy="292608"/>
          </a:xfrm>
          <a:prstGeom prst="rect">
            <a:avLst/>
          </a:prstGeom>
          <a:noFill/>
          <a:ln/>
        </p:spPr>
        <p:txBody>
          <a:bodyPr wrap="square" lIns="0" tIns="0" rIns="0" bIns="0" rtlCol="0" anchor="ctr"/>
          <a:lstStyle/>
          <a:p>
            <a:pPr marL="0" indent="0">
              <a:buNone/>
            </a:pPr>
            <a:r>
              <a:rPr lang="en-US" sz="1100" b="1" kern="0" spc="100" dirty="0">
                <a:solidFill>
                  <a:srgbClr val="6E9443"/>
                </a:solidFill>
                <a:latin typeface="Calibri" pitchFamily="34" charset="0"/>
                <a:ea typeface="Calibri" pitchFamily="34" charset="-122"/>
                <a:cs typeface="Calibri" pitchFamily="34" charset="-120"/>
              </a:rPr>
              <a:t>8.7</a:t>
            </a:r>
            <a:endParaRPr lang="en-US" sz="1100" dirty="0"/>
          </a:p>
        </p:txBody>
      </p:sp>
      <p:sp>
        <p:nvSpPr>
          <p:cNvPr id="34" name="Text 32"/>
          <p:cNvSpPr txBox="1"/>
          <p:nvPr/>
        </p:nvSpPr>
        <p:spPr>
          <a:xfrm>
            <a:off x="5230368" y="3822192"/>
            <a:ext cx="1691640" cy="548640"/>
          </a:xfrm>
          <a:prstGeom prst="rect">
            <a:avLst/>
          </a:prstGeom>
          <a:noFill/>
          <a:ln/>
        </p:spPr>
        <p:txBody>
          <a:bodyPr wrap="square" lIns="0" tIns="0" rIns="0" bIns="0" rtlCol="0" anchor="t"/>
          <a:lstStyle/>
          <a:p>
            <a:pPr marL="0" indent="0">
              <a:lnSpc>
                <a:spcPct val="105000"/>
              </a:lnSpc>
              <a:buNone/>
            </a:pPr>
            <a:r>
              <a:rPr lang="en-US" sz="1250" b="1" dirty="0">
                <a:solidFill>
                  <a:srgbClr val="13211B"/>
                </a:solidFill>
                <a:latin typeface="Calibri" pitchFamily="34" charset="0"/>
                <a:ea typeface="Calibri" pitchFamily="34" charset="-122"/>
                <a:cs typeface="Calibri" pitchFamily="34" charset="-120"/>
              </a:rPr>
              <a:t>XAI stability, uncertainty</a:t>
            </a:r>
            <a:endParaRPr lang="en-US" sz="1250" dirty="0"/>
          </a:p>
        </p:txBody>
      </p:sp>
      <p:sp>
        <p:nvSpPr>
          <p:cNvPr id="35" name="Text 33"/>
          <p:cNvSpPr txBox="1"/>
          <p:nvPr/>
        </p:nvSpPr>
        <p:spPr>
          <a:xfrm>
            <a:off x="5230368" y="4370832"/>
            <a:ext cx="1691640" cy="658368"/>
          </a:xfrm>
          <a:prstGeom prst="rect">
            <a:avLst/>
          </a:prstGeom>
          <a:noFill/>
          <a:ln/>
        </p:spPr>
        <p:txBody>
          <a:bodyPr wrap="square" lIns="0" tIns="0" rIns="0" bIns="0" rtlCol="0" anchor="ctr"/>
          <a:lstStyle/>
          <a:p>
            <a:pPr marL="0" indent="0">
              <a:lnSpc>
                <a:spcPct val="108000"/>
              </a:lnSpc>
              <a:buNone/>
            </a:pPr>
            <a:r>
              <a:rPr lang="en-US" sz="950" dirty="0">
                <a:solidFill>
                  <a:srgbClr val="6E7C72"/>
                </a:solidFill>
                <a:latin typeface="Calibri" pitchFamily="34" charset="0"/>
                <a:ea typeface="Calibri" pitchFamily="34" charset="-122"/>
                <a:cs typeface="Calibri" pitchFamily="34" charset="-120"/>
              </a:rPr>
              <a:t>Grad-CAM is common but has no stability criterion; Bayesian work is nearly absent</a:t>
            </a:r>
            <a:endParaRPr lang="en-US" sz="950" dirty="0"/>
          </a:p>
        </p:txBody>
      </p:sp>
      <p:sp>
        <p:nvSpPr>
          <p:cNvPr id="36" name="Shape 34"/>
          <p:cNvSpPr/>
          <p:nvPr/>
        </p:nvSpPr>
        <p:spPr>
          <a:xfrm>
            <a:off x="7269480" y="3401568"/>
            <a:ext cx="2057400" cy="1719072"/>
          </a:xfrm>
          <a:prstGeom prst="roundRect">
            <a:avLst>
              <a:gd name="adj" fmla="val 4255"/>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37" name="Text 35"/>
          <p:cNvSpPr txBox="1"/>
          <p:nvPr/>
        </p:nvSpPr>
        <p:spPr>
          <a:xfrm>
            <a:off x="7470648" y="3529584"/>
            <a:ext cx="1645920" cy="292608"/>
          </a:xfrm>
          <a:prstGeom prst="rect">
            <a:avLst/>
          </a:prstGeom>
          <a:noFill/>
          <a:ln/>
        </p:spPr>
        <p:txBody>
          <a:bodyPr wrap="square" lIns="0" tIns="0" rIns="0" bIns="0" rtlCol="0" anchor="ctr"/>
          <a:lstStyle/>
          <a:p>
            <a:pPr marL="0" indent="0">
              <a:buNone/>
            </a:pPr>
            <a:r>
              <a:rPr lang="en-US" sz="1100" b="1" kern="0" spc="100" dirty="0">
                <a:solidFill>
                  <a:srgbClr val="6E9443"/>
                </a:solidFill>
                <a:latin typeface="Calibri" pitchFamily="34" charset="0"/>
                <a:ea typeface="Calibri" pitchFamily="34" charset="-122"/>
                <a:cs typeface="Calibri" pitchFamily="34" charset="-120"/>
              </a:rPr>
              <a:t>8.8</a:t>
            </a:r>
            <a:endParaRPr lang="en-US" sz="1100" dirty="0"/>
          </a:p>
        </p:txBody>
      </p:sp>
      <p:sp>
        <p:nvSpPr>
          <p:cNvPr id="38" name="Text 36"/>
          <p:cNvSpPr txBox="1"/>
          <p:nvPr/>
        </p:nvSpPr>
        <p:spPr>
          <a:xfrm>
            <a:off x="7470648" y="3822192"/>
            <a:ext cx="1691640" cy="548640"/>
          </a:xfrm>
          <a:prstGeom prst="rect">
            <a:avLst/>
          </a:prstGeom>
          <a:noFill/>
          <a:ln/>
        </p:spPr>
        <p:txBody>
          <a:bodyPr wrap="square" lIns="0" tIns="0" rIns="0" bIns="0" rtlCol="0" anchor="t"/>
          <a:lstStyle/>
          <a:p>
            <a:pPr marL="0" indent="0">
              <a:lnSpc>
                <a:spcPct val="105000"/>
              </a:lnSpc>
              <a:buNone/>
            </a:pPr>
            <a:r>
              <a:rPr lang="en-US" sz="1250" b="1" dirty="0">
                <a:solidFill>
                  <a:srgbClr val="13211B"/>
                </a:solidFill>
                <a:latin typeface="Calibri" pitchFamily="34" charset="0"/>
                <a:ea typeface="Calibri" pitchFamily="34" charset="-122"/>
                <a:cs typeface="Calibri" pitchFamily="34" charset="-120"/>
              </a:rPr>
              <a:t>Continual learning</a:t>
            </a:r>
            <a:endParaRPr lang="en-US" sz="1250" dirty="0"/>
          </a:p>
        </p:txBody>
      </p:sp>
      <p:sp>
        <p:nvSpPr>
          <p:cNvPr id="39" name="Text 37"/>
          <p:cNvSpPr txBox="1"/>
          <p:nvPr/>
        </p:nvSpPr>
        <p:spPr>
          <a:xfrm>
            <a:off x="7470648" y="4370832"/>
            <a:ext cx="1691640" cy="658368"/>
          </a:xfrm>
          <a:prstGeom prst="rect">
            <a:avLst/>
          </a:prstGeom>
          <a:noFill/>
          <a:ln/>
        </p:spPr>
        <p:txBody>
          <a:bodyPr wrap="square" lIns="0" tIns="0" rIns="0" bIns="0" rtlCol="0" anchor="ctr"/>
          <a:lstStyle/>
          <a:p>
            <a:pPr marL="0" indent="0">
              <a:lnSpc>
                <a:spcPct val="108000"/>
              </a:lnSpc>
              <a:buNone/>
            </a:pPr>
            <a:r>
              <a:rPr lang="en-US" sz="950" dirty="0">
                <a:solidFill>
                  <a:srgbClr val="6E7C72"/>
                </a:solidFill>
                <a:latin typeface="Calibri" pitchFamily="34" charset="0"/>
                <a:ea typeface="Calibri" pitchFamily="34" charset="-122"/>
                <a:cs typeface="Calibri" pitchFamily="34" charset="-120"/>
              </a:rPr>
              <a:t>New diseases arrive each season and region; update without forgetting old classes</a:t>
            </a:r>
            <a:endParaRPr lang="en-US" sz="950" dirty="0"/>
          </a:p>
        </p:txBody>
      </p:sp>
      <p:sp>
        <p:nvSpPr>
          <p:cNvPr id="40" name="Shape 38"/>
          <p:cNvSpPr/>
          <p:nvPr/>
        </p:nvSpPr>
        <p:spPr>
          <a:xfrm>
            <a:off x="9509760" y="3401568"/>
            <a:ext cx="2057400" cy="1719072"/>
          </a:xfrm>
          <a:prstGeom prst="roundRect">
            <a:avLst>
              <a:gd name="adj" fmla="val 4255"/>
            </a:avLst>
          </a:prstGeom>
          <a:solidFill>
            <a:srgbClr val="FBEBEA"/>
          </a:solidFill>
          <a:ln w="12700">
            <a:solidFill>
              <a:srgbClr val="F0D2D1"/>
            </a:solidFill>
            <a:prstDash val="solid"/>
          </a:ln>
          <a:effectLst>
            <a:outerShdw blurRad="127000" dist="25400" dir="5400000" algn="bl" rotWithShape="0">
              <a:srgbClr val="1B3A2B">
                <a:alpha val="10000"/>
              </a:srgbClr>
            </a:outerShdw>
          </a:effectLst>
        </p:spPr>
      </p:sp>
      <p:sp>
        <p:nvSpPr>
          <p:cNvPr id="41" name="Text 39"/>
          <p:cNvSpPr txBox="1"/>
          <p:nvPr/>
        </p:nvSpPr>
        <p:spPr>
          <a:xfrm>
            <a:off x="9710928" y="3529584"/>
            <a:ext cx="1645920" cy="292608"/>
          </a:xfrm>
          <a:prstGeom prst="rect">
            <a:avLst/>
          </a:prstGeom>
          <a:noFill/>
          <a:ln/>
        </p:spPr>
        <p:txBody>
          <a:bodyPr wrap="square" lIns="0" tIns="0" rIns="0" bIns="0" rtlCol="0" anchor="ctr"/>
          <a:lstStyle/>
          <a:p>
            <a:pPr marL="0" indent="0">
              <a:buNone/>
            </a:pPr>
            <a:r>
              <a:rPr lang="en-US" sz="1100" b="1" kern="0" spc="100" dirty="0">
                <a:solidFill>
                  <a:srgbClr val="C62828"/>
                </a:solidFill>
                <a:latin typeface="Calibri" pitchFamily="34" charset="0"/>
                <a:ea typeface="Calibri" pitchFamily="34" charset="-122"/>
                <a:cs typeface="Calibri" pitchFamily="34" charset="-120"/>
              </a:rPr>
              <a:t>8.9</a:t>
            </a:r>
            <a:endParaRPr lang="en-US" sz="1100" dirty="0"/>
          </a:p>
        </p:txBody>
      </p:sp>
      <p:sp>
        <p:nvSpPr>
          <p:cNvPr id="42" name="Text 40"/>
          <p:cNvSpPr txBox="1"/>
          <p:nvPr/>
        </p:nvSpPr>
        <p:spPr>
          <a:xfrm>
            <a:off x="9710928" y="3822192"/>
            <a:ext cx="1691640" cy="548640"/>
          </a:xfrm>
          <a:prstGeom prst="rect">
            <a:avLst/>
          </a:prstGeom>
          <a:noFill/>
          <a:ln/>
        </p:spPr>
        <p:txBody>
          <a:bodyPr wrap="square" lIns="0" tIns="0" rIns="0" bIns="0" rtlCol="0" anchor="t"/>
          <a:lstStyle/>
          <a:p>
            <a:pPr marL="0" indent="0">
              <a:lnSpc>
                <a:spcPct val="105000"/>
              </a:lnSpc>
              <a:buNone/>
            </a:pPr>
            <a:r>
              <a:rPr lang="en-US" sz="1250" b="1" dirty="0">
                <a:solidFill>
                  <a:srgbClr val="C62828"/>
                </a:solidFill>
                <a:latin typeface="Calibri" pitchFamily="34" charset="0"/>
                <a:ea typeface="Calibri" pitchFamily="34" charset="-122"/>
                <a:cs typeface="Calibri" pitchFamily="34" charset="-120"/>
              </a:rPr>
              <a:t>Fruit seg + priority QAT</a:t>
            </a:r>
            <a:endParaRPr lang="en-US" sz="1250" dirty="0"/>
          </a:p>
        </p:txBody>
      </p:sp>
      <p:sp>
        <p:nvSpPr>
          <p:cNvPr id="43" name="Text 41"/>
          <p:cNvSpPr txBox="1"/>
          <p:nvPr/>
        </p:nvSpPr>
        <p:spPr>
          <a:xfrm>
            <a:off x="9710928" y="4370832"/>
            <a:ext cx="1691640" cy="658368"/>
          </a:xfrm>
          <a:prstGeom prst="rect">
            <a:avLst/>
          </a:prstGeom>
          <a:noFill/>
          <a:ln/>
        </p:spPr>
        <p:txBody>
          <a:bodyPr wrap="square" lIns="0" tIns="0" rIns="0" bIns="0" rtlCol="0" anchor="ctr"/>
          <a:lstStyle/>
          <a:p>
            <a:pPr marL="0" indent="0">
              <a:lnSpc>
                <a:spcPct val="108000"/>
              </a:lnSpc>
              <a:buNone/>
            </a:pPr>
            <a:r>
              <a:rPr lang="en-US" sz="950" dirty="0">
                <a:solidFill>
                  <a:srgbClr val="13211B"/>
                </a:solidFill>
                <a:latin typeface="Calibri" pitchFamily="34" charset="0"/>
                <a:ea typeface="Calibri" pitchFamily="34" charset="-122"/>
                <a:cs typeface="Calibri" pitchFamily="34" charset="-120"/>
              </a:rPr>
              <a:t>Double gap: multi-organ leaf–fruit networks, and mixed precision for small-lesion heads</a:t>
            </a:r>
            <a:endParaRPr lang="en-US" sz="950" dirty="0"/>
          </a:p>
        </p:txBody>
      </p:sp>
      <p:sp>
        <p:nvSpPr>
          <p:cNvPr id="44" name="Shape 42"/>
          <p:cNvSpPr/>
          <p:nvPr/>
        </p:nvSpPr>
        <p:spPr>
          <a:xfrm>
            <a:off x="548640" y="5358384"/>
            <a:ext cx="11091672" cy="859536"/>
          </a:xfrm>
          <a:prstGeom prst="roundRect">
            <a:avLst>
              <a:gd name="adj" fmla="val 8511"/>
            </a:avLst>
          </a:prstGeom>
          <a:solidFill>
            <a:srgbClr val="F2F6EF"/>
          </a:solidFill>
          <a:ln w="12700">
            <a:solidFill>
              <a:srgbClr val="D9E2D2"/>
            </a:solidFill>
            <a:prstDash val="solid"/>
          </a:ln>
          <a:effectLst>
            <a:outerShdw blurRad="127000" dist="25400" dir="5400000" algn="bl" rotWithShape="0">
              <a:srgbClr val="1B3A2B">
                <a:alpha val="10000"/>
              </a:srgbClr>
            </a:outerShdw>
          </a:effectLst>
        </p:spPr>
      </p:sp>
      <p:sp>
        <p:nvSpPr>
          <p:cNvPr id="45" name="Text 43"/>
          <p:cNvSpPr txBox="1"/>
          <p:nvPr/>
        </p:nvSpPr>
        <p:spPr>
          <a:xfrm>
            <a:off x="859536" y="5358384"/>
            <a:ext cx="10469880" cy="859536"/>
          </a:xfrm>
          <a:prstGeom prst="rect">
            <a:avLst/>
          </a:prstGeom>
          <a:noFill/>
          <a:ln/>
        </p:spPr>
        <p:txBody>
          <a:bodyPr wrap="square" lIns="0" tIns="0" rIns="0" bIns="0" rtlCol="0" anchor="ctr"/>
          <a:lstStyle/>
          <a:p>
            <a:pPr marL="0" indent="0">
              <a:lnSpc>
                <a:spcPct val="112000"/>
              </a:lnSpc>
              <a:buNone/>
            </a:pPr>
            <a:r>
              <a:rPr lang="en-US" sz="1200" dirty="0">
                <a:solidFill>
                  <a:srgbClr val="13211B"/>
                </a:solidFill>
                <a:latin typeface="Calibri" pitchFamily="34" charset="0"/>
                <a:ea typeface="Calibri" pitchFamily="34" charset="-122"/>
                <a:cs typeface="Calibri" pitchFamily="34" charset="-120"/>
              </a:rPr>
              <a:t>Two secondary gaps: there is no shared field leaderboard, so SOTA claims cannot be compared with each other; and most 99% reports come without calibration. A confidently wrong model is more dangerous than a slightly weaker one that knows it is unsure.</a:t>
            </a:r>
            <a:endParaRPr lang="en-US" sz="1200" dirty="0"/>
          </a:p>
        </p:txBody>
      </p:sp>
      <p:sp>
        <p:nvSpPr>
          <p:cNvPr id="46" name="Text 44"/>
          <p:cNvSpPr txBox="1"/>
          <p:nvPr/>
        </p:nvSpPr>
        <p:spPr>
          <a:xfrm>
            <a:off x="548640" y="6345936"/>
            <a:ext cx="11091672" cy="274320"/>
          </a:xfrm>
          <a:prstGeom prst="rect">
            <a:avLst/>
          </a:prstGeom>
          <a:noFill/>
          <a:ln/>
        </p:spPr>
        <p:txBody>
          <a:bodyPr wrap="square" lIns="0" tIns="0" rIns="0" bIns="0" rtlCol="0" anchor="ctr"/>
          <a:lstStyle/>
          <a:p>
            <a:pPr marL="0" indent="0" algn="l">
              <a:buNone/>
            </a:pPr>
            <a:r>
              <a:rPr lang="en-US" sz="1000" i="1" dirty="0">
                <a:solidFill>
                  <a:srgbClr val="6E7C72"/>
                </a:solidFill>
                <a:latin typeface="Calibri" pitchFamily="34" charset="0"/>
                <a:ea typeface="Calibri" pitchFamily="34" charset="-122"/>
                <a:cs typeface="Calibri" pitchFamily="34" charset="-120"/>
              </a:rPr>
              <a:t>Sections 8.1–8.10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1B3A2B"/>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34733"/>
          </a:solidFill>
          <a:ln w="12700">
            <a:solidFill>
              <a:srgbClr val="333333"/>
            </a:solidFill>
            <a:prstDash val="solid"/>
          </a:ln>
        </p:spPr>
      </p:sp>
      <p:sp>
        <p:nvSpPr>
          <p:cNvPr id="3" name="Text 1"/>
          <p:cNvSpPr txBox="1"/>
          <p:nvPr/>
        </p:nvSpPr>
        <p:spPr>
          <a:xfrm>
            <a:off x="548640" y="310896"/>
            <a:ext cx="9144000" cy="237744"/>
          </a:xfrm>
          <a:prstGeom prst="rect">
            <a:avLst/>
          </a:prstGeom>
          <a:noFill/>
          <a:ln/>
        </p:spPr>
        <p:txBody>
          <a:bodyPr wrap="square" lIns="0" tIns="0" rIns="0" bIns="0" rtlCol="0" anchor="ctr"/>
          <a:lstStyle/>
          <a:p>
            <a:pPr marL="0" indent="0" algn="l">
              <a:buNone/>
            </a:pPr>
            <a:r>
              <a:rPr lang="en-US" sz="1100" b="1" kern="0" spc="200" dirty="0">
                <a:solidFill>
                  <a:srgbClr val="97BC62"/>
                </a:solidFill>
                <a:latin typeface="Calibri" pitchFamily="34" charset="0"/>
                <a:ea typeface="Calibri" pitchFamily="34" charset="-122"/>
                <a:cs typeface="Calibri" pitchFamily="34" charset="-120"/>
              </a:rPr>
              <a:t>PART 6 · RECOMMENDATIONS</a:t>
            </a:r>
            <a:endParaRPr lang="en-US" sz="1100" dirty="0"/>
          </a:p>
        </p:txBody>
      </p:sp>
      <p:sp>
        <p:nvSpPr>
          <p:cNvPr id="4" name="Text 2"/>
          <p:cNvSpPr txBox="1"/>
          <p:nvPr/>
        </p:nvSpPr>
        <p:spPr>
          <a:xfrm>
            <a:off x="548640" y="585216"/>
            <a:ext cx="11091672" cy="713232"/>
          </a:xfrm>
          <a:prstGeom prst="rect">
            <a:avLst/>
          </a:prstGeom>
          <a:noFill/>
          <a:ln/>
        </p:spPr>
        <p:txBody>
          <a:bodyPr wrap="square" lIns="0" tIns="0" rIns="0" bIns="0" rtlCol="0" anchor="t"/>
          <a:lstStyle/>
          <a:p>
            <a:pPr marL="0" indent="0" algn="l">
              <a:buNone/>
            </a:pPr>
            <a:r>
              <a:rPr lang="en-US" sz="3000" b="1" dirty="0">
                <a:solidFill>
                  <a:srgbClr val="FFFFFF"/>
                </a:solidFill>
                <a:latin typeface="Cambria" pitchFamily="34" charset="0"/>
                <a:ea typeface="Cambria" pitchFamily="34" charset="-122"/>
                <a:cs typeface="Cambria" pitchFamily="34" charset="-120"/>
              </a:rPr>
              <a:t>Our direction</a:t>
            </a:r>
            <a:endParaRPr lang="en-US" sz="3000" dirty="0"/>
          </a:p>
        </p:txBody>
      </p:sp>
      <p:sp>
        <p:nvSpPr>
          <p:cNvPr id="5" name="Shape 3"/>
          <p:cNvSpPr/>
          <p:nvPr/>
        </p:nvSpPr>
        <p:spPr>
          <a:xfrm>
            <a:off x="548640" y="1481328"/>
            <a:ext cx="7040880" cy="1024128"/>
          </a:xfrm>
          <a:prstGeom prst="roundRect">
            <a:avLst>
              <a:gd name="adj" fmla="val 7143"/>
            </a:avLst>
          </a:prstGeom>
          <a:solidFill>
            <a:srgbClr val="234733"/>
          </a:solidFill>
          <a:ln w="12700">
            <a:solidFill>
              <a:srgbClr val="2F5B41"/>
            </a:solidFill>
            <a:prstDash val="solid"/>
          </a:ln>
        </p:spPr>
      </p:sp>
      <p:sp>
        <p:nvSpPr>
          <p:cNvPr id="6" name="Shape 4"/>
          <p:cNvSpPr/>
          <p:nvPr/>
        </p:nvSpPr>
        <p:spPr>
          <a:xfrm>
            <a:off x="804672" y="1682496"/>
            <a:ext cx="365760" cy="365760"/>
          </a:xfrm>
          <a:prstGeom prst="ellipse">
            <a:avLst/>
          </a:prstGeom>
          <a:solidFill>
            <a:srgbClr val="97BC62"/>
          </a:solidFill>
          <a:ln w="12700">
            <a:solidFill>
              <a:srgbClr val="97BC62"/>
            </a:solidFill>
            <a:prstDash val="solid"/>
          </a:ln>
        </p:spPr>
      </p:sp>
      <p:sp>
        <p:nvSpPr>
          <p:cNvPr id="7" name="Text 5"/>
          <p:cNvSpPr txBox="1"/>
          <p:nvPr/>
        </p:nvSpPr>
        <p:spPr>
          <a:xfrm>
            <a:off x="804672" y="16824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80160" y="1627632"/>
            <a:ext cx="603504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Data</a:t>
            </a:r>
            <a:endParaRPr lang="en-US" sz="1350" dirty="0"/>
          </a:p>
        </p:txBody>
      </p:sp>
      <p:sp>
        <p:nvSpPr>
          <p:cNvPr id="9" name="Text 7"/>
          <p:cNvSpPr txBox="1"/>
          <p:nvPr/>
        </p:nvSpPr>
        <p:spPr>
          <a:xfrm>
            <a:off x="1280160" y="1920240"/>
            <a:ext cx="6035040" cy="512064"/>
          </a:xfrm>
          <a:prstGeom prst="rect">
            <a:avLst/>
          </a:prstGeom>
          <a:noFill/>
          <a:ln/>
        </p:spPr>
        <p:txBody>
          <a:bodyPr wrap="square" lIns="0" tIns="0" rIns="0" bIns="0" rtlCol="0" anchor="ctr"/>
          <a:lstStyle/>
          <a:p>
            <a:pPr marL="0" indent="0">
              <a:lnSpc>
                <a:spcPct val="108000"/>
              </a:lnSpc>
              <a:buNone/>
            </a:pPr>
            <a:r>
              <a:rPr lang="en-US" sz="1100" dirty="0">
                <a:solidFill>
                  <a:srgbClr val="E8F0E2"/>
                </a:solidFill>
                <a:latin typeface="Calibri" pitchFamily="34" charset="0"/>
                <a:ea typeface="Calibri" pitchFamily="34" charset="-122"/>
                <a:cs typeface="Calibri" pitchFamily="34" charset="-120"/>
              </a:rPr>
              <a:t>The tomato subset of PlantSeg — in-the-wild pixel masks, split 620 / 85 / 176, with symptom masks binarised.</a:t>
            </a:r>
            <a:endParaRPr lang="en-US" sz="1100" dirty="0"/>
          </a:p>
        </p:txBody>
      </p:sp>
      <p:sp>
        <p:nvSpPr>
          <p:cNvPr id="10" name="Shape 8"/>
          <p:cNvSpPr/>
          <p:nvPr/>
        </p:nvSpPr>
        <p:spPr>
          <a:xfrm>
            <a:off x="548640" y="2615184"/>
            <a:ext cx="7040880" cy="1024128"/>
          </a:xfrm>
          <a:prstGeom prst="roundRect">
            <a:avLst>
              <a:gd name="adj" fmla="val 7143"/>
            </a:avLst>
          </a:prstGeom>
          <a:solidFill>
            <a:srgbClr val="234733"/>
          </a:solidFill>
          <a:ln w="12700">
            <a:solidFill>
              <a:srgbClr val="2F5B41"/>
            </a:solidFill>
            <a:prstDash val="solid"/>
          </a:ln>
        </p:spPr>
      </p:sp>
      <p:sp>
        <p:nvSpPr>
          <p:cNvPr id="11" name="Shape 9"/>
          <p:cNvSpPr/>
          <p:nvPr/>
        </p:nvSpPr>
        <p:spPr>
          <a:xfrm>
            <a:off x="804672" y="2816352"/>
            <a:ext cx="365760" cy="365760"/>
          </a:xfrm>
          <a:prstGeom prst="ellipse">
            <a:avLst/>
          </a:prstGeom>
          <a:solidFill>
            <a:srgbClr val="97BC62"/>
          </a:solidFill>
          <a:ln w="12700">
            <a:solidFill>
              <a:srgbClr val="97BC62"/>
            </a:solidFill>
            <a:prstDash val="solid"/>
          </a:ln>
        </p:spPr>
      </p:sp>
      <p:sp>
        <p:nvSpPr>
          <p:cNvPr id="12" name="Text 10"/>
          <p:cNvSpPr txBox="1"/>
          <p:nvPr/>
        </p:nvSpPr>
        <p:spPr>
          <a:xfrm>
            <a:off x="804672" y="28163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280160" y="2761488"/>
            <a:ext cx="603504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Architecture anchor</a:t>
            </a:r>
            <a:endParaRPr lang="en-US" sz="1350" dirty="0"/>
          </a:p>
        </p:txBody>
      </p:sp>
      <p:sp>
        <p:nvSpPr>
          <p:cNvPr id="14" name="Text 12"/>
          <p:cNvSpPr txBox="1"/>
          <p:nvPr/>
        </p:nvSpPr>
        <p:spPr>
          <a:xfrm>
            <a:off x="1280160" y="3054096"/>
            <a:ext cx="6035040" cy="512064"/>
          </a:xfrm>
          <a:prstGeom prst="rect">
            <a:avLst/>
          </a:prstGeom>
          <a:noFill/>
          <a:ln/>
        </p:spPr>
        <p:txBody>
          <a:bodyPr wrap="square" lIns="0" tIns="0" rIns="0" bIns="0" rtlCol="0" anchor="ctr"/>
          <a:lstStyle/>
          <a:p>
            <a:pPr marL="0" indent="0">
              <a:lnSpc>
                <a:spcPct val="108000"/>
              </a:lnSpc>
              <a:buNone/>
            </a:pPr>
            <a:r>
              <a:rPr lang="en-US" sz="1100" dirty="0">
                <a:solidFill>
                  <a:srgbClr val="E8F0E2"/>
                </a:solidFill>
                <a:latin typeface="Calibri" pitchFamily="34" charset="0"/>
                <a:ea typeface="Calibri" pitchFamily="34" charset="-122"/>
                <a:cs typeface="Calibri" pitchFamily="34" charset="-120"/>
              </a:rPr>
              <a:t>MobileNetV3 – LR-ASPP (~3.2M parameters, available in torchvision) so every ablation sits on the same backbone.</a:t>
            </a:r>
            <a:endParaRPr lang="en-US" sz="1100" dirty="0"/>
          </a:p>
        </p:txBody>
      </p:sp>
      <p:sp>
        <p:nvSpPr>
          <p:cNvPr id="15" name="Shape 13"/>
          <p:cNvSpPr/>
          <p:nvPr/>
        </p:nvSpPr>
        <p:spPr>
          <a:xfrm>
            <a:off x="548640" y="3749040"/>
            <a:ext cx="7040880" cy="1024128"/>
          </a:xfrm>
          <a:prstGeom prst="roundRect">
            <a:avLst>
              <a:gd name="adj" fmla="val 7143"/>
            </a:avLst>
          </a:prstGeom>
          <a:solidFill>
            <a:srgbClr val="234733"/>
          </a:solidFill>
          <a:ln w="12700">
            <a:solidFill>
              <a:srgbClr val="2F5B41"/>
            </a:solidFill>
            <a:prstDash val="solid"/>
          </a:ln>
        </p:spPr>
      </p:sp>
      <p:sp>
        <p:nvSpPr>
          <p:cNvPr id="16" name="Shape 14"/>
          <p:cNvSpPr/>
          <p:nvPr/>
        </p:nvSpPr>
        <p:spPr>
          <a:xfrm>
            <a:off x="804672" y="3950208"/>
            <a:ext cx="365760" cy="365760"/>
          </a:xfrm>
          <a:prstGeom prst="ellipse">
            <a:avLst/>
          </a:prstGeom>
          <a:solidFill>
            <a:srgbClr val="97BC62"/>
          </a:solidFill>
          <a:ln w="12700">
            <a:solidFill>
              <a:srgbClr val="97BC62"/>
            </a:solidFill>
            <a:prstDash val="solid"/>
          </a:ln>
        </p:spPr>
      </p:sp>
      <p:sp>
        <p:nvSpPr>
          <p:cNvPr id="17" name="Text 15"/>
          <p:cNvSpPr txBox="1"/>
          <p:nvPr/>
        </p:nvSpPr>
        <p:spPr>
          <a:xfrm>
            <a:off x="804672" y="39502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280160" y="3895344"/>
            <a:ext cx="603504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Baseline ladder</a:t>
            </a:r>
            <a:endParaRPr lang="en-US" sz="1350" dirty="0"/>
          </a:p>
        </p:txBody>
      </p:sp>
      <p:sp>
        <p:nvSpPr>
          <p:cNvPr id="19" name="Text 17"/>
          <p:cNvSpPr txBox="1"/>
          <p:nvPr/>
        </p:nvSpPr>
        <p:spPr>
          <a:xfrm>
            <a:off x="1280160" y="4187952"/>
            <a:ext cx="6035040" cy="512064"/>
          </a:xfrm>
          <a:prstGeom prst="rect">
            <a:avLst/>
          </a:prstGeom>
          <a:noFill/>
          <a:ln/>
        </p:spPr>
        <p:txBody>
          <a:bodyPr wrap="square" lIns="0" tIns="0" rIns="0" bIns="0" rtlCol="0" anchor="ctr"/>
          <a:lstStyle/>
          <a:p>
            <a:pPr marL="0" indent="0">
              <a:lnSpc>
                <a:spcPct val="108000"/>
              </a:lnSpc>
              <a:buNone/>
            </a:pPr>
            <a:r>
              <a:rPr lang="en-US" sz="1100" dirty="0">
                <a:solidFill>
                  <a:srgbClr val="E8F0E2"/>
                </a:solidFill>
                <a:latin typeface="Calibri" pitchFamily="34" charset="0"/>
                <a:ea typeface="Calibri" pitchFamily="34" charset="-122"/>
                <a:cs typeface="Calibri" pitchFamily="34" charset="-120"/>
              </a:rPr>
              <a:t>FP32 → PTQ nearest → AdaRound → standard QAT → knowledge distillation → LBQAT. This separates our contribution from what a small network gives for free.</a:t>
            </a:r>
            <a:endParaRPr lang="en-US" sz="1100" dirty="0"/>
          </a:p>
        </p:txBody>
      </p:sp>
      <p:sp>
        <p:nvSpPr>
          <p:cNvPr id="20" name="Text 18"/>
          <p:cNvSpPr txBox="1"/>
          <p:nvPr/>
        </p:nvSpPr>
        <p:spPr>
          <a:xfrm>
            <a:off x="548640" y="4919472"/>
            <a:ext cx="7040880" cy="548640"/>
          </a:xfrm>
          <a:prstGeom prst="rect">
            <a:avLst/>
          </a:prstGeom>
          <a:noFill/>
          <a:ln/>
        </p:spPr>
        <p:txBody>
          <a:bodyPr wrap="square" lIns="0" tIns="0" rIns="0" bIns="0" rtlCol="0" anchor="ctr"/>
          <a:lstStyle/>
          <a:p>
            <a:pPr marL="0" indent="0">
              <a:lnSpc>
                <a:spcPct val="110000"/>
              </a:lnSpc>
              <a:buNone/>
            </a:pPr>
            <a:r>
              <a:rPr lang="en-US" sz="1150" i="1" dirty="0">
                <a:solidFill>
                  <a:srgbClr val="A9BCA4"/>
                </a:solidFill>
                <a:latin typeface="Calibri" pitchFamily="34" charset="0"/>
                <a:ea typeface="Calibri" pitchFamily="34" charset="-122"/>
                <a:cs typeface="Calibri" pitchFamily="34" charset="-120"/>
              </a:rPr>
              <a:t>Every configuration reports the same metric set: macro-F1, Dice, IoU, burden drift, artefact size, MACs, and latency measured on the same device and backend.</a:t>
            </a:r>
            <a:endParaRPr lang="en-US" sz="1150" dirty="0"/>
          </a:p>
        </p:txBody>
      </p:sp>
      <p:sp>
        <p:nvSpPr>
          <p:cNvPr id="21" name="Shape 19"/>
          <p:cNvSpPr/>
          <p:nvPr/>
        </p:nvSpPr>
        <p:spPr>
          <a:xfrm>
            <a:off x="7918704" y="1481328"/>
            <a:ext cx="3721608" cy="3182112"/>
          </a:xfrm>
          <a:prstGeom prst="roundRect">
            <a:avLst>
              <a:gd name="adj" fmla="val 2299"/>
            </a:avLst>
          </a:prstGeom>
          <a:solidFill>
            <a:srgbClr val="234733"/>
          </a:solidFill>
          <a:ln w="12700">
            <a:solidFill>
              <a:srgbClr val="97BC62"/>
            </a:solidFill>
            <a:prstDash val="solid"/>
          </a:ln>
        </p:spPr>
      </p:sp>
      <p:sp>
        <p:nvSpPr>
          <p:cNvPr id="22" name="Text 20"/>
          <p:cNvSpPr txBox="1"/>
          <p:nvPr/>
        </p:nvSpPr>
        <p:spPr>
          <a:xfrm>
            <a:off x="8174736" y="1737360"/>
            <a:ext cx="3200400" cy="1920240"/>
          </a:xfrm>
          <a:prstGeom prst="rect">
            <a:avLst/>
          </a:prstGeom>
          <a:noFill/>
          <a:ln/>
        </p:spPr>
        <p:txBody>
          <a:bodyPr wrap="square" lIns="0" tIns="0" rIns="0" bIns="0" rtlCol="0" anchor="ctr"/>
          <a:lstStyle/>
          <a:p>
            <a:pPr marL="0" indent="0">
              <a:lnSpc>
                <a:spcPct val="116000"/>
              </a:lnSpc>
              <a:buNone/>
            </a:pPr>
            <a:r>
              <a:rPr lang="en-US" sz="2000" b="1" i="1" dirty="0">
                <a:solidFill>
                  <a:srgbClr val="97BC62"/>
                </a:solidFill>
                <a:latin typeface="Cambria" pitchFamily="34" charset="0"/>
                <a:ea typeface="Cambria" pitchFamily="34" charset="-122"/>
                <a:cs typeface="Cambria" pitchFamily="34" charset="-120"/>
              </a:rPr>
              <a:t>“99% in a studio</a:t>
            </a:r>
            <a:endParaRPr lang="en-US" sz="2000" dirty="0"/>
          </a:p>
          <a:p>
            <a:pPr marL="0" indent="0">
              <a:lnSpc>
                <a:spcPct val="116000"/>
              </a:lnSpc>
              <a:buNone/>
            </a:pPr>
            <a:r>
              <a:rPr lang="en-US" sz="2000" b="1" i="1" dirty="0">
                <a:solidFill>
                  <a:srgbClr val="97BC62"/>
                </a:solidFill>
                <a:latin typeface="Cambria" pitchFamily="34" charset="0"/>
                <a:ea typeface="Cambria" pitchFamily="34" charset="-122"/>
                <a:cs typeface="Cambria" pitchFamily="34" charset="-120"/>
              </a:rPr>
              <a:t>does not save</a:t>
            </a:r>
            <a:endParaRPr lang="en-US" sz="2000" dirty="0"/>
          </a:p>
          <a:p>
            <a:pPr marL="0" indent="0">
              <a:lnSpc>
                <a:spcPct val="116000"/>
              </a:lnSpc>
              <a:buNone/>
            </a:pPr>
            <a:r>
              <a:rPr lang="en-US" sz="2000" b="1" i="1" dirty="0">
                <a:solidFill>
                  <a:srgbClr val="97BC62"/>
                </a:solidFill>
                <a:latin typeface="Cambria" pitchFamily="34" charset="0"/>
                <a:ea typeface="Cambria" pitchFamily="34" charset="-122"/>
                <a:cs typeface="Cambria" pitchFamily="34" charset="-120"/>
              </a:rPr>
              <a:t>a harvest if the field</a:t>
            </a:r>
            <a:endParaRPr lang="en-US" sz="2000" dirty="0"/>
          </a:p>
          <a:p>
            <a:pPr marL="0" indent="0">
              <a:lnSpc>
                <a:spcPct val="116000"/>
              </a:lnSpc>
              <a:buNone/>
            </a:pPr>
            <a:r>
              <a:rPr lang="en-US" sz="2000" b="1" i="1" dirty="0">
                <a:solidFill>
                  <a:srgbClr val="97BC62"/>
                </a:solidFill>
                <a:latin typeface="Cambria" pitchFamily="34" charset="0"/>
                <a:ea typeface="Cambria" pitchFamily="34" charset="-122"/>
                <a:cs typeface="Cambria" pitchFamily="34" charset="-120"/>
              </a:rPr>
              <a:t>only gives you 50%.”</a:t>
            </a:r>
            <a:endParaRPr lang="en-US" sz="2000" dirty="0"/>
          </a:p>
        </p:txBody>
      </p:sp>
      <p:sp>
        <p:nvSpPr>
          <p:cNvPr id="23" name="Text 21"/>
          <p:cNvSpPr txBox="1"/>
          <p:nvPr/>
        </p:nvSpPr>
        <p:spPr>
          <a:xfrm>
            <a:off x="8174736" y="3877056"/>
            <a:ext cx="3200400" cy="566928"/>
          </a:xfrm>
          <a:prstGeom prst="rect">
            <a:avLst/>
          </a:prstGeom>
          <a:noFill/>
          <a:ln/>
        </p:spPr>
        <p:txBody>
          <a:bodyPr wrap="square" lIns="0" tIns="0" rIns="0" bIns="0" rtlCol="0" anchor="ctr"/>
          <a:lstStyle/>
          <a:p>
            <a:pPr marL="0" indent="0">
              <a:lnSpc>
                <a:spcPct val="112000"/>
              </a:lnSpc>
              <a:buNone/>
            </a:pPr>
            <a:r>
              <a:rPr lang="en-US" sz="1200" dirty="0">
                <a:solidFill>
                  <a:srgbClr val="E8F0E2"/>
                </a:solidFill>
                <a:latin typeface="Calibri" pitchFamily="34" charset="0"/>
                <a:ea typeface="Calibri" pitchFamily="34" charset="-122"/>
                <a:cs typeface="Calibri" pitchFamily="34" charset="-120"/>
              </a:rPr>
              <a:t>Shift the focus from lab accuracy to field reliability.</a:t>
            </a:r>
            <a:endParaRPr lang="en-US" sz="1200" dirty="0"/>
          </a:p>
        </p:txBody>
      </p:sp>
      <p:sp>
        <p:nvSpPr>
          <p:cNvPr id="24" name="Text 22"/>
          <p:cNvSpPr txBox="1"/>
          <p:nvPr/>
        </p:nvSpPr>
        <p:spPr>
          <a:xfrm>
            <a:off x="548640" y="5522976"/>
            <a:ext cx="11091672"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Thank you — we welcome your questions</a:t>
            </a:r>
            <a:endParaRPr lang="en-US" sz="1900" dirty="0"/>
          </a:p>
        </p:txBody>
      </p:sp>
      <p:sp>
        <p:nvSpPr>
          <p:cNvPr id="25" name="Text 23"/>
          <p:cNvSpPr txBox="1"/>
          <p:nvPr/>
        </p:nvSpPr>
        <p:spPr>
          <a:xfrm>
            <a:off x="548640" y="6035040"/>
            <a:ext cx="11091672" cy="274320"/>
          </a:xfrm>
          <a:prstGeom prst="rect">
            <a:avLst/>
          </a:prstGeom>
          <a:noFill/>
          <a:ln/>
        </p:spPr>
        <p:txBody>
          <a:bodyPr wrap="square" lIns="0" tIns="0" rIns="0" bIns="0" rtlCol="0" anchor="ctr"/>
          <a:lstStyle/>
          <a:p>
            <a:pPr marL="0" indent="0" algn="ctr">
              <a:buNone/>
            </a:pPr>
            <a:r>
              <a:rPr lang="en-US" sz="1100" dirty="0">
                <a:solidFill>
                  <a:srgbClr val="A9BCA4"/>
                </a:solidFill>
                <a:latin typeface="Calibri" pitchFamily="34" charset="0"/>
                <a:ea typeface="Calibri" pitchFamily="34" charset="-122"/>
                <a:cs typeface="Calibri" pitchFamily="34" charset="-120"/>
              </a:rPr>
              <a:t>Group 1  ·  Lê Nhật Khanh  ·  Nguyễn Vũ Minh Ánh  ·  AI2002  ·  DAP301m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4700</Words>
  <Application>Microsoft Office PowerPoint</Application>
  <PresentationFormat>Widescreen</PresentationFormat>
  <Paragraphs>357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Tomato Disease Detection with Deep Learning 2021-2026</dc:title>
  <dc:subject>PptxGenJS Presentation</dc:subject>
  <dc:creator>Group 1 - Le Nhat Khanh, Nguyen Vu Minh Anh</dc:creator>
  <cp:lastModifiedBy>Nhat Khanh Le</cp:lastModifiedBy>
  <cp:revision>2</cp:revision>
  <dcterms:created xsi:type="dcterms:W3CDTF">2026-09-20T10:37:45Z</dcterms:created>
  <dcterms:modified xsi:type="dcterms:W3CDTF">2026-09-21T08:12:08Z</dcterms:modified>
</cp:coreProperties>
</file>
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1"/>
          <a:srcRect/>
          <a:stretch>
            <a:fillRect/>
          </a:stretch>
        </p:blipFill>
        <p:spPr>
          <a:xfrm>
            <a:off x="7238999" y="0"/>
            <a:ext cx="4953000" cy="4953000"/>
          </a:xfrm>
          <a:prstGeom prst="rect">
            <a:avLst/>
          </a:prstGeom>
        </p:spPr>
      </p:pic>
      <p:pic>
        <p:nvPicPr>
          <p:cNvPr id="3" name="Image 1" descr="ellipse"/>
          <p:cNvPicPr>
            <a:picLocks noChangeAspect="1"/>
          </p:cNvPicPr>
          <p:nvPr/>
        </p:nvPicPr>
        <p:blipFill>
          <a:blip r:embed="rId2"/>
          <a:srcRect/>
          <a:stretch>
            <a:fillRect/>
          </a:stretch>
        </p:blipFill>
        <p:spPr>
          <a:xfrm>
            <a:off x="0" y="3048000"/>
            <a:ext cx="3810000" cy="3810000"/>
          </a:xfrm>
          <a:prstGeom prst="rect">
            <a:avLst/>
          </a:prstGeom>
        </p:spPr>
      </p:pic>
      <p:pic>
        <p:nvPicPr>
          <p:cNvPr id="4" name="Image 2" descr="line"/>
          <p:cNvPicPr>
            <a:picLocks noChangeAspect="1"/>
          </p:cNvPicPr>
          <p:nvPr/>
        </p:nvPicPr>
        <p:blipFill>
          <a:blip r:embed="rId3"/>
          <a:srcRect l="-87" r="-87"/>
          <a:stretch>
            <a:fillRect/>
          </a:stretch>
        </p:blipFill>
        <p:spPr>
          <a:xfrm>
            <a:off x="812712" y="1841500"/>
            <a:ext cx="762000" cy="38034"/>
          </a:xfrm>
          <a:prstGeom prst="rect">
            <a:avLst/>
          </a:prstGeom>
        </p:spPr>
      </p:pic>
      <p:sp>
        <p:nvSpPr>
          <p:cNvPr id="5" name="Text 0"/>
          <p:cNvSpPr/>
          <p:nvPr/>
        </p:nvSpPr>
        <p:spPr>
          <a:xfrm>
            <a:off x="812712" y="1967949"/>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7FD6C9"/>
                </a:solidFill>
                <a:latin typeface="Arial" panose="020B0604020202020204" pitchFamily="34" charset="0"/>
                <a:ea typeface="Inter" pitchFamily="34" charset="-122"/>
                <a:cs typeface="Arial" panose="020B0604020202020204" pitchFamily="34" charset="0"/>
              </a:rPr>
              <a:t>DAP391M · FA26 · LITERATURE SURVEY</a:t>
            </a:r>
            <a:endParaRPr lang="en-US" sz="1200" b="1" dirty="0">
              <a:solidFill>
                <a:srgbClr val="7FD6C9"/>
              </a:solidFill>
              <a:latin typeface="Arial" panose="020B0604020202020204" pitchFamily="34" charset="0"/>
              <a:ea typeface="Inter" pitchFamily="34" charset="-122"/>
              <a:cs typeface="Arial" panose="020B0604020202020204" pitchFamily="34" charset="0"/>
            </a:endParaRPr>
          </a:p>
        </p:txBody>
      </p:sp>
      <p:sp>
        <p:nvSpPr>
          <p:cNvPr id="6" name="Text 1"/>
          <p:cNvSpPr/>
          <p:nvPr/>
        </p:nvSpPr>
        <p:spPr>
          <a:xfrm>
            <a:off x="812712" y="2435159"/>
            <a:ext cx="9810749" cy="1241381"/>
          </a:xfrm>
          <a:prstGeom prst="rect">
            <a:avLst/>
          </a:prstGeom>
          <a:noFill/>
        </p:spPr>
        <p:txBody>
          <a:bodyPr wrap="square" lIns="0" tIns="0" rIns="0" bIns="0" rtlCol="0" anchor="t">
            <a:normAutofit/>
          </a:bodyPr>
          <a:lstStyle/>
          <a:p>
            <a:pPr marL="0" indent="0" algn="l">
              <a:lnSpc>
                <a:spcPts val="4790"/>
              </a:lnSpc>
              <a:buNone/>
            </a:pPr>
            <a:r>
              <a:rPr lang="en-US" sz="4200" b="1" dirty="0">
                <a:solidFill>
                  <a:srgbClr val="F2F0EA"/>
                </a:solidFill>
                <a:latin typeface="Arial" panose="020B0604020202020204" pitchFamily="34" charset="0"/>
                <a:ea typeface="Source Serif 4" pitchFamily="34" charset="-122"/>
                <a:cs typeface="Arial" panose="020B0604020202020204" pitchFamily="34" charset="0"/>
              </a:rPr>
              <a:t>Literature Survey and Project Feasibility Assessment</a:t>
            </a:r>
            <a:endParaRPr lang="en-US" sz="4200" b="1" dirty="0">
              <a:solidFill>
                <a:srgbClr val="F2F0EA"/>
              </a:solidFill>
              <a:latin typeface="Arial" panose="020B0604020202020204" pitchFamily="34" charset="0"/>
              <a:ea typeface="Source Serif 4" pitchFamily="34" charset="-122"/>
              <a:cs typeface="Arial" panose="020B0604020202020204" pitchFamily="34" charset="0"/>
            </a:endParaRPr>
          </a:p>
        </p:txBody>
      </p:sp>
      <p:sp>
        <p:nvSpPr>
          <p:cNvPr id="7" name="Text 2"/>
          <p:cNvSpPr/>
          <p:nvPr/>
        </p:nvSpPr>
        <p:spPr>
          <a:xfrm>
            <a:off x="812712" y="3905140"/>
            <a:ext cx="9156699" cy="351168"/>
          </a:xfrm>
          <a:prstGeom prst="rect">
            <a:avLst/>
          </a:prstGeom>
          <a:noFill/>
        </p:spPr>
        <p:txBody>
          <a:bodyPr wrap="square" lIns="0" tIns="0" rIns="0" bIns="0" rtlCol="0" anchor="t">
            <a:normAutofit/>
          </a:bodyPr>
          <a:lstStyle/>
          <a:p>
            <a:pPr marL="0" indent="0" algn="l">
              <a:lnSpc>
                <a:spcPts val="2565"/>
              </a:lnSpc>
              <a:buNone/>
            </a:pPr>
            <a:r>
              <a:rPr lang="en-US" sz="1900" i="1" dirty="0">
                <a:solidFill>
                  <a:srgbClr val="CDD3D8"/>
                </a:solidFill>
                <a:latin typeface="Arial" panose="020B0604020202020204" pitchFamily="34" charset="0"/>
                <a:ea typeface="Source Serif 4" pitchFamily="34" charset="-122"/>
                <a:cs typeface="Arial" panose="020B0604020202020204" pitchFamily="34" charset="0"/>
              </a:rPr>
              <a:t>Phát Hiện Cảm Xúc Chi Tiết Trên Văn Bản Tiếng Việt Mạng Xã Hội</a:t>
            </a:r>
            <a:endParaRPr lang="en-US" sz="1900" i="1" dirty="0">
              <a:solidFill>
                <a:srgbClr val="CDD3D8"/>
              </a:solidFill>
              <a:latin typeface="Arial" panose="020B0604020202020204" pitchFamily="34" charset="0"/>
              <a:ea typeface="Source Serif 4" pitchFamily="34" charset="-122"/>
              <a:cs typeface="Arial" panose="020B0604020202020204" pitchFamily="34" charset="0"/>
            </a:endParaRPr>
          </a:p>
        </p:txBody>
      </p:sp>
      <p:sp>
        <p:nvSpPr>
          <p:cNvPr id="8" name="Shape 3"/>
          <p:cNvSpPr/>
          <p:nvPr/>
        </p:nvSpPr>
        <p:spPr>
          <a:xfrm>
            <a:off x="815887" y="4488083"/>
            <a:ext cx="1886854" cy="398683"/>
          </a:xfrm>
          <a:prstGeom prst="roundRect">
            <a:avLst>
              <a:gd name="adj" fmla="val 50000"/>
            </a:avLst>
          </a:prstGeom>
          <a:noFill/>
          <a:ln w="6350">
            <a:solidFill>
              <a:srgbClr val="3A4658"/>
            </a:solidFill>
            <a:prstDash val="solid"/>
          </a:ln>
        </p:spPr>
      </p:sp>
      <p:sp>
        <p:nvSpPr>
          <p:cNvPr id="9" name="Text 4"/>
          <p:cNvSpPr/>
          <p:nvPr/>
        </p:nvSpPr>
        <p:spPr>
          <a:xfrm>
            <a:off x="984801" y="4580819"/>
            <a:ext cx="1599825" cy="238610"/>
          </a:xfrm>
          <a:prstGeom prst="rect">
            <a:avLst/>
          </a:prstGeom>
          <a:noFill/>
        </p:spPr>
        <p:txBody>
          <a:bodyPr wrap="square" lIns="0" tIns="0" rIns="0" bIns="0" rtlCol="0" anchor="t">
            <a:normAutofit fontScale="90000"/>
          </a:bodyPr>
          <a:lstStyle/>
          <a:p>
            <a:pPr marL="0" indent="0" algn="l">
              <a:lnSpc>
                <a:spcPts val="1680"/>
              </a:lnSpc>
              <a:buNone/>
            </a:pPr>
            <a:r>
              <a:rPr lang="en-US" sz="1200" dirty="0">
                <a:solidFill>
                  <a:srgbClr val="B7C0C8"/>
                </a:solidFill>
                <a:latin typeface="Arial" panose="020B0604020202020204" pitchFamily="34" charset="0"/>
                <a:ea typeface="Inter" pitchFamily="34" charset="-122"/>
                <a:cs typeface="Arial" panose="020B0604020202020204" pitchFamily="34" charset="0"/>
              </a:rPr>
              <a:t>Dữ liệu &amp; hệ thống Label</a:t>
            </a:r>
            <a:endParaRPr lang="en-US" sz="1200" dirty="0">
              <a:solidFill>
                <a:srgbClr val="B7C0C8"/>
              </a:solidFill>
              <a:latin typeface="Arial" panose="020B0604020202020204" pitchFamily="34" charset="0"/>
              <a:ea typeface="Inter" pitchFamily="34" charset="-122"/>
              <a:cs typeface="Arial" panose="020B0604020202020204" pitchFamily="34" charset="0"/>
            </a:endParaRPr>
          </a:p>
        </p:txBody>
      </p:sp>
      <p:sp>
        <p:nvSpPr>
          <p:cNvPr id="10" name="Shape 5"/>
          <p:cNvSpPr/>
          <p:nvPr/>
        </p:nvSpPr>
        <p:spPr>
          <a:xfrm>
            <a:off x="2810625" y="4488083"/>
            <a:ext cx="2113293" cy="398683"/>
          </a:xfrm>
          <a:prstGeom prst="roundRect">
            <a:avLst>
              <a:gd name="adj" fmla="val 50000"/>
            </a:avLst>
          </a:prstGeom>
          <a:noFill/>
          <a:ln w="6350">
            <a:solidFill>
              <a:srgbClr val="3A4658"/>
            </a:solidFill>
            <a:prstDash val="solid"/>
          </a:ln>
        </p:spPr>
      </p:sp>
      <p:sp>
        <p:nvSpPr>
          <p:cNvPr id="11" name="Text 6"/>
          <p:cNvSpPr/>
          <p:nvPr/>
        </p:nvSpPr>
        <p:spPr>
          <a:xfrm>
            <a:off x="3056374" y="4580819"/>
            <a:ext cx="1828728"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B7C0C8"/>
                </a:solidFill>
                <a:latin typeface="Arial" panose="020B0604020202020204" pitchFamily="34" charset="0"/>
                <a:ea typeface="Inter" pitchFamily="34" charset="-122"/>
                <a:cs typeface="Arial" panose="020B0604020202020204" pitchFamily="34" charset="0"/>
              </a:rPr>
              <a:t>Các mô hình Tiếng Việt</a:t>
            </a:r>
            <a:endParaRPr lang="en-US" sz="1200" dirty="0">
              <a:solidFill>
                <a:srgbClr val="B7C0C8"/>
              </a:solidFill>
              <a:latin typeface="Arial" panose="020B0604020202020204" pitchFamily="34" charset="0"/>
              <a:ea typeface="Inter" pitchFamily="34" charset="-122"/>
              <a:cs typeface="Arial" panose="020B0604020202020204" pitchFamily="34" charset="0"/>
            </a:endParaRPr>
          </a:p>
        </p:txBody>
      </p:sp>
      <p:sp>
        <p:nvSpPr>
          <p:cNvPr id="12" name="Shape 7"/>
          <p:cNvSpPr/>
          <p:nvPr/>
        </p:nvSpPr>
        <p:spPr>
          <a:xfrm>
            <a:off x="5031740" y="4488180"/>
            <a:ext cx="1920240" cy="398780"/>
          </a:xfrm>
          <a:prstGeom prst="roundRect">
            <a:avLst>
              <a:gd name="adj" fmla="val 50000"/>
            </a:avLst>
          </a:prstGeom>
          <a:noFill/>
          <a:ln w="6350">
            <a:solidFill>
              <a:srgbClr val="3A4658"/>
            </a:solidFill>
            <a:prstDash val="solid"/>
          </a:ln>
        </p:spPr>
      </p:sp>
      <p:sp>
        <p:nvSpPr>
          <p:cNvPr id="13" name="Text 8"/>
          <p:cNvSpPr/>
          <p:nvPr/>
        </p:nvSpPr>
        <p:spPr>
          <a:xfrm>
            <a:off x="5149850" y="4549140"/>
            <a:ext cx="1779270" cy="337820"/>
          </a:xfrm>
          <a:prstGeom prst="rect">
            <a:avLst/>
          </a:prstGeom>
          <a:noFill/>
        </p:spPr>
        <p:txBody>
          <a:bodyPr wrap="square" lIns="0" tIns="0" rIns="0" bIns="0" rtlCol="0" anchor="t">
            <a:normAutofit fontScale="80000"/>
          </a:bodyPr>
          <a:lstStyle/>
          <a:p>
            <a:pPr marL="0" indent="0" algn="l">
              <a:lnSpc>
                <a:spcPts val="1680"/>
              </a:lnSpc>
              <a:buNone/>
            </a:pPr>
            <a:r>
              <a:rPr lang="en-US" sz="1200" dirty="0">
                <a:solidFill>
                  <a:srgbClr val="B7C0C8"/>
                </a:solidFill>
                <a:latin typeface="Arial" panose="020B0604020202020204" pitchFamily="34" charset="0"/>
                <a:ea typeface="Inter" pitchFamily="34" charset="-122"/>
                <a:cs typeface="Arial" panose="020B0604020202020204" pitchFamily="34" charset="0"/>
              </a:rPr>
              <a:t>Texts Preprocessing Strategy</a:t>
            </a:r>
            <a:endParaRPr lang="en-US" sz="1200" dirty="0">
              <a:solidFill>
                <a:srgbClr val="B7C0C8"/>
              </a:solidFill>
              <a:latin typeface="Arial" panose="020B0604020202020204" pitchFamily="34" charset="0"/>
              <a:ea typeface="Inter" pitchFamily="34" charset="-122"/>
              <a:cs typeface="Arial" panose="020B0604020202020204" pitchFamily="34" charset="0"/>
            </a:endParaRPr>
          </a:p>
        </p:txBody>
      </p:sp>
      <p:sp>
        <p:nvSpPr>
          <p:cNvPr id="14" name="Shape 9"/>
          <p:cNvSpPr/>
          <p:nvPr/>
        </p:nvSpPr>
        <p:spPr>
          <a:xfrm>
            <a:off x="7098665" y="4488180"/>
            <a:ext cx="2028190" cy="398780"/>
          </a:xfrm>
          <a:prstGeom prst="roundRect">
            <a:avLst>
              <a:gd name="adj" fmla="val 50000"/>
            </a:avLst>
          </a:prstGeom>
          <a:noFill/>
          <a:ln w="6350">
            <a:solidFill>
              <a:srgbClr val="3A4658"/>
            </a:solidFill>
            <a:prstDash val="solid"/>
          </a:ln>
        </p:spPr>
      </p:sp>
      <p:sp>
        <p:nvSpPr>
          <p:cNvPr id="15" name="Text 10"/>
          <p:cNvSpPr/>
          <p:nvPr/>
        </p:nvSpPr>
        <p:spPr>
          <a:xfrm>
            <a:off x="7098665" y="4519295"/>
            <a:ext cx="2146935" cy="336550"/>
          </a:xfrm>
          <a:prstGeom prst="rect">
            <a:avLst/>
          </a:prstGeom>
          <a:noFill/>
        </p:spPr>
        <p:txBody>
          <a:bodyPr wrap="square" lIns="0" tIns="0" rIns="0" bIns="0" rtlCol="0" anchor="t">
            <a:normAutofit fontScale="90000"/>
          </a:bodyPr>
          <a:lstStyle/>
          <a:p>
            <a:pPr marL="0" indent="0" algn="l">
              <a:lnSpc>
                <a:spcPts val="1680"/>
              </a:lnSpc>
              <a:buNone/>
            </a:pPr>
            <a:r>
              <a:rPr lang="en-US" sz="1200" dirty="0">
                <a:solidFill>
                  <a:srgbClr val="B7C0C8"/>
                </a:solidFill>
                <a:latin typeface="Arial" panose="020B0604020202020204" pitchFamily="34" charset="0"/>
                <a:ea typeface="Inter" pitchFamily="34" charset="-122"/>
                <a:cs typeface="Arial" panose="020B0604020202020204" pitchFamily="34" charset="0"/>
              </a:rPr>
              <a:t>Imbalance &amp; Threshold Solutions</a:t>
            </a:r>
            <a:endParaRPr lang="en-US" sz="1200" dirty="0">
              <a:solidFill>
                <a:srgbClr val="B7C0C8"/>
              </a:solidFill>
              <a:latin typeface="Arial" panose="020B0604020202020204" pitchFamily="34" charset="0"/>
              <a:ea typeface="Inter" pitchFamily="34" charset="-122"/>
              <a:cs typeface="Arial" panose="020B0604020202020204" pitchFamily="34" charset="0"/>
            </a:endParaRPr>
          </a:p>
        </p:txBody>
      </p:sp>
      <p:sp>
        <p:nvSpPr>
          <p:cNvPr id="16" name="Text 11"/>
          <p:cNvSpPr/>
          <p:nvPr/>
        </p:nvSpPr>
        <p:spPr>
          <a:xfrm>
            <a:off x="9448711" y="6235678"/>
            <a:ext cx="1988266" cy="4518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AAB3BD"/>
                </a:solidFill>
                <a:latin typeface="Arial" panose="020B0604020202020204" pitchFamily="34" charset="0"/>
                <a:ea typeface="Inter" pitchFamily="34" charset="-122"/>
                <a:cs typeface="Arial" panose="020B0604020202020204" pitchFamily="34" charset="0"/>
              </a:rPr>
              <a:t>DAP391m FA26 · Sep 2026</a:t>
            </a:r>
            <a:endParaRPr lang="en-US" sz="1200" dirty="0">
              <a:solidFill>
                <a:srgbClr val="AAB3BD"/>
              </a:solidFill>
              <a:latin typeface="Arial" panose="020B0604020202020204" pitchFamily="34" charset="0"/>
              <a:ea typeface="Inter" pitchFamily="34" charset="-122"/>
              <a:cs typeface="Arial" panose="020B0604020202020204" pitchFamily="34" charset="0"/>
            </a:endParaRPr>
          </a:p>
        </p:txBody>
      </p:sp>
      <p:sp>
        <p:nvSpPr>
          <p:cNvPr id="17" name="Text 12"/>
          <p:cNvSpPr/>
          <p:nvPr/>
        </p:nvSpPr>
        <p:spPr>
          <a:xfrm>
            <a:off x="812712" y="5382837"/>
            <a:ext cx="3677782" cy="87824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AAB3BD"/>
                </a:solidFill>
                <a:latin typeface="Arial" panose="020B0604020202020204" pitchFamily="34" charset="0"/>
                <a:ea typeface="Inter" pitchFamily="34" charset="-122"/>
                <a:cs typeface="Arial" panose="020B0604020202020204" pitchFamily="34" charset="0"/>
              </a:rPr>
              <a:t>Nhóm 8: Phạm Hoàng Gia Phúc - SE190403
               Nguyễn Hà Anh Khoa - SE193979
               Phạm Phú Quý - SE193670
</a:t>
            </a:r>
            <a:endParaRPr lang="en-US" sz="1200" dirty="0">
              <a:solidFill>
                <a:srgbClr val="AAB3BD"/>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PROBLEM CONTEXT AND USE CASE</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0"/>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Sentiment Isn't Enough for Vietnamese Social Media</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31762" y="1693792"/>
            <a:ext cx="3397294" cy="3221015"/>
          </a:xfrm>
          <a:prstGeom prst="roundRect">
            <a:avLst>
              <a:gd name="adj" fmla="val 3056"/>
            </a:avLst>
          </a:prstGeom>
          <a:solidFill>
            <a:srgbClr val="FFFFFF"/>
          </a:solidFill>
          <a:ln w="6350">
            <a:solidFill>
              <a:srgbClr val="E1DDD2"/>
            </a:solidFill>
            <a:prstDash val="solid"/>
          </a:ln>
        </p:spPr>
        <p:txBody>
          <a:bodyPr/>
          <a:p>
            <a:endParaRPr lang="en-US"/>
          </a:p>
        </p:txBody>
      </p:sp>
      <p:sp>
        <p:nvSpPr>
          <p:cNvPr id="5" name="Text 3"/>
          <p:cNvSpPr/>
          <p:nvPr/>
        </p:nvSpPr>
        <p:spPr>
          <a:xfrm>
            <a:off x="1025463" y="1747181"/>
            <a:ext cx="3046556"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61B22"/>
                </a:solidFill>
                <a:latin typeface="Arial" panose="020B0604020202020204" pitchFamily="34" charset="0"/>
                <a:ea typeface="Inter" pitchFamily="34" charset="-122"/>
                <a:cs typeface="Arial" panose="020B0604020202020204" pitchFamily="34" charset="0"/>
              </a:rPr>
              <a:t>Sentiment vs. Fine-grained</a:t>
            </a:r>
            <a:endParaRPr lang="en-US" sz="14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1025463" y="1985857"/>
            <a:ext cx="3046556"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2B303A"/>
                </a:solidFill>
                <a:latin typeface="Arial" panose="020B0604020202020204" pitchFamily="34" charset="0"/>
                <a:ea typeface="Inter" pitchFamily="34" charset="-122"/>
                <a:cs typeface="Arial" panose="020B0604020202020204" pitchFamily="34" charset="0"/>
              </a:rPr>
              <a:t>Sentiment: 3 nhãn (positive / negative / neutral) khá chung chung.</a:t>
            </a: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7" name="Text 5"/>
          <p:cNvSpPr/>
          <p:nvPr/>
        </p:nvSpPr>
        <p:spPr>
          <a:xfrm>
            <a:off x="962025" y="2519045"/>
            <a:ext cx="3307080" cy="660400"/>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2B303A"/>
                </a:solidFill>
                <a:latin typeface="Arial" panose="020B0604020202020204" pitchFamily="34" charset="0"/>
                <a:ea typeface="Inter" pitchFamily="34" charset="-122"/>
                <a:cs typeface="Arial" panose="020B0604020202020204" pitchFamily="34" charset="0"/>
              </a:rPr>
              <a:t>Fine-grained: 27 nhãn cụ thể (admiration, grief, anger, confusion...). Mỗi nhãn gợi ý hướng xử lý khác nhau -&gt; Quan tâm đến hướng fine-grained</a:t>
            </a: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1025525" y="3255010"/>
            <a:ext cx="3202940" cy="457835"/>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2B303A"/>
                </a:solidFill>
                <a:latin typeface="Arial" panose="020B0604020202020204" pitchFamily="34" charset="0"/>
                <a:ea typeface="Inter" pitchFamily="34" charset="-122"/>
                <a:cs typeface="Arial" panose="020B0604020202020204" pitchFamily="34" charset="0"/>
              </a:rPr>
              <a:t>Multi-label:, ví dụ: "Ôi trời ơi sao hay thế này" có thể là joy + admiration HOẶC surprise.</a:t>
            </a:r>
            <a:endParaRPr lang="en-US" sz="1200" dirty="0">
              <a:solidFill>
                <a:srgbClr val="2B303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endParaRPr lang="en-US" sz="1200" dirty="0">
              <a:solidFill>
                <a:srgbClr val="2B303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0" name="Text 8"/>
          <p:cNvSpPr/>
          <p:nvPr/>
        </p:nvSpPr>
        <p:spPr>
          <a:xfrm>
            <a:off x="4616979" y="1909741"/>
            <a:ext cx="3046669" cy="238720"/>
          </a:xfrm>
          <a:prstGeom prst="rect">
            <a:avLst/>
          </a:prstGeom>
          <a:noFill/>
        </p:spPr>
        <p:txBody>
          <a:bodyPr wrap="square" lIns="0" tIns="0" rIns="0" bIns="0" rtlCol="0" anchor="t">
            <a:normAutofit/>
          </a:bodyPr>
          <a:lstStyle/>
          <a:p>
            <a:pPr marL="0" indent="0" algn="l">
              <a:lnSpc>
                <a:spcPts val="1680"/>
              </a:lnSpc>
              <a:buNone/>
            </a:pPr>
            <a:endParaRPr lang="en-US" sz="14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11" name="Text 9"/>
          <p:cNvSpPr/>
          <p:nvPr/>
        </p:nvSpPr>
        <p:spPr>
          <a:xfrm>
            <a:off x="4616979" y="2211917"/>
            <a:ext cx="3046669" cy="457994"/>
          </a:xfrm>
          <a:prstGeom prst="rect">
            <a:avLst/>
          </a:prstGeom>
          <a:noFill/>
        </p:spPr>
        <p:txBody>
          <a:bodyPr wrap="square" lIns="0" tIns="0" rIns="0" bIns="0" rtlCol="0" anchor="t">
            <a:normAutofit/>
          </a:bodyPr>
          <a:lstStyle/>
          <a:p>
            <a:pPr marL="0" indent="0" algn="l">
              <a:lnSpc>
                <a:spcPts val="1705"/>
              </a:lnSpc>
              <a:buNone/>
            </a:pP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2" name="Text 10"/>
          <p:cNvSpPr/>
          <p:nvPr/>
        </p:nvSpPr>
        <p:spPr>
          <a:xfrm>
            <a:off x="4616979" y="2733366"/>
            <a:ext cx="3046669" cy="457994"/>
          </a:xfrm>
          <a:prstGeom prst="rect">
            <a:avLst/>
          </a:prstGeom>
          <a:noFill/>
        </p:spPr>
        <p:txBody>
          <a:bodyPr wrap="square" lIns="0" tIns="0" rIns="0" bIns="0" rtlCol="0" anchor="t">
            <a:normAutofit/>
          </a:bodyPr>
          <a:lstStyle/>
          <a:p>
            <a:pPr marL="0" indent="0" algn="l">
              <a:lnSpc>
                <a:spcPts val="1705"/>
              </a:lnSpc>
              <a:buNone/>
            </a:pP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4" name="Shape 12"/>
          <p:cNvSpPr/>
          <p:nvPr/>
        </p:nvSpPr>
        <p:spPr>
          <a:xfrm>
            <a:off x="8298748" y="1693792"/>
            <a:ext cx="3397404" cy="3221015"/>
          </a:xfrm>
          <a:prstGeom prst="roundRect">
            <a:avLst>
              <a:gd name="adj" fmla="val 3056"/>
            </a:avLst>
          </a:prstGeom>
          <a:solidFill>
            <a:srgbClr val="FFFFFF"/>
          </a:solidFill>
          <a:ln w="6350">
            <a:solidFill>
              <a:srgbClr val="E1DDD2"/>
            </a:solidFill>
            <a:prstDash val="solid"/>
          </a:ln>
        </p:spPr>
      </p:sp>
      <p:sp>
        <p:nvSpPr>
          <p:cNvPr id="15" name="Text 13"/>
          <p:cNvSpPr/>
          <p:nvPr/>
        </p:nvSpPr>
        <p:spPr>
          <a:xfrm>
            <a:off x="8402280" y="1901486"/>
            <a:ext cx="3046669"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61B22"/>
                </a:solidFill>
                <a:latin typeface="Arial" panose="020B0604020202020204" pitchFamily="34" charset="0"/>
                <a:ea typeface="Inter" pitchFamily="34" charset="-122"/>
                <a:cs typeface="Arial" panose="020B0604020202020204" pitchFamily="34" charset="0"/>
              </a:rPr>
              <a:t>Target Use Case</a:t>
            </a:r>
            <a:endParaRPr lang="en-US" sz="14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16" name="Text 14"/>
          <p:cNvSpPr/>
          <p:nvPr/>
        </p:nvSpPr>
        <p:spPr>
          <a:xfrm>
            <a:off x="8402320" y="2203450"/>
            <a:ext cx="3072765" cy="819150"/>
          </a:xfrm>
          <a:prstGeom prst="rect">
            <a:avLst/>
          </a:prstGeom>
          <a:noFill/>
        </p:spPr>
        <p:txBody>
          <a:bodyPr wrap="square" lIns="0" tIns="0" rIns="0" bIns="0" rtlCol="0" anchor="t">
            <a:normAutofit/>
          </a:bodyPr>
          <a:lstStyle/>
          <a:p>
            <a:pPr marL="0" indent="0" algn="l">
              <a:lnSpc>
                <a:spcPts val="1705"/>
              </a:lnSpc>
              <a:buNone/>
            </a:pPr>
            <a:r>
              <a:rPr lang="en-US" altLang="en-US" sz="1200" dirty="0">
                <a:solidFill>
                  <a:srgbClr val="2B303A"/>
                </a:solidFill>
                <a:latin typeface="Arial" panose="020B0604020202020204" pitchFamily="34" charset="0"/>
                <a:ea typeface="Inter" pitchFamily="34" charset="-122"/>
                <a:cs typeface="Arial" panose="020B0604020202020204" pitchFamily="34" charset="0"/>
              </a:rPr>
              <a:t>Phân loại phản hồi của ng</a:t>
            </a:r>
            <a:r>
              <a:rPr lang="" altLang="en-US" sz="1200" dirty="0">
                <a:solidFill>
                  <a:srgbClr val="2B303A"/>
                </a:solidFill>
                <a:latin typeface="Arial" panose="020B0604020202020204" pitchFamily="34" charset="0"/>
                <a:ea typeface="Inter" pitchFamily="34" charset="-122"/>
                <a:cs typeface="Arial" panose="020B0604020202020204" pitchFamily="34" charset="0"/>
              </a:rPr>
              <a:t>ư</a:t>
            </a:r>
            <a:r>
              <a:rPr lang="en-US" altLang="en-US" sz="1200" dirty="0">
                <a:solidFill>
                  <a:srgbClr val="2B303A"/>
                </a:solidFill>
                <a:latin typeface="Arial" panose="020B0604020202020204" pitchFamily="34" charset="0"/>
                <a:ea typeface="Inter" pitchFamily="34" charset="-122"/>
                <a:cs typeface="Arial" panose="020B0604020202020204" pitchFamily="34" charset="0"/>
              </a:rPr>
              <a:t>ời dùng</a:t>
            </a:r>
            <a:r>
              <a:rPr lang="en-US" sz="1200" dirty="0">
                <a:solidFill>
                  <a:srgbClr val="2B303A"/>
                </a:solidFill>
                <a:latin typeface="Arial" panose="020B0604020202020204" pitchFamily="34" charset="0"/>
                <a:ea typeface="Inter" pitchFamily="34" charset="-122"/>
                <a:cs typeface="Arial" panose="020B0604020202020204" pitchFamily="34" charset="0"/>
              </a:rPr>
              <a:t> trên mạng xã hội Việt Nam. Không chỉ p/n mà là cảm xúc gì specifically</a:t>
            </a: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7" name="Text 15"/>
          <p:cNvSpPr/>
          <p:nvPr/>
        </p:nvSpPr>
        <p:spPr>
          <a:xfrm>
            <a:off x="8402915" y="3096586"/>
            <a:ext cx="3046669"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2B303A"/>
                </a:solidFill>
                <a:latin typeface="Arial" panose="020B0604020202020204" pitchFamily="34" charset="0"/>
                <a:ea typeface="Inter" pitchFamily="34" charset="-122"/>
                <a:cs typeface="Arial" panose="020B0604020202020204" pitchFamily="34" charset="0"/>
              </a:rPr>
              <a:t>Manager cần biết không chỉ "negative", mà là giận dữ? thất vọng? lo lắng?</a:t>
            </a: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8" name="Text 16"/>
          <p:cNvSpPr/>
          <p:nvPr/>
        </p:nvSpPr>
        <p:spPr>
          <a:xfrm>
            <a:off x="8402915" y="3917121"/>
            <a:ext cx="3046669"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2B303A"/>
                </a:solidFill>
                <a:latin typeface="Arial" panose="020B0604020202020204" pitchFamily="34" charset="0"/>
                <a:ea typeface="Inter" pitchFamily="34" charset="-122"/>
                <a:cs typeface="Arial" panose="020B0604020202020204" pitchFamily="34" charset="0"/>
              </a:rPr>
              <a:t>Nhãn hiếm hoặc khó vẫn có thể quan trọng với business.</a:t>
            </a:r>
            <a:endParaRPr 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9" name="Shape 17"/>
          <p:cNvSpPr/>
          <p:nvPr/>
        </p:nvSpPr>
        <p:spPr>
          <a:xfrm>
            <a:off x="812712" y="5130050"/>
            <a:ext cx="10566576" cy="711950"/>
          </a:xfrm>
          <a:prstGeom prst="roundRect">
            <a:avLst>
              <a:gd name="adj" fmla="val 7135"/>
            </a:avLst>
          </a:prstGeom>
          <a:solidFill>
            <a:srgbClr val="E3EFEC"/>
          </a:solidFill>
        </p:spPr>
      </p:sp>
      <p:sp>
        <p:nvSpPr>
          <p:cNvPr id="20" name="Shape 18"/>
          <p:cNvSpPr/>
          <p:nvPr/>
        </p:nvSpPr>
        <p:spPr>
          <a:xfrm>
            <a:off x="831762" y="5130050"/>
            <a:ext cx="0" cy="711950"/>
          </a:xfrm>
          <a:prstGeom prst="line">
            <a:avLst/>
          </a:prstGeom>
          <a:noFill/>
          <a:ln w="38100">
            <a:solidFill>
              <a:srgbClr val="0E6F64"/>
            </a:solidFill>
            <a:prstDash val="solid"/>
          </a:ln>
        </p:spPr>
      </p:sp>
      <p:sp>
        <p:nvSpPr>
          <p:cNvPr id="21" name="Text 19"/>
          <p:cNvSpPr/>
          <p:nvPr/>
        </p:nvSpPr>
        <p:spPr>
          <a:xfrm>
            <a:off x="1025701" y="5269729"/>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Fine-grained emotion detection đòi hỏi multi-label classification với 27 nhãn sẽ khó hơn đáng kể so với 3-class sentiment. MXH Việt Nam có quy mô nhưng thiếu dataset phù hợp trước 2026.</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2" name="Text 20"/>
          <p:cNvSpPr/>
          <p:nvPr/>
        </p:nvSpPr>
        <p:spPr>
          <a:xfrm>
            <a:off x="812712" y="6238434"/>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3" name="Text 21"/>
          <p:cNvSpPr/>
          <p:nvPr/>
        </p:nvSpPr>
        <p:spPr>
          <a:xfrm>
            <a:off x="10888816" y="6238434"/>
            <a:ext cx="541051"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02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5" name="Shape 2"/>
          <p:cNvSpPr/>
          <p:nvPr/>
        </p:nvSpPr>
        <p:spPr>
          <a:xfrm>
            <a:off x="4616997" y="1693792"/>
            <a:ext cx="3397294" cy="3221015"/>
          </a:xfrm>
          <a:prstGeom prst="roundRect">
            <a:avLst>
              <a:gd name="adj" fmla="val 3056"/>
            </a:avLst>
          </a:prstGeom>
          <a:solidFill>
            <a:srgbClr val="FFFFFF"/>
          </a:solidFill>
          <a:ln w="6350">
            <a:solidFill>
              <a:srgbClr val="E1DDD2"/>
            </a:solidFill>
            <a:prstDash val="solid"/>
          </a:ln>
        </p:spPr>
        <p:txBody>
          <a:bodyPr/>
          <a:p>
            <a:pPr marL="0" indent="0" algn="l">
              <a:lnSpc>
                <a:spcPts val="1680"/>
              </a:lnSpc>
              <a:buNone/>
            </a:pPr>
            <a:endParaRPr lang="en-US"/>
          </a:p>
        </p:txBody>
      </p:sp>
      <p:sp>
        <p:nvSpPr>
          <p:cNvPr id="29" name="Text Box 28"/>
          <p:cNvSpPr txBox="1"/>
          <p:nvPr/>
        </p:nvSpPr>
        <p:spPr>
          <a:xfrm>
            <a:off x="4725670" y="1919605"/>
            <a:ext cx="3285490" cy="268605"/>
          </a:xfrm>
          <a:prstGeom prst="rect">
            <a:avLst/>
          </a:prstGeom>
        </p:spPr>
        <p:txBody>
          <a:bodyPr>
            <a:noAutofit/>
            <a:extLst>
              <a:ext uri="{4A0BC546-FE56-4ADE-93B0-CB8AF2F6F144}">
                <wpsdc:textFrameExt xmlns:wpsdc="http://www.wps.cn/officeDocument/2022/drawingmlCustomData" type="text"/>
              </a:ext>
            </a:extLst>
          </a:bodyPr>
          <a:p>
            <a:pPr algn="l"/>
            <a:r>
              <a:rPr lang="en-US" sz="1400" b="1" dirty="0">
                <a:solidFill>
                  <a:srgbClr val="161B22"/>
                </a:solidFill>
                <a:latin typeface="Arial" panose="020B0604020202020204" pitchFamily="34" charset="0"/>
                <a:ea typeface="Inter" pitchFamily="34" charset="-122"/>
                <a:cs typeface="Arial" panose="020B0604020202020204" pitchFamily="34" charset="0"/>
                <a:sym typeface="+mn-ea"/>
              </a:rPr>
              <a:t>Vietnam Social media context</a:t>
            </a:r>
            <a:endParaRPr lang="en-US" sz="1400"/>
          </a:p>
          <a:p>
            <a:pPr algn="l"/>
            <a:endParaRPr lang="en-US" sz="1400">
              <a:latin typeface="Arial" panose="020B0604020202020204" pitchFamily="34" charset="0"/>
              <a:ea typeface="Microsoft YaHei" panose="020B0503020204020204" charset="-122"/>
            </a:endParaRPr>
          </a:p>
        </p:txBody>
      </p:sp>
      <p:sp>
        <p:nvSpPr>
          <p:cNvPr id="30" name="Text Box 29"/>
          <p:cNvSpPr txBox="1"/>
          <p:nvPr/>
        </p:nvSpPr>
        <p:spPr>
          <a:xfrm>
            <a:off x="4792345" y="2303145"/>
            <a:ext cx="3046095" cy="275590"/>
          </a:xfrm>
          <a:prstGeom prst="rect">
            <a:avLst/>
          </a:prstGeom>
        </p:spPr>
        <p:txBody>
          <a:bodyPr wrap="square">
            <a:spAutoFit/>
            <a:extLst>
              <a:ext uri="{4A0BC546-FE56-4ADE-93B0-CB8AF2F6F144}">
                <wpsdc:textFrameExt xmlns:wpsdc="http://www.wps.cn/officeDocument/2022/drawingmlCustomData" type="text"/>
              </a:ext>
            </a:extLst>
          </a:bodyPr>
          <a:p>
            <a:pPr algn="l"/>
            <a:r>
              <a:rPr lang="en-US" sz="1200">
                <a:latin typeface="Arial" panose="020B0604020202020204" pitchFamily="34" charset="0"/>
                <a:ea typeface="Microsoft YaHei" panose="020B0503020204020204" charset="-122"/>
              </a:rPr>
              <a:t>Mạng xã hội tiếng Việt khá phức tạp.</a:t>
            </a:r>
            <a:endParaRPr lang="en-US" sz="1200">
              <a:latin typeface="Arial" panose="020B0604020202020204" pitchFamily="34" charset="0"/>
              <a:ea typeface="Microsoft YaHei" panose="020B0503020204020204" charset="-122"/>
            </a:endParaRPr>
          </a:p>
        </p:txBody>
      </p:sp>
      <p:sp>
        <p:nvSpPr>
          <p:cNvPr id="31" name="Text Box 30"/>
          <p:cNvSpPr txBox="1"/>
          <p:nvPr/>
        </p:nvSpPr>
        <p:spPr>
          <a:xfrm>
            <a:off x="4791710" y="2733675"/>
            <a:ext cx="2919730"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sz="1200">
                <a:latin typeface="Arial" panose="020B0604020202020204" pitchFamily="34" charset="0"/>
                <a:ea typeface="Microsoft YaHei" panose="020B0503020204020204" charset="-122"/>
              </a:rPr>
              <a:t>Văn bản chứa emoji, teencode, từ viết tắt, etc. </a:t>
            </a:r>
            <a:endParaRPr lang="en-US" sz="1200">
              <a:latin typeface="Arial" panose="020B0604020202020204" pitchFamily="34" charset="0"/>
              <a:ea typeface="Microsoft YaHei" panose="020B0503020204020204" charset="-122"/>
            </a:endParaRPr>
          </a:p>
        </p:txBody>
      </p:sp>
      <p:sp>
        <p:nvSpPr>
          <p:cNvPr id="32" name="Text Box 31"/>
          <p:cNvSpPr txBox="1"/>
          <p:nvPr/>
        </p:nvSpPr>
        <p:spPr>
          <a:xfrm>
            <a:off x="4782820" y="3257550"/>
            <a:ext cx="3065780"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sz="1200">
                <a:latin typeface="Arial" panose="020B0604020202020204" pitchFamily="34" charset="0"/>
                <a:ea typeface="Microsoft YaHei" panose="020B0503020204020204" charset="-122"/>
              </a:rPr>
              <a:t>Cần hiểu đặc điểm riêng của social-media text thay vì chỉ nội dung.</a:t>
            </a:r>
            <a:endParaRPr lang="en-US" sz="1200">
              <a:latin typeface="Arial" panose="020B0604020202020204" pitchFamily="34" charset="0"/>
              <a:ea typeface="Microsoft YaHei" panose="020B0503020204020204" charset="-122"/>
            </a:endParaRPr>
          </a:p>
        </p:txBody>
      </p:sp>
      <p:sp>
        <p:nvSpPr>
          <p:cNvPr id="9" name="Text Box 8"/>
          <p:cNvSpPr txBox="1"/>
          <p:nvPr/>
        </p:nvSpPr>
        <p:spPr>
          <a:xfrm>
            <a:off x="936625" y="3779435"/>
            <a:ext cx="4064000" cy="1014730"/>
          </a:xfrm>
          <a:prstGeom prst="rect">
            <a:avLst/>
          </a:prstGeom>
        </p:spPr>
        <p:txBody>
          <a:bodyPr>
            <a:spAutoFit/>
            <a:extLst>
              <a:ext uri="{4A0BC546-FE56-4ADE-93B0-CB8AF2F6F144}">
                <wpsdc:textFrameExt xmlns:wpsdc="http://www.wps.cn/officeDocument/2022/drawingmlCustomData" type="text"/>
              </a:ext>
            </a:extLst>
          </a:bodyPr>
          <a:p>
            <a:pPr algn="l"/>
            <a:r>
              <a:rPr lang="en-US" sz="1200">
                <a:latin typeface="Arial" panose="020B0604020202020204" pitchFamily="34" charset="0"/>
                <a:ea typeface="Microsoft YaHei" panose="020B0503020204020204" charset="-122"/>
              </a:rPr>
              <a:t>Fine-grained khó hơn Sentiment:</a:t>
            </a:r>
            <a:endParaRPr lang="en-US" sz="1200">
              <a:latin typeface="Arial" panose="020B0604020202020204" pitchFamily="34" charset="0"/>
              <a:ea typeface="Microsoft YaHei" panose="020B0503020204020204" charset="-122"/>
            </a:endParaRPr>
          </a:p>
          <a:p>
            <a:pPr algn="l"/>
            <a:endParaRPr lang="en-US" sz="1200">
              <a:latin typeface="Arial" panose="020B0604020202020204" pitchFamily="34" charset="0"/>
              <a:ea typeface="Microsoft YaHei" panose="020B0503020204020204" charset="-122"/>
            </a:endParaRPr>
          </a:p>
          <a:p>
            <a:pPr algn="l"/>
            <a:r>
              <a:rPr lang="en-US" sz="1200">
                <a:latin typeface="Arial" panose="020B0604020202020204" pitchFamily="34" charset="0"/>
                <a:ea typeface="Microsoft YaHei" panose="020B0503020204020204" charset="-122"/>
              </a:rPr>
              <a:t>- Có nhiều nhãn chi tiết</a:t>
            </a:r>
            <a:endParaRPr lang="en-US" sz="1200">
              <a:latin typeface="Arial" panose="020B0604020202020204" pitchFamily="34" charset="0"/>
              <a:ea typeface="Microsoft YaHei" panose="020B0503020204020204" charset="-122"/>
            </a:endParaRPr>
          </a:p>
          <a:p>
            <a:pPr algn="l"/>
            <a:endParaRPr lang="en-US" sz="1200">
              <a:latin typeface="Arial" panose="020B0604020202020204" pitchFamily="34" charset="0"/>
              <a:ea typeface="Microsoft YaHei" panose="020B0503020204020204" charset="-122"/>
            </a:endParaRPr>
          </a:p>
          <a:p>
            <a:pPr algn="l"/>
            <a:r>
              <a:rPr lang="en-US" sz="1200">
                <a:latin typeface="Arial" panose="020B0604020202020204" pitchFamily="34" charset="0"/>
                <a:ea typeface="Microsoft YaHei" panose="020B0503020204020204" charset="-122"/>
              </a:rPr>
              <a:t>-  Nhãn xuất hiện đồng thời</a:t>
            </a:r>
            <a:endParaRPr lang="en-US" sz="1200">
              <a:latin typeface="Arial" panose="020B0604020202020204" pitchFamily="34" charset="0"/>
              <a:ea typeface="Microsoft YaHei"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SURVEY OBJECTIVE AND SCOPE</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0"/>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What This Survey Covers</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2712" y="1674042"/>
            <a:ext cx="10566576" cy="815799"/>
          </a:xfrm>
          <a:prstGeom prst="roundRect">
            <a:avLst>
              <a:gd name="adj" fmla="val 10897"/>
            </a:avLst>
          </a:prstGeom>
          <a:solidFill>
            <a:srgbClr val="1F2734"/>
          </a:solidFill>
        </p:spPr>
      </p:sp>
      <p:sp>
        <p:nvSpPr>
          <p:cNvPr id="5" name="Text 3"/>
          <p:cNvSpPr/>
          <p:nvPr/>
        </p:nvSpPr>
        <p:spPr>
          <a:xfrm>
            <a:off x="1028700" y="1851660"/>
            <a:ext cx="10327005" cy="485775"/>
          </a:xfrm>
          <a:prstGeom prst="rect">
            <a:avLst/>
          </a:prstGeom>
          <a:noFill/>
        </p:spPr>
        <p:txBody>
          <a:bodyPr wrap="square" lIns="0" tIns="0" rIns="0" bIns="0" rtlCol="0" anchor="t">
            <a:normAutofit/>
          </a:bodyPr>
          <a:lstStyle/>
          <a:p>
            <a:pPr marL="0" indent="0" algn="l">
              <a:lnSpc>
                <a:spcPts val="1815"/>
              </a:lnSpc>
              <a:buNone/>
            </a:pPr>
            <a:r>
              <a:rPr lang="en-US" sz="1250" b="1" dirty="0">
                <a:solidFill>
                  <a:srgbClr val="F2F0EA"/>
                </a:solidFill>
                <a:latin typeface="Arial" panose="020B0604020202020204" pitchFamily="34" charset="0"/>
                <a:ea typeface="Inter" pitchFamily="34" charset="-122"/>
                <a:cs typeface="Arial" panose="020B0604020202020204" pitchFamily="34" charset="0"/>
              </a:rPr>
              <a:t>Objective:</a:t>
            </a:r>
            <a:r>
              <a:rPr lang="en-US" sz="1250" dirty="0">
                <a:solidFill>
                  <a:srgbClr val="F2F0EA"/>
                </a:solidFill>
                <a:latin typeface="Arial" panose="020B0604020202020204" pitchFamily="34" charset="0"/>
                <a:ea typeface="Inter" pitchFamily="34" charset="-122"/>
                <a:cs typeface="Arial" panose="020B0604020202020204" pitchFamily="34" charset="0"/>
              </a:rPr>
              <a:t> Xác định các phát hiện đã thiết lập (dataset, mô hình, phương pháp), khoảng trống (kiểm chứng và thực nghiệm trên ViGoEmotions), và sự khả thi về dữ liệu và thời gian để thực hiện trong phạm vi môn học..</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3501937" y="2667552"/>
            <a:ext cx="5188082" cy="2278437"/>
          </a:xfrm>
          <a:prstGeom prst="roundRect">
            <a:avLst>
              <a:gd name="adj" fmla="val 4320"/>
            </a:avLst>
          </a:prstGeom>
          <a:solidFill>
            <a:srgbClr val="FFFFFF"/>
          </a:solidFill>
          <a:ln w="6350">
            <a:solidFill>
              <a:srgbClr val="CFE6DF"/>
            </a:solidFill>
            <a:prstDash val="solid"/>
          </a:ln>
        </p:spPr>
      </p:sp>
      <p:sp>
        <p:nvSpPr>
          <p:cNvPr id="7" name="Text 5"/>
          <p:cNvSpPr/>
          <p:nvPr/>
        </p:nvSpPr>
        <p:spPr>
          <a:xfrm>
            <a:off x="3650553" y="2936862"/>
            <a:ext cx="4891067"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0B5C53"/>
                </a:solidFill>
                <a:latin typeface="Arial" panose="020B0604020202020204" pitchFamily="34" charset="0"/>
                <a:ea typeface="Inter" pitchFamily="34" charset="-122"/>
                <a:cs typeface="Arial" panose="020B0604020202020204" pitchFamily="34" charset="0"/>
              </a:rPr>
              <a:t>Phạm vi gồm 4 mảng:</a:t>
            </a:r>
            <a:endParaRPr lang="en-US" sz="14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3650615" y="3253105"/>
            <a:ext cx="5020310" cy="238760"/>
          </a:xfrm>
          <a:prstGeom prst="rect">
            <a:avLst/>
          </a:prstGeom>
          <a:noFill/>
        </p:spPr>
        <p:txBody>
          <a:bodyPr wrap="square" lIns="0" tIns="0" rIns="0" bIns="0" rtlCol="0" anchor="t">
            <a:normAutofit/>
          </a:bodyPr>
          <a:lstStyle/>
          <a:p>
            <a:pPr marL="0" indent="0" algn="l">
              <a:lnSpc>
                <a:spcPts val="1680"/>
              </a:lnSpc>
              <a:buNone/>
            </a:pPr>
            <a:r>
              <a:rPr lang="en-US" sz="1400" dirty="0">
                <a:solidFill>
                  <a:srgbClr val="2B303A"/>
                </a:solidFill>
                <a:latin typeface="Arial" panose="020B0604020202020204" pitchFamily="34" charset="0"/>
                <a:ea typeface="Inter" pitchFamily="34" charset="-122"/>
                <a:cs typeface="Arial" panose="020B0604020202020204" pitchFamily="34" charset="0"/>
              </a:rPr>
              <a:t>1. Datasets &amp; </a:t>
            </a:r>
            <a:r>
              <a:rPr lang="en-US" sz="1400" dirty="0">
                <a:solidFill>
                  <a:srgbClr val="2B303A"/>
                </a:solidFill>
                <a:latin typeface="Arial" panose="020B0604020202020204" pitchFamily="34" charset="0"/>
                <a:ea typeface="Inter" pitchFamily="34" charset="-122"/>
                <a:cs typeface="Arial" panose="020B0604020202020204" pitchFamily="34" charset="0"/>
                <a:sym typeface="+mn-ea"/>
              </a:rPr>
              <a:t>taxonomy</a:t>
            </a:r>
            <a:r>
              <a:rPr lang="en-US" sz="1400" dirty="0">
                <a:solidFill>
                  <a:srgbClr val="2B303A"/>
                </a:solidFill>
                <a:latin typeface="Arial" panose="020B0604020202020204" pitchFamily="34" charset="0"/>
                <a:ea typeface="Inter" pitchFamily="34" charset="-122"/>
                <a:cs typeface="Arial" panose="020B0604020202020204" pitchFamily="34" charset="0"/>
              </a:rPr>
              <a:t>: GoEmotions và ViGoEmotions</a:t>
            </a:r>
            <a:endParaRPr lang="en-US" sz="14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3650553" y="3555074"/>
            <a:ext cx="4891067" cy="238610"/>
          </a:xfrm>
          <a:prstGeom prst="rect">
            <a:avLst/>
          </a:prstGeom>
          <a:noFill/>
        </p:spPr>
        <p:txBody>
          <a:bodyPr wrap="square" lIns="0" tIns="0" rIns="0" bIns="0" rtlCol="0" anchor="t">
            <a:normAutofit/>
          </a:bodyPr>
          <a:lstStyle/>
          <a:p>
            <a:pPr marL="0" indent="0" algn="l">
              <a:lnSpc>
                <a:spcPts val="1680"/>
              </a:lnSpc>
              <a:buNone/>
            </a:pPr>
            <a:r>
              <a:rPr lang="en-US" sz="1400" dirty="0">
                <a:solidFill>
                  <a:srgbClr val="2B303A"/>
                </a:solidFill>
                <a:latin typeface="Arial" panose="020B0604020202020204" pitchFamily="34" charset="0"/>
                <a:ea typeface="Inter" pitchFamily="34" charset="-122"/>
                <a:cs typeface="Arial" panose="020B0604020202020204" pitchFamily="34" charset="0"/>
              </a:rPr>
              <a:t>2. Vietnamese PLMs: ViSoBERT và PhoBERT</a:t>
            </a:r>
            <a:endParaRPr lang="en-US" sz="14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0" name="Text 8"/>
          <p:cNvSpPr/>
          <p:nvPr/>
        </p:nvSpPr>
        <p:spPr>
          <a:xfrm>
            <a:off x="3650553" y="3857140"/>
            <a:ext cx="4891067" cy="238610"/>
          </a:xfrm>
          <a:prstGeom prst="rect">
            <a:avLst/>
          </a:prstGeom>
          <a:noFill/>
        </p:spPr>
        <p:txBody>
          <a:bodyPr wrap="square" lIns="0" tIns="0" rIns="0" bIns="0" rtlCol="0" anchor="t">
            <a:normAutofit/>
          </a:bodyPr>
          <a:lstStyle/>
          <a:p>
            <a:pPr marL="0" indent="0" algn="l">
              <a:lnSpc>
                <a:spcPts val="1680"/>
              </a:lnSpc>
              <a:buNone/>
            </a:pPr>
            <a:r>
              <a:rPr lang="en-US" sz="1400" dirty="0">
                <a:solidFill>
                  <a:srgbClr val="2B303A"/>
                </a:solidFill>
                <a:latin typeface="Arial" panose="020B0604020202020204" pitchFamily="34" charset="0"/>
                <a:ea typeface="Inter" pitchFamily="34" charset="-122"/>
                <a:cs typeface="Arial" panose="020B0604020202020204" pitchFamily="34" charset="0"/>
              </a:rPr>
              <a:t>3. Preprocessing: 3 kịch bản từ paper gốc</a:t>
            </a:r>
            <a:endParaRPr lang="en-US" sz="14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1" name="Text 9"/>
          <p:cNvSpPr/>
          <p:nvPr/>
        </p:nvSpPr>
        <p:spPr>
          <a:xfrm>
            <a:off x="3650553" y="4159207"/>
            <a:ext cx="4891067" cy="238610"/>
          </a:xfrm>
          <a:prstGeom prst="rect">
            <a:avLst/>
          </a:prstGeom>
          <a:noFill/>
        </p:spPr>
        <p:txBody>
          <a:bodyPr wrap="square" lIns="0" tIns="0" rIns="0" bIns="0" rtlCol="0" anchor="t">
            <a:normAutofit/>
          </a:bodyPr>
          <a:lstStyle/>
          <a:p>
            <a:pPr marL="0" indent="0" algn="l">
              <a:lnSpc>
                <a:spcPts val="1680"/>
              </a:lnSpc>
              <a:buNone/>
            </a:pPr>
            <a:r>
              <a:rPr lang="en-US" sz="1400" dirty="0">
                <a:solidFill>
                  <a:srgbClr val="2B303A"/>
                </a:solidFill>
                <a:latin typeface="Arial" panose="020B0604020202020204" pitchFamily="34" charset="0"/>
                <a:ea typeface="Inter" pitchFamily="34" charset="-122"/>
                <a:cs typeface="Arial" panose="020B0604020202020204" pitchFamily="34" charset="0"/>
              </a:rPr>
              <a:t>4. Imbalance-aware training: hàm loss ASL</a:t>
            </a:r>
            <a:endParaRPr lang="en-US" sz="14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2" name="Text 10"/>
          <p:cNvSpPr/>
          <p:nvPr/>
        </p:nvSpPr>
        <p:spPr>
          <a:xfrm>
            <a:off x="3650553" y="4461272"/>
            <a:ext cx="4891067" cy="238610"/>
          </a:xfrm>
          <a:prstGeom prst="rect">
            <a:avLst/>
          </a:prstGeom>
          <a:noFill/>
        </p:spPr>
        <p:txBody>
          <a:bodyPr wrap="square" lIns="0" tIns="0" rIns="0" bIns="0" rtlCol="0" anchor="t">
            <a:normAutofit/>
          </a:bodyPr>
          <a:lstStyle/>
          <a:p>
            <a:pPr marL="0" indent="0" algn="l">
              <a:lnSpc>
                <a:spcPts val="1680"/>
              </a:lnSpc>
              <a:buNone/>
            </a:pPr>
            <a:r>
              <a:rPr lang="en-US" sz="1400" dirty="0">
                <a:solidFill>
                  <a:srgbClr val="2B303A"/>
                </a:solidFill>
                <a:latin typeface="Arial" panose="020B0604020202020204" pitchFamily="34" charset="0"/>
                <a:ea typeface="Inter" pitchFamily="34" charset="-122"/>
                <a:cs typeface="Arial" panose="020B0604020202020204" pitchFamily="34" charset="0"/>
              </a:rPr>
              <a:t>5. Decision-level thresholding: per-label vs global</a:t>
            </a:r>
            <a:endParaRPr lang="en-US" sz="14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0" name="Shape 18"/>
          <p:cNvSpPr/>
          <p:nvPr/>
        </p:nvSpPr>
        <p:spPr>
          <a:xfrm>
            <a:off x="812800" y="5130165"/>
            <a:ext cx="10566400" cy="1074420"/>
          </a:xfrm>
          <a:prstGeom prst="roundRect">
            <a:avLst>
              <a:gd name="adj" fmla="val 7135"/>
            </a:avLst>
          </a:prstGeom>
          <a:solidFill>
            <a:srgbClr val="E3EFEC"/>
          </a:solidFill>
        </p:spPr>
      </p:sp>
      <p:sp>
        <p:nvSpPr>
          <p:cNvPr id="21" name="Shape 19"/>
          <p:cNvSpPr/>
          <p:nvPr/>
        </p:nvSpPr>
        <p:spPr>
          <a:xfrm>
            <a:off x="831762" y="5130051"/>
            <a:ext cx="0" cy="711950"/>
          </a:xfrm>
          <a:prstGeom prst="line">
            <a:avLst/>
          </a:prstGeom>
          <a:noFill/>
          <a:ln w="38100">
            <a:solidFill>
              <a:srgbClr val="0E6F64"/>
            </a:solidFill>
            <a:prstDash val="solid"/>
          </a:ln>
        </p:spPr>
      </p:sp>
      <p:sp>
        <p:nvSpPr>
          <p:cNvPr id="22" name="Text 20"/>
          <p:cNvSpPr/>
          <p:nvPr/>
        </p:nvSpPr>
        <p:spPr>
          <a:xfrm>
            <a:off x="1025525" y="5269865"/>
            <a:ext cx="10481310" cy="870585"/>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Survey giới hạn trong 4 mảng cốt lõi, trực tiếp phục vụ thiết kế thực nghiệm của dự án: dataset, lựa chọn PLM, tiền xử lý, và chiến lược loss/threshold. Và không mở rộng sang calibrations, multimodel inputs, </a:t>
            </a:r>
            <a:r>
              <a:rPr lang="en-US" altLang="en-US" sz="1200" dirty="0">
                <a:solidFill>
                  <a:srgbClr val="1A2E2A"/>
                </a:solidFill>
                <a:latin typeface="Arial" panose="020B0604020202020204" pitchFamily="34" charset="0"/>
                <a:ea typeface="Inter" pitchFamily="34" charset="-122"/>
                <a:cs typeface="Arial" panose="020B0604020202020204" pitchFamily="34" charset="0"/>
              </a:rPr>
              <a:t>LLM-based data augmentation, new models, cross-platforms validation.</a:t>
            </a: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r>
              <a:rPr lang="en-US" altLang="en-US" sz="1200" dirty="0">
                <a:solidFill>
                  <a:srgbClr val="1A2E2A"/>
                </a:solidFill>
                <a:latin typeface="Arial" panose="020B0604020202020204" pitchFamily="34" charset="0"/>
                <a:ea typeface="Inter" pitchFamily="34" charset="-122"/>
                <a:cs typeface="Arial" panose="020B0604020202020204" pitchFamily="34" charset="0"/>
              </a:rPr>
              <a:t>Xây dựng và đánh giá pipeline text-only trên ViGoEmotions. Baseline ViSoBERT (Macro F1 - 61.50%).</a:t>
            </a: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a:p>
            <a:pPr marL="0" indent="0" algn="l">
              <a:lnSpc>
                <a:spcPts val="1705"/>
              </a:lnSpc>
              <a:buNone/>
            </a:pP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3" name="Text 21"/>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4" name="Text 22"/>
          <p:cNvSpPr/>
          <p:nvPr/>
        </p:nvSpPr>
        <p:spPr>
          <a:xfrm>
            <a:off x="10887604" y="6238435"/>
            <a:ext cx="542264"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03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3" cy="216561"/>
          </a:xfrm>
          <a:prstGeom prst="rect">
            <a:avLst/>
          </a:prstGeom>
          <a:noFill/>
        </p:spPr>
        <p:txBody>
          <a:bodyPr wrap="square" lIns="0" tIns="0" rIns="0" bIns="0" rtlCol="0" anchor="t">
            <a:normAutofit/>
          </a:bodyPr>
          <a:lstStyle/>
          <a:p>
            <a:pPr marL="0" indent="0" algn="l">
              <a:lnSpc>
                <a:spcPts val="1525"/>
              </a:lnSpc>
              <a:buNone/>
            </a:pPr>
            <a:r>
              <a:rPr lang="en-US" sz="1090" b="1" dirty="0">
                <a:solidFill>
                  <a:srgbClr val="0B5C53"/>
                </a:solidFill>
                <a:latin typeface="Arial" panose="020B0604020202020204" pitchFamily="34" charset="0"/>
                <a:ea typeface="Inter" pitchFamily="34" charset="-122"/>
                <a:cs typeface="Arial" panose="020B0604020202020204" pitchFamily="34" charset="0"/>
              </a:rPr>
              <a:t>SURVEY MAP</a:t>
            </a:r>
            <a:endParaRPr lang="en-US" sz="109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080052"/>
            <a:ext cx="10883573" cy="378729"/>
          </a:xfrm>
          <a:prstGeom prst="rect">
            <a:avLst/>
          </a:prstGeom>
          <a:noFill/>
        </p:spPr>
        <p:txBody>
          <a:bodyPr wrap="square" lIns="0" tIns="0" rIns="0" bIns="0" rtlCol="0" anchor="t">
            <a:normAutofit/>
          </a:bodyPr>
          <a:lstStyle/>
          <a:p>
            <a:pPr marL="0" indent="0" algn="l">
              <a:lnSpc>
                <a:spcPts val="2825"/>
              </a:lnSpc>
              <a:buNone/>
            </a:pPr>
            <a:r>
              <a:rPr lang="en-US" sz="2455" b="1" dirty="0">
                <a:solidFill>
                  <a:srgbClr val="161B22"/>
                </a:solidFill>
                <a:latin typeface="Arial" panose="020B0604020202020204" pitchFamily="34" charset="0"/>
                <a:ea typeface="Source Serif 4" pitchFamily="34" charset="-122"/>
                <a:cs typeface="Arial" panose="020B0604020202020204" pitchFamily="34" charset="0"/>
              </a:rPr>
              <a:t>Four Clusters, One Research Path</a:t>
            </a:r>
            <a:endParaRPr lang="en-US" sz="2455" b="1" dirty="0">
              <a:solidFill>
                <a:srgbClr val="161B22"/>
              </a:solidFill>
              <a:latin typeface="Arial" panose="020B0604020202020204" pitchFamily="34" charset="0"/>
              <a:ea typeface="Source Serif 4" pitchFamily="34" charset="-122"/>
              <a:cs typeface="Arial" panose="020B0604020202020204" pitchFamily="34" charset="0"/>
            </a:endParaRPr>
          </a:p>
        </p:txBody>
      </p:sp>
      <p:graphicFrame>
        <p:nvGraphicFramePr>
          <p:cNvPr id="4" name="Table 0"/>
          <p:cNvGraphicFramePr>
            <a:graphicFrameLocks noGrp="1"/>
          </p:cNvGraphicFramePr>
          <p:nvPr/>
        </p:nvGraphicFramePr>
        <p:xfrm>
          <a:off x="812712" y="1636559"/>
          <a:ext cx="10566355" cy="2734800"/>
        </p:xfrm>
        <a:graphic>
          <a:graphicData uri="http://schemas.openxmlformats.org/drawingml/2006/table">
            <a:tbl>
              <a:tblPr/>
              <a:tblGrid>
                <a:gridCol w="3522118"/>
                <a:gridCol w="3522118"/>
                <a:gridCol w="3522118"/>
              </a:tblGrid>
              <a:tr h="546916">
                <a:tc>
                  <a:txBody>
                    <a:bodyPr/>
                    <a:lstStyle/>
                    <a:p>
                      <a:pPr marL="0" indent="0">
                        <a:lnSpc>
                          <a:spcPts val="2010"/>
                        </a:lnSpc>
                        <a:buNone/>
                      </a:pPr>
                      <a:r>
                        <a:rPr lang="en-US" sz="1435" b="1" dirty="0">
                          <a:solidFill>
                            <a:srgbClr val="F2F0EA"/>
                          </a:solidFill>
                          <a:latin typeface="Arial" panose="020B0604020202020204" pitchFamily="34" charset="0"/>
                          <a:ea typeface="Inter" pitchFamily="34" charset="-122"/>
                          <a:cs typeface="Arial" panose="020B0604020202020204" pitchFamily="34" charset="0"/>
                        </a:rPr>
                        <a:t>Cluster</a:t>
                      </a:r>
                      <a:endParaRPr lang="en-US" sz="1435" b="1" dirty="0">
                        <a:solidFill>
                          <a:srgbClr val="F2F0E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c>
                  <a:txBody>
                    <a:bodyPr/>
                    <a:lstStyle/>
                    <a:p>
                      <a:pPr marL="0" indent="0">
                        <a:lnSpc>
                          <a:spcPts val="2010"/>
                        </a:lnSpc>
                        <a:buNone/>
                      </a:pPr>
                      <a:r>
                        <a:rPr lang="en-US" sz="1435" b="1" dirty="0">
                          <a:solidFill>
                            <a:srgbClr val="F2F0EA"/>
                          </a:solidFill>
                          <a:latin typeface="Arial" panose="020B0604020202020204" pitchFamily="34" charset="0"/>
                          <a:ea typeface="Inter" pitchFamily="34" charset="-122"/>
                          <a:cs typeface="Arial" panose="020B0604020202020204" pitchFamily="34" charset="0"/>
                        </a:rPr>
                        <a:t>Tiêu đề</a:t>
                      </a:r>
                      <a:endParaRPr lang="en-US" sz="1435" b="1" dirty="0">
                        <a:solidFill>
                          <a:srgbClr val="F2F0E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c>
                  <a:txBody>
                    <a:bodyPr/>
                    <a:lstStyle/>
                    <a:p>
                      <a:pPr marL="0" indent="0">
                        <a:lnSpc>
                          <a:spcPts val="2010"/>
                        </a:lnSpc>
                        <a:buNone/>
                      </a:pPr>
                      <a:r>
                        <a:rPr lang="en-US" sz="1435" b="1" dirty="0">
                          <a:solidFill>
                            <a:srgbClr val="F2F0EA"/>
                          </a:solidFill>
                          <a:latin typeface="Arial" panose="020B0604020202020204" pitchFamily="34" charset="0"/>
                          <a:ea typeface="Inter" pitchFamily="34" charset="-122"/>
                          <a:cs typeface="Arial" panose="020B0604020202020204" pitchFamily="34" charset="0"/>
                        </a:rPr>
                        <a:t>Papers</a:t>
                      </a:r>
                      <a:endParaRPr lang="en-US" sz="1435" b="1" dirty="0">
                        <a:solidFill>
                          <a:srgbClr val="F2F0E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r>
              <a:tr h="546916">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1</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Dataset and Taxonomy</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GoEmotions, ViGoEmotions</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546916">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2</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Vietnamese Models</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ViSoBERT, PhoBERT, ViLexNorm</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547026">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3</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Imbalance-aware Training</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ASL Loss, BCE + pos_weight</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547026">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4</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Thresholding and Applied Evaluation</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010"/>
                        </a:lnSpc>
                        <a:buNone/>
                      </a:pPr>
                      <a:r>
                        <a:rPr lang="en-US" sz="1435" dirty="0">
                          <a:solidFill>
                            <a:srgbClr val="2B303A"/>
                          </a:solidFill>
                          <a:latin typeface="Arial" panose="020B0604020202020204" pitchFamily="34" charset="0"/>
                          <a:ea typeface="Inter" pitchFamily="34" charset="-122"/>
                          <a:cs typeface="Arial" panose="020B0604020202020204" pitchFamily="34" charset="0"/>
                        </a:rPr>
                        <a:t>Per-label threshold, Decision layer</a:t>
                      </a:r>
                      <a:endParaRPr lang="en-US" sz="1435" dirty="0">
                        <a:solidFill>
                          <a:srgbClr val="2B303A"/>
                        </a:solidFill>
                        <a:latin typeface="Arial" panose="020B0604020202020204" pitchFamily="34" charset="0"/>
                        <a:ea typeface="Inter" pitchFamily="34" charset="-122"/>
                        <a:cs typeface="Arial" panose="020B0604020202020204" pitchFamily="34" charset="0"/>
                      </a:endParaRPr>
                    </a:p>
                  </a:txBody>
                  <a:tcPr marL="177800" marR="177800" marT="127000" marB="1270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bl>
          </a:graphicData>
        </a:graphic>
      </p:graphicFrame>
      <p:sp>
        <p:nvSpPr>
          <p:cNvPr id="16" name="Shape 10"/>
          <p:cNvSpPr/>
          <p:nvPr/>
        </p:nvSpPr>
        <p:spPr>
          <a:xfrm>
            <a:off x="812712" y="5169849"/>
            <a:ext cx="10566576" cy="672152"/>
          </a:xfrm>
          <a:prstGeom prst="roundRect">
            <a:avLst>
              <a:gd name="adj" fmla="val 7558"/>
            </a:avLst>
          </a:prstGeom>
          <a:solidFill>
            <a:srgbClr val="E3EFEC"/>
          </a:solidFill>
        </p:spPr>
      </p:sp>
      <p:sp>
        <p:nvSpPr>
          <p:cNvPr id="17" name="Shape 11"/>
          <p:cNvSpPr/>
          <p:nvPr/>
        </p:nvSpPr>
        <p:spPr>
          <a:xfrm>
            <a:off x="831762" y="5169849"/>
            <a:ext cx="0" cy="672152"/>
          </a:xfrm>
          <a:prstGeom prst="line">
            <a:avLst/>
          </a:prstGeom>
          <a:noFill/>
          <a:ln w="38100">
            <a:solidFill>
              <a:srgbClr val="0E6F64"/>
            </a:solidFill>
            <a:prstDash val="solid"/>
          </a:ln>
        </p:spPr>
      </p:sp>
      <p:sp>
        <p:nvSpPr>
          <p:cNvPr id="18" name="Text 12"/>
          <p:cNvSpPr/>
          <p:nvPr/>
        </p:nvSpPr>
        <p:spPr>
          <a:xfrm>
            <a:off x="1025701" y="5309526"/>
            <a:ext cx="10481150" cy="418196"/>
          </a:xfrm>
          <a:prstGeom prst="rect">
            <a:avLst/>
          </a:prstGeom>
          <a:noFill/>
        </p:spPr>
        <p:txBody>
          <a:bodyPr wrap="square" lIns="0" tIns="0" rIns="0" bIns="0" rtlCol="0" anchor="t">
            <a:normAutofit/>
          </a:bodyPr>
          <a:lstStyle/>
          <a:p>
            <a:pPr marL="0" indent="0" algn="l">
              <a:lnSpc>
                <a:spcPts val="1670"/>
              </a:lnSpc>
              <a:buNone/>
            </a:pPr>
            <a:r>
              <a:rPr lang="en-US" sz="1175" dirty="0">
                <a:solidFill>
                  <a:srgbClr val="1A2E2A"/>
                </a:solidFill>
                <a:latin typeface="Arial" panose="020B0604020202020204" pitchFamily="34" charset="0"/>
                <a:ea typeface="Inter" pitchFamily="34" charset="-122"/>
                <a:cs typeface="Arial" panose="020B0604020202020204" pitchFamily="34" charset="0"/>
              </a:rPr>
              <a:t>Mỗi cluster trả lời một câu hỏi thiết kế cụ thể. Cùng nhau, chúng tạo nền tảng bằng chứng cho RQ2 (ASL + threshold) và khẳng định tính khả thi.</a:t>
            </a:r>
            <a:endParaRPr lang="en-US" sz="1175"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9" name="Text 13"/>
          <p:cNvSpPr/>
          <p:nvPr/>
        </p:nvSpPr>
        <p:spPr>
          <a:xfrm>
            <a:off x="812712" y="6238433"/>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0" name="Text 14"/>
          <p:cNvSpPr/>
          <p:nvPr/>
        </p:nvSpPr>
        <p:spPr>
          <a:xfrm>
            <a:off x="10883304" y="6238433"/>
            <a:ext cx="546563"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04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CLUSTER 1 · DATASET AND TAXONOMY</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31762" y="1110990"/>
            <a:ext cx="10883573" cy="390525"/>
          </a:xfrm>
          <a:prstGeom prst="rect">
            <a:avLst/>
          </a:prstGeom>
          <a:noFill/>
        </p:spPr>
        <p:txBody>
          <a:bodyPr wrap="square" lIns="0" tIns="0" rIns="0" bIns="0" rtlCol="0" anchor="t">
            <a:normAutofit fontScale="90000"/>
          </a:bodyPr>
          <a:lstStyle/>
          <a:p>
            <a:pPr marL="0" indent="0" algn="l">
              <a:lnSpc>
                <a:spcPts val="2875"/>
              </a:lnSpc>
              <a:buNone/>
            </a:pPr>
            <a:r>
              <a:rPr lang="en-US" altLang="en-US" sz="2500" b="1" dirty="0">
                <a:solidFill>
                  <a:srgbClr val="161B22"/>
                </a:solidFill>
                <a:latin typeface="Arial" panose="020B0604020202020204" pitchFamily="34" charset="0"/>
                <a:ea typeface="Source Serif 4" pitchFamily="34" charset="-122"/>
                <a:cs typeface="Arial" panose="020B0604020202020204" pitchFamily="34" charset="0"/>
              </a:rPr>
              <a:t>How is the GoEmotions label system adapted to Vietnamese social media?</a:t>
            </a:r>
            <a:endParaRPr lang="en-US" altLang="en-US" sz="25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48113"/>
            <a:ext cx="5042120" cy="647832"/>
          </a:xfrm>
          <a:prstGeom prst="roundRect">
            <a:avLst>
              <a:gd name="adj" fmla="val 13233"/>
            </a:avLst>
          </a:prstGeom>
          <a:solidFill>
            <a:srgbClr val="FFFFFF"/>
          </a:solidFill>
          <a:ln w="6350">
            <a:solidFill>
              <a:srgbClr val="E1DDD2"/>
            </a:solidFill>
            <a:prstDash val="solid"/>
          </a:ln>
        </p:spPr>
      </p:sp>
      <p:sp>
        <p:nvSpPr>
          <p:cNvPr id="5" name="Text 3"/>
          <p:cNvSpPr/>
          <p:nvPr/>
        </p:nvSpPr>
        <p:spPr>
          <a:xfrm>
            <a:off x="984801" y="1778992"/>
            <a:ext cx="4845420" cy="411471"/>
          </a:xfrm>
          <a:prstGeom prst="rect">
            <a:avLst/>
          </a:prstGeom>
          <a:noFill/>
        </p:spPr>
        <p:txBody>
          <a:bodyPr wrap="square" lIns="0" tIns="0" rIns="0" bIns="0" rtlCol="0" anchor="t">
            <a:normAutofit/>
          </a:bodyPr>
          <a:lstStyle/>
          <a:p>
            <a:pPr marL="0" indent="0" algn="l">
              <a:lnSpc>
                <a:spcPts val="1535"/>
              </a:lnSpc>
              <a:buNone/>
            </a:pPr>
            <a:r>
              <a:rPr lang="en-US" sz="1095" b="1" dirty="0">
                <a:solidFill>
                  <a:srgbClr val="2B303A"/>
                </a:solidFill>
                <a:latin typeface="Arial" panose="020B0604020202020204" pitchFamily="34" charset="0"/>
                <a:ea typeface="Inter" pitchFamily="34" charset="-122"/>
                <a:cs typeface="Arial" panose="020B0604020202020204" pitchFamily="34" charset="0"/>
              </a:rPr>
              <a:t>Question:</a:t>
            </a:r>
            <a:r>
              <a:rPr lang="en-US" sz="1095" dirty="0">
                <a:solidFill>
                  <a:srgbClr val="2B303A"/>
                </a:solidFill>
                <a:latin typeface="Arial" panose="020B0604020202020204" pitchFamily="34" charset="0"/>
                <a:ea typeface="Inter" pitchFamily="34" charset="-122"/>
                <a:cs typeface="Arial" panose="020B0604020202020204" pitchFamily="34" charset="0"/>
              </a:rPr>
              <a:t> Does the 27-label GoEmotions taxonomy transfer reliably to Vietnamese social media?</a:t>
            </a:r>
            <a:endParaRPr lang="en-US" sz="1095" dirty="0">
              <a:latin typeface="Arial" panose="020B0604020202020204" pitchFamily="34" charset="0"/>
              <a:cs typeface="Arial" panose="020B0604020202020204" pitchFamily="34" charset="0"/>
            </a:endParaRPr>
          </a:p>
        </p:txBody>
      </p:sp>
      <p:sp>
        <p:nvSpPr>
          <p:cNvPr id="6" name="Shape 4"/>
          <p:cNvSpPr/>
          <p:nvPr/>
        </p:nvSpPr>
        <p:spPr>
          <a:xfrm>
            <a:off x="815887" y="2403828"/>
            <a:ext cx="5042120" cy="840868"/>
          </a:xfrm>
          <a:prstGeom prst="roundRect">
            <a:avLst>
              <a:gd name="adj" fmla="val 10195"/>
            </a:avLst>
          </a:prstGeom>
          <a:solidFill>
            <a:srgbClr val="FFFFFF"/>
          </a:solidFill>
          <a:ln w="6350">
            <a:solidFill>
              <a:srgbClr val="E1DDD2"/>
            </a:solidFill>
            <a:prstDash val="solid"/>
          </a:ln>
        </p:spPr>
      </p:sp>
      <p:sp>
        <p:nvSpPr>
          <p:cNvPr id="7" name="Text 5"/>
          <p:cNvSpPr/>
          <p:nvPr/>
        </p:nvSpPr>
        <p:spPr>
          <a:xfrm>
            <a:off x="984801" y="2534710"/>
            <a:ext cx="4845420" cy="604507"/>
          </a:xfrm>
          <a:prstGeom prst="rect">
            <a:avLst/>
          </a:prstGeom>
          <a:noFill/>
        </p:spPr>
        <p:txBody>
          <a:bodyPr wrap="square" lIns="0" tIns="0" rIns="0" bIns="0" rtlCol="0" anchor="t">
            <a:normAutofit/>
          </a:bodyPr>
          <a:lstStyle/>
          <a:p>
            <a:pPr marL="0" indent="0" algn="l">
              <a:lnSpc>
                <a:spcPts val="1615"/>
              </a:lnSpc>
              <a:buNone/>
            </a:pPr>
            <a:r>
              <a:rPr lang="en-US" sz="1155" b="1" dirty="0">
                <a:solidFill>
                  <a:srgbClr val="2B303A"/>
                </a:solidFill>
                <a:latin typeface="Arial" panose="020B0604020202020204" pitchFamily="34" charset="0"/>
                <a:ea typeface="Inter" pitchFamily="34" charset="-122"/>
                <a:cs typeface="Arial" panose="020B0604020202020204" pitchFamily="34" charset="0"/>
              </a:rPr>
              <a:t>Finding:</a:t>
            </a:r>
            <a:r>
              <a:rPr lang="en-US" sz="1155" dirty="0">
                <a:solidFill>
                  <a:srgbClr val="2B303A"/>
                </a:solidFill>
                <a:latin typeface="Arial" panose="020B0604020202020204" pitchFamily="34" charset="0"/>
                <a:ea typeface="Inter" pitchFamily="34" charset="-122"/>
                <a:cs typeface="Arial" panose="020B0604020202020204" pitchFamily="34" charset="0"/>
              </a:rPr>
              <a:t> ViGoEmotions xác nhận transfer: 20,664 mẫu, 28 nhãn, LLM đề xuất + người xác minh. Chỉ 40.82% LLM-human agreement.</a:t>
            </a:r>
            <a:endParaRPr lang="en-US" sz="1155" dirty="0">
              <a:latin typeface="Arial" panose="020B0604020202020204" pitchFamily="34" charset="0"/>
              <a:cs typeface="Arial" panose="020B0604020202020204" pitchFamily="34" charset="0"/>
            </a:endParaRPr>
          </a:p>
        </p:txBody>
      </p:sp>
      <p:sp>
        <p:nvSpPr>
          <p:cNvPr id="8" name="Shape 6"/>
          <p:cNvSpPr/>
          <p:nvPr/>
        </p:nvSpPr>
        <p:spPr>
          <a:xfrm>
            <a:off x="815887" y="3352580"/>
            <a:ext cx="5042120" cy="647832"/>
          </a:xfrm>
          <a:prstGeom prst="roundRect">
            <a:avLst>
              <a:gd name="adj" fmla="val 13233"/>
            </a:avLst>
          </a:prstGeom>
          <a:solidFill>
            <a:srgbClr val="FFFFFF"/>
          </a:solidFill>
          <a:ln w="6350">
            <a:solidFill>
              <a:srgbClr val="E1DDD2"/>
            </a:solidFill>
            <a:prstDash val="solid"/>
          </a:ln>
        </p:spPr>
      </p:sp>
      <p:sp>
        <p:nvSpPr>
          <p:cNvPr id="9" name="Text 7"/>
          <p:cNvSpPr/>
          <p:nvPr/>
        </p:nvSpPr>
        <p:spPr>
          <a:xfrm>
            <a:off x="984801" y="3483462"/>
            <a:ext cx="4845420" cy="411471"/>
          </a:xfrm>
          <a:prstGeom prst="rect">
            <a:avLst/>
          </a:prstGeom>
          <a:noFill/>
        </p:spPr>
        <p:txBody>
          <a:bodyPr wrap="square" lIns="0" tIns="0" rIns="0" bIns="0" rtlCol="0" anchor="t">
            <a:normAutofit/>
          </a:bodyPr>
          <a:lstStyle/>
          <a:p>
            <a:pPr marL="0" indent="0" algn="l">
              <a:lnSpc>
                <a:spcPts val="1535"/>
              </a:lnSpc>
              <a:buNone/>
            </a:pPr>
            <a:r>
              <a:rPr lang="en-US" sz="1095" b="1" dirty="0">
                <a:solidFill>
                  <a:srgbClr val="2B303A"/>
                </a:solidFill>
                <a:latin typeface="Arial" panose="020B0604020202020204" pitchFamily="34" charset="0"/>
                <a:ea typeface="Inter" pitchFamily="34" charset="-122"/>
                <a:cs typeface="Arial" panose="020B0604020202020204" pitchFamily="34" charset="0"/>
              </a:rPr>
              <a:t>Limitation:</a:t>
            </a:r>
            <a:r>
              <a:rPr lang="en-US" sz="1095" dirty="0">
                <a:solidFill>
                  <a:srgbClr val="2B303A"/>
                </a:solidFill>
                <a:latin typeface="Arial" panose="020B0604020202020204" pitchFamily="34" charset="0"/>
                <a:ea typeface="Inter" pitchFamily="34" charset="-122"/>
                <a:cs typeface="Arial" panose="020B0604020202020204" pitchFamily="34" charset="0"/>
              </a:rPr>
              <a:t> Platform metadata không đầy đủ. Ngưỡng độ tin cậy tổng thể (Kappa) chưa được nêu rõ.</a:t>
            </a:r>
            <a:endParaRPr lang="en-US" sz="1095" dirty="0">
              <a:latin typeface="Arial" panose="020B0604020202020204" pitchFamily="34" charset="0"/>
              <a:cs typeface="Arial" panose="020B0604020202020204" pitchFamily="34" charset="0"/>
            </a:endParaRPr>
          </a:p>
        </p:txBody>
      </p:sp>
      <p:sp>
        <p:nvSpPr>
          <p:cNvPr id="10" name="Shape 8"/>
          <p:cNvSpPr/>
          <p:nvPr/>
        </p:nvSpPr>
        <p:spPr>
          <a:xfrm>
            <a:off x="815887" y="4108298"/>
            <a:ext cx="5042120" cy="840868"/>
          </a:xfrm>
          <a:prstGeom prst="roundRect">
            <a:avLst>
              <a:gd name="adj" fmla="val 10195"/>
            </a:avLst>
          </a:prstGeom>
          <a:solidFill>
            <a:srgbClr val="FFFFFF"/>
          </a:solidFill>
          <a:ln w="6350">
            <a:solidFill>
              <a:srgbClr val="E1DDD2"/>
            </a:solidFill>
            <a:prstDash val="solid"/>
          </a:ln>
        </p:spPr>
      </p:sp>
      <p:sp>
        <p:nvSpPr>
          <p:cNvPr id="11" name="Text 9"/>
          <p:cNvSpPr/>
          <p:nvPr/>
        </p:nvSpPr>
        <p:spPr>
          <a:xfrm>
            <a:off x="984801" y="4239177"/>
            <a:ext cx="4845420" cy="604507"/>
          </a:xfrm>
          <a:prstGeom prst="rect">
            <a:avLst/>
          </a:prstGeom>
          <a:noFill/>
        </p:spPr>
        <p:txBody>
          <a:bodyPr wrap="square" lIns="0" tIns="0" rIns="0" bIns="0" rtlCol="0" anchor="t">
            <a:normAutofit/>
          </a:bodyPr>
          <a:lstStyle/>
          <a:p>
            <a:pPr marL="0" indent="0" algn="l">
              <a:lnSpc>
                <a:spcPts val="1525"/>
              </a:lnSpc>
              <a:buNone/>
            </a:pPr>
            <a:r>
              <a:rPr lang="en-US" sz="1090" b="1" dirty="0">
                <a:solidFill>
                  <a:srgbClr val="2B303A"/>
                </a:solidFill>
                <a:latin typeface="Arial" panose="020B0604020202020204" pitchFamily="34" charset="0"/>
                <a:ea typeface="Inter" pitchFamily="34" charset="-122"/>
                <a:cs typeface="Arial" panose="020B0604020202020204" pitchFamily="34" charset="0"/>
              </a:rPr>
              <a:t>Implication:</a:t>
            </a:r>
            <a:r>
              <a:rPr lang="en-US" sz="1090" dirty="0">
                <a:solidFill>
                  <a:srgbClr val="2B303A"/>
                </a:solidFill>
                <a:latin typeface="Arial" panose="020B0604020202020204" pitchFamily="34" charset="0"/>
                <a:ea typeface="Inter" pitchFamily="34" charset="-122"/>
                <a:cs typeface="Arial" panose="020B0604020202020204" pitchFamily="34" charset="0"/>
              </a:rPr>
              <a:t> ViGoEmotions là dataset duy nhất kết hợp tiếng Việt + 27 nhãn fine-grained + multi-label + quy mô MXH. Dùng nguyên bản, không re-annotate.</a:t>
            </a:r>
            <a:endParaRPr lang="en-US" sz="1090" dirty="0">
              <a:latin typeface="Arial" panose="020B0604020202020204" pitchFamily="34" charset="0"/>
              <a:cs typeface="Arial" panose="020B0604020202020204" pitchFamily="34" charset="0"/>
            </a:endParaRPr>
          </a:p>
        </p:txBody>
      </p:sp>
      <p:graphicFrame>
        <p:nvGraphicFramePr>
          <p:cNvPr id="12" name="Table 0"/>
          <p:cNvGraphicFramePr>
            <a:graphicFrameLocks noGrp="1"/>
          </p:cNvGraphicFramePr>
          <p:nvPr/>
        </p:nvGraphicFramePr>
        <p:xfrm>
          <a:off x="6064360" y="1644938"/>
          <a:ext cx="5314929" cy="4606837"/>
        </p:xfrm>
        <a:graphic>
          <a:graphicData uri="http://schemas.openxmlformats.org/drawingml/2006/table">
            <a:tbl>
              <a:tblPr/>
              <a:tblGrid>
                <a:gridCol w="1771643"/>
                <a:gridCol w="1771643"/>
                <a:gridCol w="1771643"/>
              </a:tblGrid>
              <a:tr h="469194">
                <a:tc>
                  <a:txBody>
                    <a:bodyPr/>
                    <a:lstStyle/>
                    <a:p>
                      <a:pPr marL="0" indent="0">
                        <a:lnSpc>
                          <a:spcPts val="2240"/>
                        </a:lnSpc>
                        <a:buNone/>
                      </a:pPr>
                      <a:r>
                        <a:rPr lang="en-US" sz="1600" b="1" dirty="0">
                          <a:solidFill>
                            <a:srgbClr val="F2F0EA"/>
                          </a:solidFill>
                          <a:latin typeface="Arial" panose="020B0604020202020204" pitchFamily="34" charset="0"/>
                          <a:ea typeface="Inter" pitchFamily="34" charset="-122"/>
                          <a:cs typeface="Arial" panose="020B0604020202020204" pitchFamily="34" charset="0"/>
                        </a:rPr>
                        <a:t>Feature</a:t>
                      </a:r>
                      <a:endParaRPr lang="en-US" sz="1600" b="1" dirty="0">
                        <a:solidFill>
                          <a:srgbClr val="F2F0E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c>
                  <a:txBody>
                    <a:bodyPr/>
                    <a:lstStyle/>
                    <a:p>
                      <a:pPr marL="0" indent="0">
                        <a:lnSpc>
                          <a:spcPts val="2240"/>
                        </a:lnSpc>
                        <a:buNone/>
                      </a:pPr>
                      <a:r>
                        <a:rPr lang="en-US" sz="1600" b="1" dirty="0">
                          <a:solidFill>
                            <a:srgbClr val="F2F0EA"/>
                          </a:solidFill>
                          <a:latin typeface="Arial" panose="020B0604020202020204" pitchFamily="34" charset="0"/>
                          <a:ea typeface="Inter" pitchFamily="34" charset="-122"/>
                          <a:cs typeface="Arial" panose="020B0604020202020204" pitchFamily="34" charset="0"/>
                        </a:rPr>
                        <a:t>GoEmotions</a:t>
                      </a:r>
                      <a:endParaRPr lang="en-US" sz="1600" b="1" dirty="0">
                        <a:solidFill>
                          <a:srgbClr val="F2F0E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c>
                  <a:txBody>
                    <a:bodyPr/>
                    <a:lstStyle/>
                    <a:p>
                      <a:pPr marL="0" indent="0">
                        <a:lnSpc>
                          <a:spcPts val="2240"/>
                        </a:lnSpc>
                        <a:buNone/>
                      </a:pPr>
                      <a:r>
                        <a:rPr lang="en-US" sz="1600" b="1" dirty="0">
                          <a:solidFill>
                            <a:srgbClr val="F2F0EA"/>
                          </a:solidFill>
                          <a:latin typeface="Arial" panose="020B0604020202020204" pitchFamily="34" charset="0"/>
                          <a:ea typeface="Inter" pitchFamily="34" charset="-122"/>
                          <a:cs typeface="Arial" panose="020B0604020202020204" pitchFamily="34" charset="0"/>
                        </a:rPr>
                        <a:t>ViGoEmotions</a:t>
                      </a:r>
                      <a:endParaRPr lang="en-US" sz="1600" b="1" dirty="0">
                        <a:solidFill>
                          <a:srgbClr val="F2F0E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solidFill>
                      <a:srgbClr val="161B22"/>
                    </a:solidFill>
                  </a:tcPr>
                </a:tc>
              </a:tr>
              <a:tr h="469194">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Language</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English</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Vietnamese</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753621">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Source</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Reddit (58k)</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FB/TikTok/YT (20.6k)</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469194">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Labels</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27 + neutral</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27 + neutral</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469194">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Task</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Multi-label</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Multi-label</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753621">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Baseline F1-macro</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BERT ~0.46</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ViSoBERT 61.50%</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753621">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Annotation</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3 annotators</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LLM + human verify</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r h="469194">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Year</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ACL 2020</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c>
                  <a:txBody>
                    <a:bodyPr/>
                    <a:lstStyle/>
                    <a:p>
                      <a:pPr marL="0" indent="0">
                        <a:lnSpc>
                          <a:spcPts val="2240"/>
                        </a:lnSpc>
                        <a:buNone/>
                      </a:pPr>
                      <a:r>
                        <a:rPr lang="en-US" sz="1600" dirty="0">
                          <a:solidFill>
                            <a:srgbClr val="2B303A"/>
                          </a:solidFill>
                          <a:latin typeface="Arial" panose="020B0604020202020204" pitchFamily="34" charset="0"/>
                          <a:ea typeface="Inter" pitchFamily="34" charset="-122"/>
                          <a:cs typeface="Arial" panose="020B0604020202020204" pitchFamily="34" charset="0"/>
                        </a:rPr>
                        <a:t>EACL 2026</a:t>
                      </a:r>
                      <a:endParaRPr lang="en-US" sz="1600" dirty="0">
                        <a:solidFill>
                          <a:srgbClr val="2B303A"/>
                        </a:solidFill>
                        <a:latin typeface="Arial" panose="020B0604020202020204" pitchFamily="34" charset="0"/>
                        <a:ea typeface="Inter" pitchFamily="34" charset="-122"/>
                        <a:cs typeface="Arial" panose="020B0604020202020204" pitchFamily="34" charset="0"/>
                      </a:endParaRPr>
                    </a:p>
                  </a:txBody>
                  <a:tcPr marL="127000" marR="127000" marT="88900" marB="88900" anchor="t">
                    <a:lnL w="12700" cap="flat" cmpd="sng" algn="ctr">
                      <a:solidFill>
                        <a:srgbClr val="C6C5C3"/>
                      </a:solidFill>
                      <a:prstDash val="solid"/>
                      <a:round/>
                      <a:headEnd type="none" w="med" len="med"/>
                      <a:tailEnd type="none" w="med" len="med"/>
                    </a:lnL>
                    <a:lnR w="12700" cap="flat" cmpd="sng" algn="ctr">
                      <a:solidFill>
                        <a:srgbClr val="C6C5C3"/>
                      </a:solidFill>
                      <a:prstDash val="solid"/>
                      <a:round/>
                      <a:headEnd type="none" w="med" len="med"/>
                      <a:tailEnd type="none" w="med" len="med"/>
                    </a:lnR>
                    <a:lnT w="12700" cap="flat" cmpd="sng" algn="ctr">
                      <a:solidFill>
                        <a:srgbClr val="C6C5C3"/>
                      </a:solidFill>
                      <a:prstDash val="solid"/>
                      <a:round/>
                      <a:headEnd type="none" w="med" len="med"/>
                      <a:tailEnd type="none" w="med" len="med"/>
                    </a:lnT>
                    <a:lnB w="12700" cap="flat" cmpd="sng" algn="ctr">
                      <a:solidFill>
                        <a:srgbClr val="C6C5C3"/>
                      </a:solidFill>
                      <a:prstDash val="solid"/>
                      <a:round/>
                      <a:headEnd type="none" w="med" len="med"/>
                      <a:tailEnd type="none" w="med" len="med"/>
                    </a:lnB>
                  </a:tcPr>
                </a:tc>
              </a:tr>
            </a:tbl>
          </a:graphicData>
        </a:graphic>
      </p:graphicFrame>
      <p:sp>
        <p:nvSpPr>
          <p:cNvPr id="13" name="Shape 10"/>
          <p:cNvSpPr/>
          <p:nvPr/>
        </p:nvSpPr>
        <p:spPr>
          <a:xfrm>
            <a:off x="812712" y="5130053"/>
            <a:ext cx="10566576" cy="711950"/>
          </a:xfrm>
          <a:prstGeom prst="roundRect">
            <a:avLst>
              <a:gd name="adj" fmla="val 7135"/>
            </a:avLst>
          </a:prstGeom>
          <a:solidFill>
            <a:srgbClr val="E3EFEC"/>
          </a:solidFill>
        </p:spPr>
      </p:sp>
      <p:sp>
        <p:nvSpPr>
          <p:cNvPr id="14" name="Shape 11"/>
          <p:cNvSpPr/>
          <p:nvPr/>
        </p:nvSpPr>
        <p:spPr>
          <a:xfrm>
            <a:off x="831762" y="5130053"/>
            <a:ext cx="0" cy="711950"/>
          </a:xfrm>
          <a:prstGeom prst="line">
            <a:avLst/>
          </a:prstGeom>
          <a:noFill/>
          <a:ln w="38100">
            <a:solidFill>
              <a:srgbClr val="0E6F64"/>
            </a:solidFill>
            <a:prstDash val="solid"/>
          </a:ln>
        </p:spPr>
      </p:sp>
      <p:sp>
        <p:nvSpPr>
          <p:cNvPr id="15" name="Text 12"/>
          <p:cNvSpPr/>
          <p:nvPr/>
        </p:nvSpPr>
        <p:spPr>
          <a:xfrm>
            <a:off x="1025701" y="5269728"/>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GoEmotions thiết lập taxonomy 27 nhãn; ViGoEmotions xác thực nó cho tiếng Việt. Khoảng cách baseline (BERT 0.46 vs ViSoBERT 0.615) phản ánh cải thiện cả domain lẫn ngôn ngữ.</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6" name="Text 13"/>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17" name="Text 14"/>
          <p:cNvSpPr/>
          <p:nvPr/>
        </p:nvSpPr>
        <p:spPr>
          <a:xfrm>
            <a:off x="10891351" y="6238435"/>
            <a:ext cx="538515"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05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5887" y="27296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DATASET DEEP DIVE</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2578012" y="263900"/>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ViGoEmotions: Scale and Imbalance</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77215"/>
            <a:ext cx="4497409" cy="3271948"/>
          </a:xfrm>
          <a:prstGeom prst="roundRect">
            <a:avLst>
              <a:gd name="adj" fmla="val 3008"/>
            </a:avLst>
          </a:prstGeom>
          <a:solidFill>
            <a:srgbClr val="FFFFFF"/>
          </a:solidFill>
          <a:ln w="6350">
            <a:solidFill>
              <a:srgbClr val="E1DDD2"/>
            </a:solidFill>
            <a:prstDash val="solid"/>
          </a:ln>
        </p:spPr>
      </p:sp>
      <p:sp>
        <p:nvSpPr>
          <p:cNvPr id="5" name="Text 3"/>
          <p:cNvSpPr/>
          <p:nvPr/>
        </p:nvSpPr>
        <p:spPr>
          <a:xfrm>
            <a:off x="1035623" y="1871597"/>
            <a:ext cx="4179675" cy="255587"/>
          </a:xfrm>
          <a:prstGeom prst="rect">
            <a:avLst/>
          </a:prstGeom>
          <a:noFill/>
        </p:spPr>
        <p:txBody>
          <a:bodyPr wrap="square" lIns="0" tIns="0" rIns="0" bIns="0" rtlCol="0" anchor="t">
            <a:normAutofit/>
          </a:bodyPr>
          <a:lstStyle/>
          <a:p>
            <a:pPr marL="0" indent="0" algn="l">
              <a:lnSpc>
                <a:spcPts val="1815"/>
              </a:lnSpc>
              <a:buNone/>
            </a:pPr>
            <a:r>
              <a:rPr lang="en-US" sz="1250" b="1" dirty="0">
                <a:solidFill>
                  <a:srgbClr val="2B303A"/>
                </a:solidFill>
                <a:latin typeface="Arial" panose="020B0604020202020204" pitchFamily="34" charset="0"/>
                <a:ea typeface="Inter" pitchFamily="34" charset="-122"/>
                <a:cs typeface="Arial" panose="020B0604020202020204" pitchFamily="34" charset="0"/>
              </a:rPr>
              <a:t>20,664</a:t>
            </a:r>
            <a:r>
              <a:rPr lang="en-US" sz="1250" dirty="0">
                <a:solidFill>
                  <a:srgbClr val="2B303A"/>
                </a:solidFill>
                <a:latin typeface="Arial" panose="020B0604020202020204" pitchFamily="34" charset="0"/>
                <a:ea typeface="Inter" pitchFamily="34" charset="-122"/>
                <a:cs typeface="Arial" panose="020B0604020202020204" pitchFamily="34" charset="0"/>
              </a:rPr>
              <a:t> bình luận mạng xã hội tiếng Việt</a:t>
            </a:r>
            <a:endParaRPr lang="en-US" sz="1250" dirty="0">
              <a:latin typeface="Arial" panose="020B0604020202020204" pitchFamily="34" charset="0"/>
              <a:cs typeface="Arial" panose="020B0604020202020204" pitchFamily="34" charset="0"/>
            </a:endParaRPr>
          </a:p>
        </p:txBody>
      </p:sp>
      <p:sp>
        <p:nvSpPr>
          <p:cNvPr id="6" name="Text 4"/>
          <p:cNvSpPr/>
          <p:nvPr/>
        </p:nvSpPr>
        <p:spPr>
          <a:xfrm>
            <a:off x="1035623" y="2237054"/>
            <a:ext cx="4179675" cy="255587"/>
          </a:xfrm>
          <a:prstGeom prst="rect">
            <a:avLst/>
          </a:prstGeom>
          <a:noFill/>
        </p:spPr>
        <p:txBody>
          <a:bodyPr wrap="square" lIns="0" tIns="0" rIns="0" bIns="0" rtlCol="0" anchor="t">
            <a:normAutofit/>
          </a:bodyPr>
          <a:lstStyle/>
          <a:p>
            <a:pPr marL="0" indent="0" algn="l">
              <a:lnSpc>
                <a:spcPts val="1815"/>
              </a:lnSpc>
              <a:buNone/>
            </a:pPr>
            <a:r>
              <a:rPr lang="en-US" sz="1250" b="1" dirty="0">
                <a:solidFill>
                  <a:srgbClr val="2B303A"/>
                </a:solidFill>
                <a:latin typeface="Arial" panose="020B0604020202020204" pitchFamily="34" charset="0"/>
                <a:ea typeface="Inter" pitchFamily="34" charset="-122"/>
                <a:cs typeface="Arial" panose="020B0604020202020204" pitchFamily="34" charset="0"/>
              </a:rPr>
              <a:t>28 nhãn</a:t>
            </a:r>
            <a:r>
              <a:rPr lang="en-US" sz="1250" dirty="0">
                <a:solidFill>
                  <a:srgbClr val="2B303A"/>
                </a:solidFill>
                <a:latin typeface="Arial" panose="020B0604020202020204" pitchFamily="34" charset="0"/>
                <a:ea typeface="Inter" pitchFamily="34" charset="-122"/>
                <a:cs typeface="Arial" panose="020B0604020202020204" pitchFamily="34" charset="0"/>
              </a:rPr>
              <a:t>: 27 cảm xúc chi tiết + neutral</a:t>
            </a:r>
            <a:endParaRPr lang="en-US" sz="1250" dirty="0">
              <a:latin typeface="Arial" panose="020B0604020202020204" pitchFamily="34" charset="0"/>
              <a:cs typeface="Arial" panose="020B0604020202020204" pitchFamily="34" charset="0"/>
            </a:endParaRPr>
          </a:p>
        </p:txBody>
      </p:sp>
      <p:sp>
        <p:nvSpPr>
          <p:cNvPr id="7" name="Text 5"/>
          <p:cNvSpPr/>
          <p:nvPr/>
        </p:nvSpPr>
        <p:spPr>
          <a:xfrm>
            <a:off x="1035623" y="2602508"/>
            <a:ext cx="4179675" cy="255587"/>
          </a:xfrm>
          <a:prstGeom prst="rect">
            <a:avLst/>
          </a:prstGeom>
          <a:noFill/>
        </p:spPr>
        <p:txBody>
          <a:bodyPr wrap="square" lIns="0" tIns="0" rIns="0" bIns="0" rtlCol="0" anchor="t">
            <a:normAutofit/>
          </a:bodyPr>
          <a:lstStyle/>
          <a:p>
            <a:pPr marL="0" indent="0" algn="l">
              <a:lnSpc>
                <a:spcPts val="1815"/>
              </a:lnSpc>
              <a:buNone/>
            </a:pPr>
            <a:r>
              <a:rPr lang="en-US" sz="1250" dirty="0">
                <a:solidFill>
                  <a:srgbClr val="2B303A"/>
                </a:solidFill>
                <a:latin typeface="Arial" panose="020B0604020202020204" pitchFamily="34" charset="0"/>
                <a:ea typeface="Inter" pitchFamily="34" charset="-122"/>
                <a:cs typeface="Arial" panose="020B0604020202020204" pitchFamily="34" charset="0"/>
              </a:rPr>
              <a:t>Multi-label: trung bình </a:t>
            </a:r>
            <a:r>
              <a:rPr lang="en-US" sz="1250" b="1" dirty="0">
                <a:solidFill>
                  <a:srgbClr val="2B303A"/>
                </a:solidFill>
                <a:latin typeface="Arial" panose="020B0604020202020204" pitchFamily="34" charset="0"/>
                <a:ea typeface="Inter" pitchFamily="34" charset="-122"/>
                <a:cs typeface="Arial" panose="020B0604020202020204" pitchFamily="34" charset="0"/>
              </a:rPr>
              <a:t>~1.91</a:t>
            </a:r>
            <a:r>
              <a:rPr lang="en-US" sz="1250" dirty="0">
                <a:solidFill>
                  <a:srgbClr val="2B303A"/>
                </a:solidFill>
                <a:latin typeface="Arial" panose="020B0604020202020204" pitchFamily="34" charset="0"/>
                <a:ea typeface="Inter" pitchFamily="34" charset="-122"/>
                <a:cs typeface="Arial" panose="020B0604020202020204" pitchFamily="34" charset="0"/>
              </a:rPr>
              <a:t> nhãn/bình luận</a:t>
            </a:r>
            <a:endParaRPr lang="en-US" sz="1250" dirty="0">
              <a:latin typeface="Arial" panose="020B0604020202020204" pitchFamily="34" charset="0"/>
              <a:cs typeface="Arial" panose="020B0604020202020204" pitchFamily="34" charset="0"/>
            </a:endParaRPr>
          </a:p>
        </p:txBody>
      </p:sp>
      <p:sp>
        <p:nvSpPr>
          <p:cNvPr id="8" name="Text 6"/>
          <p:cNvSpPr/>
          <p:nvPr/>
        </p:nvSpPr>
        <p:spPr>
          <a:xfrm>
            <a:off x="1035623" y="2967965"/>
            <a:ext cx="4179675" cy="255587"/>
          </a:xfrm>
          <a:prstGeom prst="rect">
            <a:avLst/>
          </a:prstGeom>
          <a:noFill/>
        </p:spPr>
        <p:txBody>
          <a:bodyPr wrap="square" lIns="0" tIns="0" rIns="0" bIns="0" rtlCol="0" anchor="t">
            <a:normAutofit/>
          </a:bodyPr>
          <a:lstStyle/>
          <a:p>
            <a:pPr marL="0" indent="0" algn="l">
              <a:lnSpc>
                <a:spcPts val="1815"/>
              </a:lnSpc>
              <a:buNone/>
            </a:pPr>
            <a:r>
              <a:rPr lang="en-US" sz="1250" dirty="0">
                <a:solidFill>
                  <a:srgbClr val="2B303A"/>
                </a:solidFill>
                <a:latin typeface="Arial" panose="020B0604020202020204" pitchFamily="34" charset="0"/>
                <a:ea typeface="Inter" pitchFamily="34" charset="-122"/>
                <a:cs typeface="Arial" panose="020B0604020202020204" pitchFamily="34" charset="0"/>
              </a:rPr>
              <a:t>Nguồn: Facebook, TikTok, YouTube, Threads</a:t>
            </a:r>
            <a:endParaRPr lang="en-US" sz="12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1035623" y="3333310"/>
            <a:ext cx="4179675" cy="255587"/>
          </a:xfrm>
          <a:prstGeom prst="rect">
            <a:avLst/>
          </a:prstGeom>
          <a:noFill/>
        </p:spPr>
        <p:txBody>
          <a:bodyPr wrap="square" lIns="0" tIns="0" rIns="0" bIns="0" rtlCol="0" anchor="t">
            <a:normAutofit/>
          </a:bodyPr>
          <a:lstStyle/>
          <a:p>
            <a:pPr marL="0" indent="0" algn="l">
              <a:lnSpc>
                <a:spcPts val="1815"/>
              </a:lnSpc>
              <a:buNone/>
            </a:pPr>
            <a:r>
              <a:rPr lang="en-US" sz="1250" dirty="0">
                <a:solidFill>
                  <a:srgbClr val="2B303A"/>
                </a:solidFill>
                <a:latin typeface="Arial" panose="020B0604020202020204" pitchFamily="34" charset="0"/>
                <a:ea typeface="Inter" pitchFamily="34" charset="-122"/>
                <a:cs typeface="Arial" panose="020B0604020202020204" pitchFamily="34" charset="0"/>
              </a:rPr>
              <a:t>Split: Train </a:t>
            </a:r>
            <a:r>
              <a:rPr lang="en-US" sz="1250" b="1" dirty="0">
                <a:solidFill>
                  <a:srgbClr val="2B303A"/>
                </a:solidFill>
                <a:latin typeface="Arial" panose="020B0604020202020204" pitchFamily="34" charset="0"/>
                <a:ea typeface="Inter" pitchFamily="34" charset="-122"/>
                <a:cs typeface="Arial" panose="020B0604020202020204" pitchFamily="34" charset="0"/>
              </a:rPr>
              <a:t>16,531</a:t>
            </a:r>
            <a:r>
              <a:rPr lang="en-US" sz="1250" dirty="0">
                <a:solidFill>
                  <a:srgbClr val="2B303A"/>
                </a:solidFill>
                <a:latin typeface="Arial" panose="020B0604020202020204" pitchFamily="34" charset="0"/>
                <a:ea typeface="Inter" pitchFamily="34" charset="-122"/>
                <a:cs typeface="Arial" panose="020B0604020202020204" pitchFamily="34" charset="0"/>
              </a:rPr>
              <a:t> / Val </a:t>
            </a:r>
            <a:r>
              <a:rPr lang="en-US" sz="1250" b="1" dirty="0">
                <a:solidFill>
                  <a:srgbClr val="2B303A"/>
                </a:solidFill>
                <a:latin typeface="Arial" panose="020B0604020202020204" pitchFamily="34" charset="0"/>
                <a:ea typeface="Inter" pitchFamily="34" charset="-122"/>
                <a:cs typeface="Arial" panose="020B0604020202020204" pitchFamily="34" charset="0"/>
              </a:rPr>
              <a:t>2,066</a:t>
            </a:r>
            <a:r>
              <a:rPr lang="en-US" sz="1250" dirty="0">
                <a:solidFill>
                  <a:srgbClr val="2B303A"/>
                </a:solidFill>
                <a:latin typeface="Arial" panose="020B0604020202020204" pitchFamily="34" charset="0"/>
                <a:ea typeface="Inter" pitchFamily="34" charset="-122"/>
                <a:cs typeface="Arial" panose="020B0604020202020204" pitchFamily="34" charset="0"/>
              </a:rPr>
              <a:t> / Test </a:t>
            </a:r>
            <a:r>
              <a:rPr lang="en-US" sz="1250" b="1" dirty="0">
                <a:solidFill>
                  <a:srgbClr val="2B303A"/>
                </a:solidFill>
                <a:latin typeface="Arial" panose="020B0604020202020204" pitchFamily="34" charset="0"/>
                <a:ea typeface="Inter" pitchFamily="34" charset="-122"/>
                <a:cs typeface="Arial" panose="020B0604020202020204" pitchFamily="34" charset="0"/>
              </a:rPr>
              <a:t>2,067</a:t>
            </a:r>
            <a:endParaRPr lang="en-US" sz="1250" dirty="0">
              <a:latin typeface="Arial" panose="020B0604020202020204" pitchFamily="34" charset="0"/>
              <a:cs typeface="Arial" panose="020B0604020202020204" pitchFamily="34" charset="0"/>
            </a:endParaRPr>
          </a:p>
        </p:txBody>
      </p:sp>
      <p:sp>
        <p:nvSpPr>
          <p:cNvPr id="10" name="Text 8"/>
          <p:cNvSpPr/>
          <p:nvPr/>
        </p:nvSpPr>
        <p:spPr>
          <a:xfrm>
            <a:off x="1035623" y="3698766"/>
            <a:ext cx="4179675" cy="485775"/>
          </a:xfrm>
          <a:prstGeom prst="rect">
            <a:avLst/>
          </a:prstGeom>
          <a:noFill/>
        </p:spPr>
        <p:txBody>
          <a:bodyPr wrap="square" lIns="0" tIns="0" rIns="0" bIns="0" rtlCol="0" anchor="t">
            <a:normAutofit/>
          </a:bodyPr>
          <a:lstStyle/>
          <a:p>
            <a:pPr marL="0" indent="0" algn="l">
              <a:lnSpc>
                <a:spcPts val="1815"/>
              </a:lnSpc>
              <a:buNone/>
            </a:pPr>
            <a:r>
              <a:rPr lang="en-US" sz="1250" dirty="0">
                <a:solidFill>
                  <a:srgbClr val="2B303A"/>
                </a:solidFill>
                <a:latin typeface="Arial" panose="020B0604020202020204" pitchFamily="34" charset="0"/>
                <a:ea typeface="Inter" pitchFamily="34" charset="-122"/>
                <a:cs typeface="Arial" panose="020B0604020202020204" pitchFamily="34" charset="0"/>
              </a:rPr>
              <a:t>Annotation: 3 LLM đề xuất → người xác minh (</a:t>
            </a:r>
            <a:r>
              <a:rPr lang="en-US" altLang="en-US" sz="1250" dirty="0">
                <a:solidFill>
                  <a:srgbClr val="2B303A"/>
                </a:solidFill>
                <a:latin typeface="Arial" panose="020B0604020202020204" pitchFamily="34" charset="0"/>
                <a:ea typeface="Inter" pitchFamily="34" charset="-122"/>
                <a:cs typeface="Arial" panose="020B0604020202020204" pitchFamily="34" charset="0"/>
              </a:rPr>
              <a:t>LLM–human exact agreement</a:t>
            </a:r>
            <a:r>
              <a:rPr lang="en-US" sz="1250" dirty="0">
                <a:solidFill>
                  <a:srgbClr val="2B303A"/>
                </a:solidFill>
                <a:latin typeface="Arial" panose="020B0604020202020204" pitchFamily="34" charset="0"/>
                <a:ea typeface="Inter" pitchFamily="34" charset="-122"/>
                <a:cs typeface="Arial" panose="020B0604020202020204" pitchFamily="34" charset="0"/>
              </a:rPr>
              <a:t> chỉ </a:t>
            </a:r>
            <a:r>
              <a:rPr lang="en-US" sz="1250" b="1" dirty="0">
                <a:solidFill>
                  <a:srgbClr val="2B303A"/>
                </a:solidFill>
                <a:latin typeface="Arial" panose="020B0604020202020204" pitchFamily="34" charset="0"/>
                <a:ea typeface="Inter" pitchFamily="34" charset="-122"/>
                <a:cs typeface="Arial" panose="020B0604020202020204" pitchFamily="34" charset="0"/>
              </a:rPr>
              <a:t>40.82%</a:t>
            </a:r>
            <a:r>
              <a:rPr lang="en-US" sz="1250" dirty="0">
                <a:solidFill>
                  <a:srgbClr val="2B303A"/>
                </a:solidFill>
                <a:latin typeface="Arial" panose="020B0604020202020204" pitchFamily="34" charset="0"/>
                <a:ea typeface="Inter" pitchFamily="34" charset="-122"/>
                <a:cs typeface="Arial" panose="020B0604020202020204" pitchFamily="34" charset="0"/>
              </a:rPr>
              <a:t>)</a:t>
            </a:r>
            <a:endParaRPr lang="en-US" sz="1250" dirty="0">
              <a:latin typeface="Arial" panose="020B0604020202020204" pitchFamily="34" charset="0"/>
              <a:cs typeface="Arial" panose="020B0604020202020204" pitchFamily="34" charset="0"/>
            </a:endParaRPr>
          </a:p>
        </p:txBody>
      </p:sp>
      <p:sp>
        <p:nvSpPr>
          <p:cNvPr id="11" name="Text 9"/>
          <p:cNvSpPr/>
          <p:nvPr/>
        </p:nvSpPr>
        <p:spPr>
          <a:xfrm>
            <a:off x="1035623" y="4294408"/>
            <a:ext cx="4179675" cy="485775"/>
          </a:xfrm>
          <a:prstGeom prst="rect">
            <a:avLst/>
          </a:prstGeom>
          <a:noFill/>
        </p:spPr>
        <p:txBody>
          <a:bodyPr wrap="square" lIns="0" tIns="0" rIns="0" bIns="0" rtlCol="0" anchor="t">
            <a:normAutofit/>
          </a:bodyPr>
          <a:lstStyle/>
          <a:p>
            <a:pPr marL="0" indent="0" algn="l">
              <a:lnSpc>
                <a:spcPts val="1815"/>
              </a:lnSpc>
              <a:buNone/>
            </a:pPr>
            <a:r>
              <a:rPr lang="en-US" sz="1250" dirty="0">
                <a:solidFill>
                  <a:srgbClr val="2B303A"/>
                </a:solidFill>
                <a:latin typeface="Arial" panose="020B0604020202020204" pitchFamily="34" charset="0"/>
                <a:ea typeface="Inter" pitchFamily="34" charset="-122"/>
                <a:cs typeface="Arial" panose="020B0604020202020204" pitchFamily="34" charset="0"/>
              </a:rPr>
              <a:t>Baseline ViSoBERT + Scenario 1: F1-macro </a:t>
            </a:r>
            <a:r>
              <a:rPr lang="en-US" sz="1250" b="1" dirty="0">
                <a:solidFill>
                  <a:srgbClr val="2B303A"/>
                </a:solidFill>
                <a:latin typeface="Arial" panose="020B0604020202020204" pitchFamily="34" charset="0"/>
                <a:ea typeface="Inter" pitchFamily="34" charset="-122"/>
                <a:cs typeface="Arial" panose="020B0604020202020204" pitchFamily="34" charset="0"/>
              </a:rPr>
              <a:t>61.50%</a:t>
            </a:r>
            <a:r>
              <a:rPr lang="en-US" sz="1250" dirty="0">
                <a:solidFill>
                  <a:srgbClr val="2B303A"/>
                </a:solidFill>
                <a:latin typeface="Arial" panose="020B0604020202020204" pitchFamily="34" charset="0"/>
                <a:ea typeface="Inter" pitchFamily="34" charset="-122"/>
                <a:cs typeface="Arial" panose="020B0604020202020204" pitchFamily="34" charset="0"/>
              </a:rPr>
              <a:t>, F1-weighted 63.26%</a:t>
            </a:r>
            <a:endParaRPr lang="en-US" sz="1250" dirty="0">
              <a:latin typeface="Arial" panose="020B0604020202020204" pitchFamily="34" charset="0"/>
              <a:cs typeface="Arial" panose="020B0604020202020204" pitchFamily="34" charset="0"/>
            </a:endParaRPr>
          </a:p>
        </p:txBody>
      </p:sp>
      <p:sp>
        <p:nvSpPr>
          <p:cNvPr id="12" name="Shape 10"/>
          <p:cNvSpPr/>
          <p:nvPr/>
        </p:nvSpPr>
        <p:spPr>
          <a:xfrm>
            <a:off x="5501640" y="838200"/>
            <a:ext cx="6062345" cy="4264025"/>
          </a:xfrm>
          <a:prstGeom prst="roundRect">
            <a:avLst>
              <a:gd name="adj" fmla="val 3008"/>
            </a:avLst>
          </a:prstGeom>
          <a:solidFill>
            <a:srgbClr val="FFFFFF"/>
          </a:solidFill>
          <a:ln w="6350">
            <a:solidFill>
              <a:srgbClr val="E1DDD2"/>
            </a:solidFill>
            <a:prstDash val="solid"/>
          </a:ln>
        </p:spPr>
        <p:txBody>
          <a:bodyPr/>
          <a:p>
            <a:endParaRPr lang="en-US"/>
          </a:p>
        </p:txBody>
      </p:sp>
      <p:pic>
        <p:nvPicPr>
          <p:cNvPr id="13" name="Image 0" descr="Label Distribution - ViGoEmotions Train Set, horizontal bar chart of 28 emotion labels"/>
          <p:cNvPicPr>
            <a:picLocks noChangeAspect="1"/>
          </p:cNvPicPr>
          <p:nvPr/>
        </p:nvPicPr>
        <p:blipFill>
          <a:blip r:embed="rId1"/>
          <a:srcRect/>
          <a:stretch>
            <a:fillRect/>
          </a:stretch>
        </p:blipFill>
        <p:spPr>
          <a:xfrm>
            <a:off x="5929630" y="1022350"/>
            <a:ext cx="5430520" cy="3736975"/>
          </a:xfrm>
          <a:prstGeom prst="rect">
            <a:avLst/>
          </a:prstGeom>
        </p:spPr>
      </p:pic>
      <p:sp>
        <p:nvSpPr>
          <p:cNvPr id="14" name="Text 11"/>
          <p:cNvSpPr/>
          <p:nvPr/>
        </p:nvSpPr>
        <p:spPr>
          <a:xfrm>
            <a:off x="5725371" y="4856988"/>
            <a:ext cx="5654807" cy="315670"/>
          </a:xfrm>
          <a:prstGeom prst="rect">
            <a:avLst/>
          </a:prstGeom>
          <a:noFill/>
        </p:spPr>
        <p:txBody>
          <a:bodyPr wrap="square" lIns="0" tIns="0" rIns="0" bIns="0" rtlCol="0" anchor="t">
            <a:normAutofit/>
          </a:bodyPr>
          <a:lstStyle/>
          <a:p>
            <a:pPr marL="0" indent="0" algn="l">
              <a:lnSpc>
                <a:spcPts val="1285"/>
              </a:lnSpc>
              <a:buNone/>
            </a:pPr>
            <a:r>
              <a:rPr lang="en-US" sz="920" dirty="0">
                <a:solidFill>
                  <a:srgbClr val="454B54"/>
                </a:solidFill>
                <a:latin typeface="Arial" panose="020B0604020202020204" pitchFamily="34" charset="0"/>
                <a:ea typeface="Inter" pitchFamily="34" charset="-122"/>
                <a:cs typeface="Arial" panose="020B0604020202020204" pitchFamily="34" charset="0"/>
              </a:rPr>
              <a:t>Top 3: amusement (2868), sadness (2785), annoyance (2662) · Thấp nhất: relief (635) · Tỷ lệ 4.52×</a:t>
            </a:r>
            <a:endParaRPr lang="en-US" sz="92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15" name="Shape 12"/>
          <p:cNvSpPr/>
          <p:nvPr/>
        </p:nvSpPr>
        <p:spPr>
          <a:xfrm>
            <a:off x="812712" y="5130050"/>
            <a:ext cx="10566576" cy="711950"/>
          </a:xfrm>
          <a:prstGeom prst="roundRect">
            <a:avLst>
              <a:gd name="adj" fmla="val 7135"/>
            </a:avLst>
          </a:prstGeom>
          <a:solidFill>
            <a:srgbClr val="E3EFEC"/>
          </a:solidFill>
        </p:spPr>
      </p:sp>
      <p:sp>
        <p:nvSpPr>
          <p:cNvPr id="16" name="Shape 13"/>
          <p:cNvSpPr/>
          <p:nvPr/>
        </p:nvSpPr>
        <p:spPr>
          <a:xfrm>
            <a:off x="831762" y="5130050"/>
            <a:ext cx="0" cy="711950"/>
          </a:xfrm>
          <a:prstGeom prst="line">
            <a:avLst/>
          </a:prstGeom>
          <a:noFill/>
          <a:ln w="38100">
            <a:solidFill>
              <a:srgbClr val="0E6F64"/>
            </a:solidFill>
            <a:prstDash val="solid"/>
          </a:ln>
        </p:spPr>
      </p:sp>
      <p:sp>
        <p:nvSpPr>
          <p:cNvPr id="17" name="Text 14"/>
          <p:cNvSpPr/>
          <p:nvPr/>
        </p:nvSpPr>
        <p:spPr>
          <a:xfrm>
            <a:off x="1025701" y="5269728"/>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Mất cân bằng lớp nghiêm trọng: top-3 nhãn chiếm ~26% tổng label instances; nhãn ở đáy ít hơn 3–4×. Đây là lý do cần ASL loss và per-label threshold.</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8" name="Text 15"/>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19" name="Text 16"/>
          <p:cNvSpPr/>
          <p:nvPr/>
        </p:nvSpPr>
        <p:spPr>
          <a:xfrm>
            <a:off x="10887273" y="6238435"/>
            <a:ext cx="542594"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06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CLUSTER 2 · VIETNAMESE MODELS</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0"/>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Choosing the Right Vietnamese Backbone</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9062" y="1680390"/>
            <a:ext cx="3390944" cy="3265598"/>
          </a:xfrm>
          <a:prstGeom prst="roundRect">
            <a:avLst>
              <a:gd name="adj" fmla="val 2917"/>
            </a:avLst>
          </a:prstGeom>
          <a:solidFill>
            <a:srgbClr val="E3EFEC"/>
          </a:solidFill>
          <a:ln w="12700">
            <a:solidFill>
              <a:srgbClr val="0E6F64"/>
            </a:solidFill>
            <a:prstDash val="solid"/>
          </a:ln>
        </p:spPr>
      </p:sp>
      <p:sp>
        <p:nvSpPr>
          <p:cNvPr id="5" name="Text 3"/>
          <p:cNvSpPr/>
          <p:nvPr/>
        </p:nvSpPr>
        <p:spPr>
          <a:xfrm>
            <a:off x="1010267" y="1858807"/>
            <a:ext cx="3098789"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0B5C53"/>
                </a:solidFill>
                <a:latin typeface="Arial" panose="020B0604020202020204" pitchFamily="34" charset="0"/>
                <a:ea typeface="Inter" pitchFamily="34" charset="-122"/>
                <a:cs typeface="Arial" panose="020B0604020202020204" pitchFamily="34" charset="0"/>
              </a:rPr>
              <a:t>ViSoBERT · best fit</a:t>
            </a:r>
            <a:endParaRPr lang="en-US" sz="14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1010267" y="2148306"/>
            <a:ext cx="3098789"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1A2E2A"/>
                </a:solidFill>
                <a:latin typeface="Arial" panose="020B0604020202020204" pitchFamily="34" charset="0"/>
                <a:ea typeface="Inter" pitchFamily="34" charset="-122"/>
                <a:cs typeface="Arial" panose="020B0604020202020204" pitchFamily="34" charset="0"/>
              </a:rPr>
              <a:t>Kiến trúc: XLM-R</a:t>
            </a:r>
            <a:endParaRPr lang="en-US" sz="11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7" name="Text 5"/>
          <p:cNvSpPr/>
          <p:nvPr/>
        </p:nvSpPr>
        <p:spPr>
          <a:xfrm>
            <a:off x="1010267" y="2426010"/>
            <a:ext cx="3098789"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1A2E2A"/>
                </a:solidFill>
                <a:latin typeface="Arial" panose="020B0604020202020204" pitchFamily="34" charset="0"/>
                <a:ea typeface="Inter" pitchFamily="34" charset="-122"/>
                <a:cs typeface="Arial" panose="020B0604020202020204" pitchFamily="34" charset="0"/>
              </a:rPr>
              <a:t>Dữ liệu: 1GB MXH tiếng Việt (FB, TikTok, YT, 2016–2022)</a:t>
            </a:r>
            <a:endParaRPr lang="en-US" sz="11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1010267" y="2905237"/>
            <a:ext cx="3098789"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1A2E2A"/>
                </a:solidFill>
                <a:latin typeface="Arial" panose="020B0604020202020204" pitchFamily="34" charset="0"/>
                <a:ea typeface="Inter" pitchFamily="34" charset="-122"/>
                <a:cs typeface="Arial" panose="020B0604020202020204" pitchFamily="34" charset="0"/>
              </a:rPr>
              <a:t>Giữ emoji khi tokenize</a:t>
            </a:r>
            <a:endParaRPr lang="en-US" sz="11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1010267" y="3182938"/>
            <a:ext cx="3098789"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1A2E2A"/>
                </a:solidFill>
                <a:latin typeface="Arial" panose="020B0604020202020204" pitchFamily="34" charset="0"/>
                <a:ea typeface="Inter" pitchFamily="34" charset="-122"/>
                <a:cs typeface="Arial" panose="020B0604020202020204" pitchFamily="34" charset="0"/>
              </a:rPr>
              <a:t>F1-macro </a:t>
            </a:r>
            <a:r>
              <a:rPr lang="en-US" sz="1150" b="1" dirty="0">
                <a:solidFill>
                  <a:srgbClr val="1A2E2A"/>
                </a:solidFill>
                <a:latin typeface="Arial" panose="020B0604020202020204" pitchFamily="34" charset="0"/>
                <a:ea typeface="Inter" pitchFamily="34" charset="-122"/>
                <a:cs typeface="Arial" panose="020B0604020202020204" pitchFamily="34" charset="0"/>
              </a:rPr>
              <a:t>61.50%</a:t>
            </a:r>
            <a:r>
              <a:rPr lang="en-US" sz="1150" dirty="0">
                <a:solidFill>
                  <a:srgbClr val="1A2E2A"/>
                </a:solidFill>
                <a:latin typeface="Arial" panose="020B0604020202020204" pitchFamily="34" charset="0"/>
                <a:ea typeface="Inter" pitchFamily="34" charset="-122"/>
                <a:cs typeface="Arial" panose="020B0604020202020204" pitchFamily="34" charset="0"/>
              </a:rPr>
              <a:t> trên ViGoEmotions</a:t>
            </a:r>
            <a:endParaRPr lang="en-US" sz="1150" dirty="0">
              <a:latin typeface="Arial" panose="020B0604020202020204" pitchFamily="34" charset="0"/>
              <a:cs typeface="Arial" panose="020B0604020202020204" pitchFamily="34" charset="0"/>
            </a:endParaRPr>
          </a:p>
        </p:txBody>
      </p:sp>
      <p:sp>
        <p:nvSpPr>
          <p:cNvPr id="10" name="Text 8"/>
          <p:cNvSpPr/>
          <p:nvPr/>
        </p:nvSpPr>
        <p:spPr>
          <a:xfrm>
            <a:off x="1010267" y="3460641"/>
            <a:ext cx="3098789"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1A2E2A"/>
                </a:solidFill>
                <a:latin typeface="Arial" panose="020B0604020202020204" pitchFamily="34" charset="0"/>
                <a:ea typeface="Inter" pitchFamily="34" charset="-122"/>
                <a:cs typeface="Arial" panose="020B0604020202020204" pitchFamily="34" charset="0"/>
              </a:rPr>
              <a:t>Backbone chính cho ablation A0–D</a:t>
            </a:r>
            <a:endParaRPr lang="en-US" sz="11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1" name="Text 9"/>
          <p:cNvSpPr/>
          <p:nvPr/>
        </p:nvSpPr>
        <p:spPr>
          <a:xfrm>
            <a:off x="1010267" y="3738342"/>
            <a:ext cx="3098789" cy="226924"/>
          </a:xfrm>
          <a:prstGeom prst="rect">
            <a:avLst/>
          </a:prstGeom>
          <a:noFill/>
        </p:spPr>
        <p:txBody>
          <a:bodyPr wrap="square" lIns="0" tIns="0" rIns="0" bIns="0" rtlCol="0" anchor="t">
            <a:normAutofit/>
          </a:bodyPr>
          <a:lstStyle/>
          <a:p>
            <a:pPr marL="0" indent="0" algn="l">
              <a:lnSpc>
                <a:spcPts val="1585"/>
              </a:lnSpc>
              <a:buNone/>
            </a:pPr>
            <a:r>
              <a:rPr lang="en-US" sz="1150" b="1" dirty="0">
                <a:solidFill>
                  <a:srgbClr val="0B5C53"/>
                </a:solidFill>
                <a:latin typeface="Arial" panose="020B0604020202020204" pitchFamily="34" charset="0"/>
                <a:ea typeface="Inter" pitchFamily="34" charset="-122"/>
                <a:cs typeface="Arial" panose="020B0604020202020204" pitchFamily="34" charset="0"/>
              </a:rPr>
              <a:t>EMNLP 2023</a:t>
            </a:r>
            <a:endParaRPr lang="en-US" sz="115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2" name="Shape 10"/>
          <p:cNvSpPr/>
          <p:nvPr/>
        </p:nvSpPr>
        <p:spPr>
          <a:xfrm>
            <a:off x="4397242" y="1677215"/>
            <a:ext cx="3397404" cy="3271948"/>
          </a:xfrm>
          <a:prstGeom prst="roundRect">
            <a:avLst>
              <a:gd name="adj" fmla="val 3008"/>
            </a:avLst>
          </a:prstGeom>
          <a:solidFill>
            <a:srgbClr val="FFFFFF"/>
          </a:solidFill>
          <a:ln w="6350">
            <a:solidFill>
              <a:srgbClr val="E1DDD2"/>
            </a:solidFill>
            <a:prstDash val="solid"/>
          </a:ln>
        </p:spPr>
      </p:sp>
      <p:sp>
        <p:nvSpPr>
          <p:cNvPr id="13" name="Text 11"/>
          <p:cNvSpPr/>
          <p:nvPr/>
        </p:nvSpPr>
        <p:spPr>
          <a:xfrm>
            <a:off x="4591623" y="1858807"/>
            <a:ext cx="3098902"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61B22"/>
                </a:solidFill>
                <a:latin typeface="Arial" panose="020B0604020202020204" pitchFamily="34" charset="0"/>
                <a:ea typeface="Inter" pitchFamily="34" charset="-122"/>
                <a:cs typeface="Arial" panose="020B0604020202020204" pitchFamily="34" charset="0"/>
              </a:rPr>
              <a:t>PhoBERT · comparison</a:t>
            </a:r>
            <a:endParaRPr lang="en-US" sz="14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14" name="Text 12"/>
          <p:cNvSpPr/>
          <p:nvPr/>
        </p:nvSpPr>
        <p:spPr>
          <a:xfrm>
            <a:off x="4591623" y="2148306"/>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Kiến trúc: RoBERTa</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5" name="Text 13"/>
          <p:cNvSpPr/>
          <p:nvPr/>
        </p:nvSpPr>
        <p:spPr>
          <a:xfrm>
            <a:off x="4591623" y="2426010"/>
            <a:ext cx="3098902"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Dữ liệu: 20GB tiếng Việt trang trọng (báo, sách, Wikipedia)</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6" name="Text 14"/>
          <p:cNvSpPr/>
          <p:nvPr/>
        </p:nvSpPr>
        <p:spPr>
          <a:xfrm>
            <a:off x="4591623" y="2905237"/>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Cần tokenizer VnCoreNLP</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7" name="Text 15"/>
          <p:cNvSpPr/>
          <p:nvPr/>
        </p:nvSpPr>
        <p:spPr>
          <a:xfrm>
            <a:off x="4591623" y="3182938"/>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Domain mismatch: trang trọng vs MXH</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8" name="Text 16"/>
          <p:cNvSpPr/>
          <p:nvPr/>
        </p:nvSpPr>
        <p:spPr>
          <a:xfrm>
            <a:off x="4591623" y="3460641"/>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Backbone so sánh (chỉ config A)</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9" name="Text 17"/>
          <p:cNvSpPr/>
          <p:nvPr/>
        </p:nvSpPr>
        <p:spPr>
          <a:xfrm>
            <a:off x="4591623" y="3738342"/>
            <a:ext cx="3098902" cy="226924"/>
          </a:xfrm>
          <a:prstGeom prst="rect">
            <a:avLst/>
          </a:prstGeom>
          <a:noFill/>
        </p:spPr>
        <p:txBody>
          <a:bodyPr wrap="square" lIns="0" tIns="0" rIns="0" bIns="0" rtlCol="0" anchor="t">
            <a:normAutofit/>
          </a:bodyPr>
          <a:lstStyle/>
          <a:p>
            <a:pPr marL="0" indent="0" algn="l">
              <a:lnSpc>
                <a:spcPts val="1585"/>
              </a:lnSpc>
              <a:buNone/>
            </a:pPr>
            <a:r>
              <a:rPr lang="en-US" sz="1150" b="1" dirty="0">
                <a:solidFill>
                  <a:srgbClr val="454B54"/>
                </a:solidFill>
                <a:latin typeface="Arial" panose="020B0604020202020204" pitchFamily="34" charset="0"/>
                <a:ea typeface="Inter" pitchFamily="34" charset="-122"/>
                <a:cs typeface="Arial" panose="020B0604020202020204" pitchFamily="34" charset="0"/>
              </a:rPr>
              <a:t>EMNLP 2020</a:t>
            </a:r>
            <a:endParaRPr lang="en-US" sz="1150" b="1"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0" name="Shape 18"/>
          <p:cNvSpPr/>
          <p:nvPr/>
        </p:nvSpPr>
        <p:spPr>
          <a:xfrm>
            <a:off x="7978708" y="1677215"/>
            <a:ext cx="3397404" cy="3271948"/>
          </a:xfrm>
          <a:prstGeom prst="roundRect">
            <a:avLst>
              <a:gd name="adj" fmla="val 3008"/>
            </a:avLst>
          </a:prstGeom>
          <a:solidFill>
            <a:srgbClr val="FFFFFF"/>
          </a:solidFill>
          <a:ln w="6350">
            <a:solidFill>
              <a:srgbClr val="E1DDD2"/>
            </a:solidFill>
            <a:prstDash val="solid"/>
          </a:ln>
        </p:spPr>
      </p:sp>
      <p:sp>
        <p:nvSpPr>
          <p:cNvPr id="21" name="Text 19"/>
          <p:cNvSpPr/>
          <p:nvPr/>
        </p:nvSpPr>
        <p:spPr>
          <a:xfrm>
            <a:off x="8173089" y="1858807"/>
            <a:ext cx="3098902"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61B22"/>
                </a:solidFill>
                <a:latin typeface="Arial" panose="020B0604020202020204" pitchFamily="34" charset="0"/>
                <a:ea typeface="Inter" pitchFamily="34" charset="-122"/>
                <a:cs typeface="Arial" panose="020B0604020202020204" pitchFamily="34" charset="0"/>
              </a:rPr>
              <a:t>ViLexNorm · preprocessing</a:t>
            </a:r>
            <a:endParaRPr lang="en-US" sz="14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22" name="Text 20"/>
          <p:cNvSpPr/>
          <p:nvPr/>
        </p:nvSpPr>
        <p:spPr>
          <a:xfrm>
            <a:off x="8173089" y="2148306"/>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12,600 cặp chuẩn hoá (tiếng lóng → chuẩn)</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3" name="Text 21"/>
          <p:cNvSpPr/>
          <p:nvPr/>
        </p:nvSpPr>
        <p:spPr>
          <a:xfrm>
            <a:off x="8173089" y="2426010"/>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VD: ko→không, mk→mình, bik→biết</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4" name="Text 22"/>
          <p:cNvSpPr/>
          <p:nvPr/>
        </p:nvSpPr>
        <p:spPr>
          <a:xfrm>
            <a:off x="8173089" y="2703711"/>
            <a:ext cx="3098902"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Cung cấp công cụ ViSoLex tự động chuẩn hoá</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5" name="Text 23"/>
          <p:cNvSpPr/>
          <p:nvPr/>
        </p:nvSpPr>
        <p:spPr>
          <a:xfrm>
            <a:off x="8173085" y="3002280"/>
            <a:ext cx="3098800" cy="655320"/>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9C4A17"/>
                </a:solidFill>
                <a:latin typeface="Arial" panose="020B0604020202020204" pitchFamily="34" charset="0"/>
                <a:ea typeface="Inter" pitchFamily="34" charset="-122"/>
                <a:cs typeface="Arial" panose="020B0604020202020204" pitchFamily="34" charset="0"/>
              </a:rPr>
              <a:t>Lưu ý: </a:t>
            </a:r>
            <a:r>
              <a:rPr lang="en-US" altLang="en-US" sz="1150" dirty="0">
                <a:solidFill>
                  <a:srgbClr val="9C4A17"/>
                </a:solidFill>
                <a:latin typeface="Arial" panose="020B0604020202020204" pitchFamily="34" charset="0"/>
                <a:ea typeface="Inter" pitchFamily="34" charset="-122"/>
                <a:cs typeface="Arial" panose="020B0604020202020204" pitchFamily="34" charset="0"/>
              </a:rPr>
              <a:t>“Normalization có thể làm thay </a:t>
            </a:r>
            <a:r>
              <a:rPr lang="en-US" altLang="en-US" sz="1150" dirty="0">
                <a:solidFill>
                  <a:srgbClr val="9C4A17"/>
                </a:solidFill>
                <a:latin typeface="Arial" panose="020B0604020202020204" pitchFamily="34" charset="0"/>
                <a:ea typeface="Inter" pitchFamily="34" charset="-122"/>
                <a:cs typeface="Arial" panose="020B0604020202020204" pitchFamily="34" charset="0"/>
              </a:rPr>
              <a:t>đ</a:t>
            </a:r>
            <a:r>
              <a:rPr lang="en-US" altLang="en-US" sz="1150" dirty="0">
                <a:solidFill>
                  <a:srgbClr val="9C4A17"/>
                </a:solidFill>
                <a:latin typeface="Arial" panose="020B0604020202020204" pitchFamily="34" charset="0"/>
                <a:ea typeface="Inter" pitchFamily="34" charset="-122"/>
                <a:cs typeface="Arial" panose="020B0604020202020204" pitchFamily="34" charset="0"/>
              </a:rPr>
              <a:t>ổi tín hiệu social-media và cần </a:t>
            </a:r>
            <a:r>
              <a:rPr lang="en-US" altLang="en-US" sz="1150" dirty="0">
                <a:solidFill>
                  <a:srgbClr val="9C4A17"/>
                </a:solidFill>
                <a:latin typeface="Arial" panose="020B0604020202020204" pitchFamily="34" charset="0"/>
                <a:ea typeface="Inter" pitchFamily="34" charset="-122"/>
                <a:cs typeface="Arial" panose="020B0604020202020204" pitchFamily="34" charset="0"/>
              </a:rPr>
              <a:t>đư</a:t>
            </a:r>
            <a:r>
              <a:rPr lang="en-US" altLang="en-US" sz="1150" dirty="0">
                <a:solidFill>
                  <a:srgbClr val="9C4A17"/>
                </a:solidFill>
                <a:latin typeface="Arial" panose="020B0604020202020204" pitchFamily="34" charset="0"/>
                <a:ea typeface="Inter" pitchFamily="34" charset="-122"/>
                <a:cs typeface="Arial" panose="020B0604020202020204" pitchFamily="34" charset="0"/>
              </a:rPr>
              <a:t>ợc </a:t>
            </a:r>
            <a:r>
              <a:rPr lang="en-US" altLang="en-US" sz="1150" dirty="0">
                <a:solidFill>
                  <a:srgbClr val="9C4A17"/>
                </a:solidFill>
                <a:latin typeface="Arial" panose="020B0604020202020204" pitchFamily="34" charset="0"/>
                <a:ea typeface="Inter" pitchFamily="34" charset="-122"/>
                <a:cs typeface="Arial" panose="020B0604020202020204" pitchFamily="34" charset="0"/>
              </a:rPr>
              <a:t>đ</a:t>
            </a:r>
            <a:r>
              <a:rPr lang="en-US" altLang="en-US" sz="1150" dirty="0">
                <a:solidFill>
                  <a:srgbClr val="9C4A17"/>
                </a:solidFill>
                <a:latin typeface="Arial" panose="020B0604020202020204" pitchFamily="34" charset="0"/>
                <a:ea typeface="Inter" pitchFamily="34" charset="-122"/>
                <a:cs typeface="Arial" panose="020B0604020202020204" pitchFamily="34" charset="0"/>
              </a:rPr>
              <a:t>ánh giá qua preprocessing scenarios.”</a:t>
            </a:r>
            <a:endParaRPr lang="en-US" altLang="en-US" sz="1150" dirty="0">
              <a:solidFill>
                <a:srgbClr val="9C4A17"/>
              </a:solidFill>
              <a:latin typeface="Arial" panose="020B0604020202020204" pitchFamily="34" charset="0"/>
              <a:ea typeface="Inter" pitchFamily="34" charset="-122"/>
              <a:cs typeface="Arial" panose="020B0604020202020204" pitchFamily="34" charset="0"/>
            </a:endParaRPr>
          </a:p>
        </p:txBody>
      </p:sp>
      <p:sp>
        <p:nvSpPr>
          <p:cNvPr id="26" name="Text 24"/>
          <p:cNvSpPr/>
          <p:nvPr/>
        </p:nvSpPr>
        <p:spPr>
          <a:xfrm>
            <a:off x="8173089" y="3662164"/>
            <a:ext cx="3098902"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B2 Scenario 1 chỉ chuẩn hoá tối thiểu</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7" name="Text 25"/>
          <p:cNvSpPr/>
          <p:nvPr/>
        </p:nvSpPr>
        <p:spPr>
          <a:xfrm>
            <a:off x="8173089" y="3939868"/>
            <a:ext cx="3098902" cy="226924"/>
          </a:xfrm>
          <a:prstGeom prst="rect">
            <a:avLst/>
          </a:prstGeom>
          <a:noFill/>
        </p:spPr>
        <p:txBody>
          <a:bodyPr wrap="square" lIns="0" tIns="0" rIns="0" bIns="0" rtlCol="0" anchor="t">
            <a:normAutofit/>
          </a:bodyPr>
          <a:lstStyle/>
          <a:p>
            <a:pPr marL="0" indent="0" algn="l">
              <a:lnSpc>
                <a:spcPts val="1585"/>
              </a:lnSpc>
              <a:buNone/>
            </a:pPr>
            <a:r>
              <a:rPr lang="en-US" sz="1150" b="1" dirty="0">
                <a:solidFill>
                  <a:srgbClr val="454B54"/>
                </a:solidFill>
                <a:latin typeface="Arial" panose="020B0604020202020204" pitchFamily="34" charset="0"/>
                <a:ea typeface="Inter" pitchFamily="34" charset="-122"/>
                <a:cs typeface="Arial" panose="020B0604020202020204" pitchFamily="34" charset="0"/>
              </a:rPr>
              <a:t>EACL 2024</a:t>
            </a:r>
            <a:endParaRPr lang="en-US" sz="1150" b="1"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8" name="Shape 26"/>
          <p:cNvSpPr/>
          <p:nvPr/>
        </p:nvSpPr>
        <p:spPr>
          <a:xfrm>
            <a:off x="812712" y="5130050"/>
            <a:ext cx="10566576" cy="711950"/>
          </a:xfrm>
          <a:prstGeom prst="roundRect">
            <a:avLst>
              <a:gd name="adj" fmla="val 7135"/>
            </a:avLst>
          </a:prstGeom>
          <a:solidFill>
            <a:srgbClr val="E3EFEC"/>
          </a:solidFill>
        </p:spPr>
      </p:sp>
      <p:sp>
        <p:nvSpPr>
          <p:cNvPr id="29" name="Shape 27"/>
          <p:cNvSpPr/>
          <p:nvPr/>
        </p:nvSpPr>
        <p:spPr>
          <a:xfrm>
            <a:off x="831762" y="5130050"/>
            <a:ext cx="0" cy="711950"/>
          </a:xfrm>
          <a:prstGeom prst="line">
            <a:avLst/>
          </a:prstGeom>
          <a:noFill/>
          <a:ln w="38100">
            <a:solidFill>
              <a:srgbClr val="0E6F64"/>
            </a:solidFill>
            <a:prstDash val="solid"/>
          </a:ln>
        </p:spPr>
      </p:sp>
      <p:sp>
        <p:nvSpPr>
          <p:cNvPr id="30" name="Text 28"/>
          <p:cNvSpPr/>
          <p:nvPr/>
        </p:nvSpPr>
        <p:spPr>
          <a:xfrm>
            <a:off x="1025701" y="5269728"/>
            <a:ext cx="10481150" cy="457994"/>
          </a:xfrm>
          <a:prstGeom prst="rect">
            <a:avLst/>
          </a:prstGeom>
          <a:noFill/>
        </p:spPr>
        <p:txBody>
          <a:bodyPr wrap="square" lIns="0" tIns="0" rIns="0" bIns="0" rtlCol="0" anchor="t">
            <a:normAutofit/>
          </a:bodyPr>
          <a:lstStyle/>
          <a:p>
            <a:pPr marL="0" indent="0" algn="l">
              <a:lnSpc>
                <a:spcPts val="1705"/>
              </a:lnSpc>
              <a:buNone/>
            </a:pPr>
            <a:r>
              <a:rPr lang="en-US" altLang="en-US" sz="1200" dirty="0">
                <a:solidFill>
                  <a:srgbClr val="1A2E2A"/>
                </a:solidFill>
                <a:latin typeface="Arial" panose="020B0604020202020204" pitchFamily="34" charset="0"/>
                <a:ea typeface="Inter" pitchFamily="34" charset="-122"/>
                <a:cs typeface="Arial" panose="020B0604020202020204" pitchFamily="34" charset="0"/>
              </a:rPr>
              <a:t>“Domain match là một giả thuyết hợp l</a:t>
            </a:r>
            <a:r>
              <a:rPr lang="en-US" altLang="en-US" sz="1200" dirty="0">
                <a:solidFill>
                  <a:srgbClr val="1A2E2A"/>
                </a:solidFill>
                <a:latin typeface="Arial" panose="020B0604020202020204" pitchFamily="34" charset="0"/>
                <a:ea typeface="Inter" pitchFamily="34" charset="-122"/>
                <a:cs typeface="Arial" panose="020B0604020202020204" pitchFamily="34" charset="0"/>
              </a:rPr>
              <a:t>ý đ</a:t>
            </a:r>
            <a:r>
              <a:rPr lang="en-US" altLang="en-US" sz="1200" dirty="0">
                <a:solidFill>
                  <a:srgbClr val="1A2E2A"/>
                </a:solidFill>
                <a:latin typeface="Arial" panose="020B0604020202020204" pitchFamily="34" charset="0"/>
                <a:ea typeface="Inter" pitchFamily="34" charset="-122"/>
                <a:cs typeface="Arial" panose="020B0604020202020204" pitchFamily="34" charset="0"/>
              </a:rPr>
              <a:t>ể giải thích kết quả tốt của ViSoBERT trên social-media text.”</a:t>
            </a:r>
            <a:endParaRPr lang="en-US" alt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31" name="Text 29"/>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32" name="Text 30"/>
          <p:cNvSpPr/>
          <p:nvPr/>
        </p:nvSpPr>
        <p:spPr>
          <a:xfrm>
            <a:off x="10898518" y="6238435"/>
            <a:ext cx="531349"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07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CLUSTER 3 · IMBALANCE-AWARE TRAINING</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0"/>
            <a:ext cx="10883573" cy="390525"/>
          </a:xfrm>
          <a:prstGeom prst="rect">
            <a:avLst/>
          </a:prstGeom>
          <a:noFill/>
        </p:spPr>
        <p:txBody>
          <a:bodyPr wrap="square" lIns="0" tIns="0" rIns="0" bIns="0" rtlCol="0" anchor="t">
            <a:normAutofit/>
          </a:bodyPr>
          <a:lstStyle/>
          <a:p>
            <a:pPr marL="0" indent="0" algn="l">
              <a:lnSpc>
                <a:spcPts val="2875"/>
              </a:lnSpc>
              <a:buNone/>
            </a:pPr>
            <a:r>
              <a:rPr lang="en-US" sz="2500" b="1" dirty="0">
                <a:solidFill>
                  <a:srgbClr val="161B22"/>
                </a:solidFill>
                <a:latin typeface="Arial" panose="020B0604020202020204" pitchFamily="34" charset="0"/>
                <a:ea typeface="Source Serif 4" pitchFamily="34" charset="-122"/>
                <a:cs typeface="Arial" panose="020B0604020202020204" pitchFamily="34" charset="0"/>
              </a:rPr>
              <a:t>Does ASL Loss Beat BCE on Fine-Grained Labels?</a:t>
            </a:r>
            <a:endParaRPr lang="en-US" sz="25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48110"/>
            <a:ext cx="4990526" cy="688181"/>
          </a:xfrm>
          <a:prstGeom prst="roundRect">
            <a:avLst>
              <a:gd name="adj" fmla="val 12457"/>
            </a:avLst>
          </a:prstGeom>
          <a:solidFill>
            <a:srgbClr val="FFFFFF"/>
          </a:solidFill>
          <a:ln w="6350">
            <a:solidFill>
              <a:srgbClr val="E1DDD2"/>
            </a:solidFill>
            <a:prstDash val="solid"/>
          </a:ln>
        </p:spPr>
      </p:sp>
      <p:sp>
        <p:nvSpPr>
          <p:cNvPr id="5" name="Text 3"/>
          <p:cNvSpPr/>
          <p:nvPr/>
        </p:nvSpPr>
        <p:spPr>
          <a:xfrm>
            <a:off x="984801" y="1778992"/>
            <a:ext cx="479227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Question:</a:t>
            </a:r>
            <a:r>
              <a:rPr lang="en-US" sz="1200" dirty="0">
                <a:solidFill>
                  <a:srgbClr val="2B303A"/>
                </a:solidFill>
                <a:latin typeface="Arial" panose="020B0604020202020204" pitchFamily="34" charset="0"/>
                <a:ea typeface="Inter" pitchFamily="34" charset="-122"/>
                <a:cs typeface="Arial" panose="020B0604020202020204" pitchFamily="34" charset="0"/>
              </a:rPr>
              <a:t> Does replacing BCE with Asymmetric Loss (ASL) consistently improve F1-macro?</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815887" y="2444176"/>
            <a:ext cx="4990526" cy="688181"/>
          </a:xfrm>
          <a:prstGeom prst="roundRect">
            <a:avLst>
              <a:gd name="adj" fmla="val 12457"/>
            </a:avLst>
          </a:prstGeom>
          <a:solidFill>
            <a:srgbClr val="FFFFFF"/>
          </a:solidFill>
          <a:ln w="6350">
            <a:solidFill>
              <a:srgbClr val="E1DDD2"/>
            </a:solidFill>
            <a:prstDash val="solid"/>
          </a:ln>
        </p:spPr>
      </p:sp>
      <p:sp>
        <p:nvSpPr>
          <p:cNvPr id="7" name="Text 5"/>
          <p:cNvSpPr/>
          <p:nvPr/>
        </p:nvSpPr>
        <p:spPr>
          <a:xfrm>
            <a:off x="984801" y="2575058"/>
            <a:ext cx="479227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Finding:</a:t>
            </a:r>
            <a:r>
              <a:rPr lang="en-US" sz="1200" dirty="0">
                <a:solidFill>
                  <a:srgbClr val="2B303A"/>
                </a:solidFill>
                <a:latin typeface="Arial" panose="020B0604020202020204" pitchFamily="34" charset="0"/>
                <a:ea typeface="Inter" pitchFamily="34" charset="-122"/>
                <a:cs typeface="Arial" panose="020B0604020202020204" pitchFamily="34" charset="0"/>
              </a:rPr>
              <a:t> BERT+ASL [2025] trên GoEmotions: F1-macro 0.46→0.54 (+0.08) chỉ bằng đổi loss.</a:t>
            </a:r>
            <a:endParaRPr lang="en-US" sz="1200" dirty="0">
              <a:latin typeface="Arial" panose="020B0604020202020204" pitchFamily="34" charset="0"/>
              <a:cs typeface="Arial" panose="020B0604020202020204" pitchFamily="34" charset="0"/>
            </a:endParaRPr>
          </a:p>
        </p:txBody>
      </p:sp>
      <p:sp>
        <p:nvSpPr>
          <p:cNvPr id="8" name="Shape 6"/>
          <p:cNvSpPr/>
          <p:nvPr/>
        </p:nvSpPr>
        <p:spPr>
          <a:xfrm>
            <a:off x="815887" y="3240243"/>
            <a:ext cx="4990526" cy="688181"/>
          </a:xfrm>
          <a:prstGeom prst="roundRect">
            <a:avLst>
              <a:gd name="adj" fmla="val 12457"/>
            </a:avLst>
          </a:prstGeom>
          <a:solidFill>
            <a:srgbClr val="FFFFFF"/>
          </a:solidFill>
          <a:ln w="6350">
            <a:solidFill>
              <a:srgbClr val="E1DDD2"/>
            </a:solidFill>
            <a:prstDash val="solid"/>
          </a:ln>
        </p:spPr>
      </p:sp>
      <p:sp>
        <p:nvSpPr>
          <p:cNvPr id="9" name="Text 7"/>
          <p:cNvSpPr/>
          <p:nvPr/>
        </p:nvSpPr>
        <p:spPr>
          <a:xfrm>
            <a:off x="984801" y="3371121"/>
            <a:ext cx="479227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Limitation:</a:t>
            </a:r>
            <a:r>
              <a:rPr lang="en-US" sz="1200" dirty="0">
                <a:solidFill>
                  <a:srgbClr val="2B303A"/>
                </a:solidFill>
                <a:latin typeface="Arial" panose="020B0604020202020204" pitchFamily="34" charset="0"/>
                <a:ea typeface="Inter" pitchFamily="34" charset="-122"/>
                <a:cs typeface="Arial" panose="020B0604020202020204" pitchFamily="34" charset="0"/>
              </a:rPr>
              <a:t> Kết quả từ GoEmotions (tiếng Anh). Chưa test trên ViGoEmotions.</a:t>
            </a:r>
            <a:endParaRPr lang="en-US" sz="1200" dirty="0">
              <a:latin typeface="Arial" panose="020B0604020202020204" pitchFamily="34" charset="0"/>
              <a:cs typeface="Arial" panose="020B0604020202020204" pitchFamily="34" charset="0"/>
            </a:endParaRPr>
          </a:p>
        </p:txBody>
      </p:sp>
      <p:sp>
        <p:nvSpPr>
          <p:cNvPr id="10" name="Shape 8"/>
          <p:cNvSpPr/>
          <p:nvPr/>
        </p:nvSpPr>
        <p:spPr>
          <a:xfrm>
            <a:off x="815887" y="4036309"/>
            <a:ext cx="4990526" cy="688181"/>
          </a:xfrm>
          <a:prstGeom prst="roundRect">
            <a:avLst>
              <a:gd name="adj" fmla="val 12457"/>
            </a:avLst>
          </a:prstGeom>
          <a:solidFill>
            <a:srgbClr val="FFFFFF"/>
          </a:solidFill>
          <a:ln w="6350">
            <a:solidFill>
              <a:srgbClr val="E1DDD2"/>
            </a:solidFill>
            <a:prstDash val="solid"/>
          </a:ln>
        </p:spPr>
      </p:sp>
      <p:sp>
        <p:nvSpPr>
          <p:cNvPr id="11" name="Text 9"/>
          <p:cNvSpPr/>
          <p:nvPr/>
        </p:nvSpPr>
        <p:spPr>
          <a:xfrm>
            <a:off x="984801" y="4167184"/>
            <a:ext cx="479227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Implication:</a:t>
            </a:r>
            <a:r>
              <a:rPr lang="en-US" sz="1200" dirty="0">
                <a:solidFill>
                  <a:srgbClr val="2B303A"/>
                </a:solidFill>
                <a:latin typeface="Arial" panose="020B0604020202020204" pitchFamily="34" charset="0"/>
                <a:ea typeface="Inter" pitchFamily="34" charset="-122"/>
                <a:cs typeface="Arial" panose="020B0604020202020204" pitchFamily="34" charset="0"/>
              </a:rPr>
              <a:t> ASL là can thiệp training ít tốn công. Bắt đầu với default.</a:t>
            </a:r>
            <a:endParaRPr lang="en-US" sz="1200" dirty="0">
              <a:latin typeface="Arial" panose="020B0604020202020204" pitchFamily="34" charset="0"/>
              <a:cs typeface="Arial" panose="020B0604020202020204" pitchFamily="34" charset="0"/>
            </a:endParaRPr>
          </a:p>
        </p:txBody>
      </p:sp>
      <p:sp>
        <p:nvSpPr>
          <p:cNvPr id="12" name="Shape 10"/>
          <p:cNvSpPr/>
          <p:nvPr/>
        </p:nvSpPr>
        <p:spPr>
          <a:xfrm>
            <a:off x="6015941" y="1648110"/>
            <a:ext cx="5360171" cy="3301052"/>
          </a:xfrm>
          <a:prstGeom prst="roundRect">
            <a:avLst>
              <a:gd name="adj" fmla="val 2597"/>
            </a:avLst>
          </a:prstGeom>
          <a:solidFill>
            <a:srgbClr val="FFFFFF"/>
          </a:solidFill>
          <a:ln w="6350">
            <a:solidFill>
              <a:srgbClr val="E1DDD2"/>
            </a:solidFill>
            <a:prstDash val="solid"/>
          </a:ln>
        </p:spPr>
      </p:sp>
      <p:sp>
        <p:nvSpPr>
          <p:cNvPr id="13" name="Text 11"/>
          <p:cNvSpPr/>
          <p:nvPr/>
        </p:nvSpPr>
        <p:spPr>
          <a:xfrm>
            <a:off x="6197533" y="1804349"/>
            <a:ext cx="5146896"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161B22"/>
                </a:solidFill>
                <a:latin typeface="Arial" panose="020B0604020202020204" pitchFamily="34" charset="0"/>
                <a:ea typeface="Inter" pitchFamily="34" charset="-122"/>
                <a:cs typeface="Arial" panose="020B0604020202020204" pitchFamily="34" charset="0"/>
              </a:rPr>
              <a:t>How ASL Works</a:t>
            </a:r>
            <a:endParaRPr lang="en-US" sz="13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14" name="Text 12"/>
          <p:cNvSpPr/>
          <p:nvPr/>
        </p:nvSpPr>
        <p:spPr>
          <a:xfrm>
            <a:off x="6197533" y="2053168"/>
            <a:ext cx="5146896" cy="209726"/>
          </a:xfrm>
          <a:prstGeom prst="rect">
            <a:avLst/>
          </a:prstGeom>
          <a:noFill/>
        </p:spPr>
        <p:txBody>
          <a:bodyPr wrap="square" lIns="0" tIns="0" rIns="0" bIns="0" rtlCol="0" anchor="t">
            <a:normAutofit/>
          </a:bodyPr>
          <a:lstStyle/>
          <a:p>
            <a:pPr marL="0" indent="0" algn="l">
              <a:lnSpc>
                <a:spcPts val="1450"/>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Trong multi-label: hầu hết nhãn là negative</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pic>
        <p:nvPicPr>
          <p:cNvPr id="15" name="Image 0" descr="arrow-down"/>
          <p:cNvPicPr>
            <a:picLocks noChangeAspect="1"/>
          </p:cNvPicPr>
          <p:nvPr/>
        </p:nvPicPr>
        <p:blipFill>
          <a:blip r:embed="rId1"/>
          <a:srcRect l="-14" r="-14"/>
          <a:stretch>
            <a:fillRect/>
          </a:stretch>
        </p:blipFill>
        <p:spPr>
          <a:xfrm>
            <a:off x="6197533" y="2288205"/>
            <a:ext cx="127000" cy="152356"/>
          </a:xfrm>
          <a:prstGeom prst="rect">
            <a:avLst/>
          </a:prstGeom>
        </p:spPr>
      </p:pic>
      <p:sp>
        <p:nvSpPr>
          <p:cNvPr id="16" name="Text 13"/>
          <p:cNvSpPr/>
          <p:nvPr/>
        </p:nvSpPr>
        <p:spPr>
          <a:xfrm>
            <a:off x="6197533" y="2491271"/>
            <a:ext cx="5146896" cy="209726"/>
          </a:xfrm>
          <a:prstGeom prst="rect">
            <a:avLst/>
          </a:prstGeom>
          <a:noFill/>
        </p:spPr>
        <p:txBody>
          <a:bodyPr wrap="square" lIns="0" tIns="0" rIns="0" bIns="0" rtlCol="0" anchor="t">
            <a:normAutofit/>
          </a:bodyPr>
          <a:lstStyle/>
          <a:p>
            <a:pPr marL="0" indent="0" algn="l">
              <a:lnSpc>
                <a:spcPts val="1450"/>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BCE: mỗi negative nhận trọng số gradient như nhau</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pic>
        <p:nvPicPr>
          <p:cNvPr id="17" name="Image 1" descr="arrow-down"/>
          <p:cNvPicPr>
            <a:picLocks noChangeAspect="1"/>
          </p:cNvPicPr>
          <p:nvPr/>
        </p:nvPicPr>
        <p:blipFill>
          <a:blip r:embed="rId1"/>
          <a:srcRect l="-14" r="-14"/>
          <a:stretch>
            <a:fillRect/>
          </a:stretch>
        </p:blipFill>
        <p:spPr>
          <a:xfrm>
            <a:off x="6197533" y="2726311"/>
            <a:ext cx="127000" cy="152356"/>
          </a:xfrm>
          <a:prstGeom prst="rect">
            <a:avLst/>
          </a:prstGeom>
        </p:spPr>
      </p:pic>
      <p:sp>
        <p:nvSpPr>
          <p:cNvPr id="18" name="Text 14"/>
          <p:cNvSpPr/>
          <p:nvPr/>
        </p:nvSpPr>
        <p:spPr>
          <a:xfrm>
            <a:off x="6197533" y="2929378"/>
            <a:ext cx="5146896" cy="209726"/>
          </a:xfrm>
          <a:prstGeom prst="rect">
            <a:avLst/>
          </a:prstGeom>
          <a:noFill/>
        </p:spPr>
        <p:txBody>
          <a:bodyPr wrap="square" lIns="0" tIns="0" rIns="0" bIns="0" rtlCol="0" anchor="t">
            <a:normAutofit/>
          </a:bodyPr>
          <a:lstStyle/>
          <a:p>
            <a:pPr marL="0" indent="0" algn="l">
              <a:lnSpc>
                <a:spcPts val="1450"/>
              </a:lnSpc>
              <a:buNone/>
            </a:pPr>
            <a:r>
              <a:rPr lang="en-US" sz="1100" dirty="0">
                <a:solidFill>
                  <a:srgbClr val="9C4A17"/>
                </a:solidFill>
                <a:latin typeface="Arial" panose="020B0604020202020204" pitchFamily="34" charset="0"/>
                <a:ea typeface="Inter" pitchFamily="34" charset="-122"/>
                <a:cs typeface="Arial" panose="020B0604020202020204" pitchFamily="34" charset="0"/>
              </a:rPr>
              <a:t>→ Easy negatives lấn át, che khuất hard positives</a:t>
            </a:r>
            <a:endParaRPr lang="en-US" sz="1100" dirty="0">
              <a:solidFill>
                <a:srgbClr val="9C4A17"/>
              </a:solidFill>
              <a:latin typeface="Arial" panose="020B0604020202020204" pitchFamily="34" charset="0"/>
              <a:ea typeface="Inter" pitchFamily="34" charset="-122"/>
              <a:cs typeface="Arial" panose="020B0604020202020204" pitchFamily="34" charset="0"/>
            </a:endParaRPr>
          </a:p>
        </p:txBody>
      </p:sp>
      <p:pic>
        <p:nvPicPr>
          <p:cNvPr id="19" name="Image 2" descr="arrow-down"/>
          <p:cNvPicPr>
            <a:picLocks noChangeAspect="1"/>
          </p:cNvPicPr>
          <p:nvPr/>
        </p:nvPicPr>
        <p:blipFill>
          <a:blip r:embed="rId1"/>
          <a:srcRect l="-14" r="-14"/>
          <a:stretch>
            <a:fillRect/>
          </a:stretch>
        </p:blipFill>
        <p:spPr>
          <a:xfrm>
            <a:off x="6197533" y="3164418"/>
            <a:ext cx="127000" cy="152356"/>
          </a:xfrm>
          <a:prstGeom prst="rect">
            <a:avLst/>
          </a:prstGeom>
        </p:spPr>
      </p:pic>
      <p:sp>
        <p:nvSpPr>
          <p:cNvPr id="20" name="Text 15"/>
          <p:cNvSpPr/>
          <p:nvPr/>
        </p:nvSpPr>
        <p:spPr>
          <a:xfrm>
            <a:off x="6197533" y="3367484"/>
            <a:ext cx="5146896" cy="209726"/>
          </a:xfrm>
          <a:prstGeom prst="rect">
            <a:avLst/>
          </a:prstGeom>
          <a:noFill/>
        </p:spPr>
        <p:txBody>
          <a:bodyPr wrap="square" lIns="0" tIns="0" rIns="0" bIns="0" rtlCol="0" anchor="t">
            <a:normAutofit/>
          </a:bodyPr>
          <a:lstStyle/>
          <a:p>
            <a:pPr marL="0" indent="0" algn="l">
              <a:lnSpc>
                <a:spcPts val="1450"/>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ASL: gamma- giảm trọng số easy negatives (gamma-=4)</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1" name="Text 16"/>
          <p:cNvSpPr/>
          <p:nvPr/>
        </p:nvSpPr>
        <p:spPr>
          <a:xfrm>
            <a:off x="6197533" y="3602521"/>
            <a:ext cx="5146896" cy="209726"/>
          </a:xfrm>
          <a:prstGeom prst="rect">
            <a:avLst/>
          </a:prstGeom>
          <a:noFill/>
        </p:spPr>
        <p:txBody>
          <a:bodyPr wrap="square" lIns="0" tIns="0" rIns="0" bIns="0" rtlCol="0" anchor="t">
            <a:normAutofit/>
          </a:bodyPr>
          <a:lstStyle/>
          <a:p>
            <a:pPr marL="0" indent="0" algn="l">
              <a:lnSpc>
                <a:spcPts val="1450"/>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ASL: gamma+=0, giữ nguyên gradient positive</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pic>
        <p:nvPicPr>
          <p:cNvPr id="22" name="Image 3" descr="arrow-down"/>
          <p:cNvPicPr>
            <a:picLocks noChangeAspect="1"/>
          </p:cNvPicPr>
          <p:nvPr/>
        </p:nvPicPr>
        <p:blipFill>
          <a:blip r:embed="rId1"/>
          <a:srcRect l="-14" r="-14"/>
          <a:stretch>
            <a:fillRect/>
          </a:stretch>
        </p:blipFill>
        <p:spPr>
          <a:xfrm>
            <a:off x="6197533" y="3837561"/>
            <a:ext cx="127000" cy="152356"/>
          </a:xfrm>
          <a:prstGeom prst="rect">
            <a:avLst/>
          </a:prstGeom>
        </p:spPr>
      </p:pic>
      <p:sp>
        <p:nvSpPr>
          <p:cNvPr id="23" name="Text 17"/>
          <p:cNvSpPr/>
          <p:nvPr/>
        </p:nvSpPr>
        <p:spPr>
          <a:xfrm>
            <a:off x="6197533" y="4040631"/>
            <a:ext cx="5146896" cy="209726"/>
          </a:xfrm>
          <a:prstGeom prst="rect">
            <a:avLst/>
          </a:prstGeom>
          <a:noFill/>
        </p:spPr>
        <p:txBody>
          <a:bodyPr wrap="square" lIns="0" tIns="0" rIns="0" bIns="0" rtlCol="0" anchor="t">
            <a:normAutofit/>
          </a:bodyPr>
          <a:lstStyle/>
          <a:p>
            <a:pPr marL="0" indent="0" algn="l">
              <a:lnSpc>
                <a:spcPts val="1450"/>
              </a:lnSpc>
              <a:buNone/>
            </a:pPr>
            <a:r>
              <a:rPr lang="en-US" sz="1100" b="1" dirty="0">
                <a:solidFill>
                  <a:srgbClr val="0B5C53"/>
                </a:solidFill>
                <a:latin typeface="Arial" panose="020B0604020202020204" pitchFamily="34" charset="0"/>
                <a:ea typeface="Inter" pitchFamily="34" charset="-122"/>
                <a:cs typeface="Arial" panose="020B0604020202020204" pitchFamily="34" charset="0"/>
              </a:rPr>
              <a:t>Kết quả: model tập trung vào true positives + hard negatives</a:t>
            </a:r>
            <a:endParaRPr lang="en-US" sz="11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4" name="Shape 18"/>
          <p:cNvSpPr/>
          <p:nvPr/>
        </p:nvSpPr>
        <p:spPr>
          <a:xfrm>
            <a:off x="6197533" y="4275668"/>
            <a:ext cx="4996987" cy="359282"/>
          </a:xfrm>
          <a:prstGeom prst="roundRect">
            <a:avLst>
              <a:gd name="adj" fmla="val 17674"/>
            </a:avLst>
          </a:prstGeom>
          <a:solidFill>
            <a:srgbClr val="E3EFEC"/>
          </a:solidFill>
        </p:spPr>
      </p:sp>
      <p:sp>
        <p:nvSpPr>
          <p:cNvPr id="25" name="Text 19"/>
          <p:cNvSpPr/>
          <p:nvPr/>
        </p:nvSpPr>
        <p:spPr>
          <a:xfrm>
            <a:off x="6311745" y="4364524"/>
            <a:ext cx="4911620" cy="206970"/>
          </a:xfrm>
          <a:prstGeom prst="rect">
            <a:avLst/>
          </a:prstGeom>
          <a:noFill/>
        </p:spPr>
        <p:txBody>
          <a:bodyPr wrap="square" lIns="0" tIns="0" rIns="0" bIns="0" rtlCol="0" anchor="t">
            <a:normAutofit/>
          </a:bodyPr>
          <a:lstStyle/>
          <a:p>
            <a:pPr marL="0" indent="0" algn="l">
              <a:lnSpc>
                <a:spcPts val="1430"/>
              </a:lnSpc>
              <a:buNone/>
            </a:pPr>
            <a:r>
              <a:rPr lang="en-US" sz="1100" dirty="0">
                <a:solidFill>
                  <a:srgbClr val="1A2E2A"/>
                </a:solidFill>
                <a:latin typeface="Arial" panose="020B0604020202020204" pitchFamily="34" charset="0"/>
                <a:ea typeface="Inter" pitchFamily="34" charset="-122"/>
                <a:cs typeface="Arial" panose="020B0604020202020204" pitchFamily="34" charset="0"/>
              </a:rPr>
              <a:t>Config C = chỉ ASL · Config D = ASL + per-label threshold</a:t>
            </a:r>
            <a:endParaRPr lang="en-US" sz="11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6" name="Shape 20"/>
          <p:cNvSpPr/>
          <p:nvPr/>
        </p:nvSpPr>
        <p:spPr>
          <a:xfrm>
            <a:off x="812712" y="5130053"/>
            <a:ext cx="10566576" cy="711950"/>
          </a:xfrm>
          <a:prstGeom prst="roundRect">
            <a:avLst>
              <a:gd name="adj" fmla="val 7135"/>
            </a:avLst>
          </a:prstGeom>
          <a:solidFill>
            <a:srgbClr val="E3EFEC"/>
          </a:solidFill>
        </p:spPr>
      </p:sp>
      <p:sp>
        <p:nvSpPr>
          <p:cNvPr id="27" name="Shape 21"/>
          <p:cNvSpPr/>
          <p:nvPr/>
        </p:nvSpPr>
        <p:spPr>
          <a:xfrm>
            <a:off x="831762" y="5130053"/>
            <a:ext cx="0" cy="711950"/>
          </a:xfrm>
          <a:prstGeom prst="line">
            <a:avLst/>
          </a:prstGeom>
          <a:noFill/>
          <a:ln w="38100">
            <a:solidFill>
              <a:srgbClr val="0E6F64"/>
            </a:solidFill>
            <a:prstDash val="solid"/>
          </a:ln>
        </p:spPr>
      </p:sp>
      <p:sp>
        <p:nvSpPr>
          <p:cNvPr id="28" name="Text 22"/>
          <p:cNvSpPr/>
          <p:nvPr/>
        </p:nvSpPr>
        <p:spPr>
          <a:xfrm>
            <a:off x="1025701" y="5269728"/>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ASL giải quyết vấn đề cấu trúc của BCE trong multi-label: Config C tách riêng hiệu ứng ASL; Config A0 tách riêng hiệu ứng pos_weight.</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9" name="Text 23"/>
          <p:cNvSpPr/>
          <p:nvPr/>
        </p:nvSpPr>
        <p:spPr>
          <a:xfrm>
            <a:off x="812712" y="6238432"/>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30" name="Text 24"/>
          <p:cNvSpPr/>
          <p:nvPr/>
        </p:nvSpPr>
        <p:spPr>
          <a:xfrm>
            <a:off x="10887494" y="6238432"/>
            <a:ext cx="542374"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08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CLUSTER 4 · THRESHOLDING AND APPLIED EVALUATION</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3"/>
            <a:ext cx="10883573" cy="390525"/>
          </a:xfrm>
          <a:prstGeom prst="rect">
            <a:avLst/>
          </a:prstGeom>
          <a:noFill/>
        </p:spPr>
        <p:txBody>
          <a:bodyPr wrap="square" lIns="0" tIns="0" rIns="0" bIns="0" rtlCol="0" anchor="t">
            <a:normAutofit/>
          </a:bodyPr>
          <a:lstStyle/>
          <a:p>
            <a:pPr marL="0" indent="0" algn="l">
              <a:lnSpc>
                <a:spcPts val="2875"/>
              </a:lnSpc>
              <a:buNone/>
            </a:pPr>
            <a:r>
              <a:rPr lang="en-US" sz="2500" b="1" dirty="0">
                <a:solidFill>
                  <a:srgbClr val="161B22"/>
                </a:solidFill>
                <a:latin typeface="Arial" panose="020B0604020202020204" pitchFamily="34" charset="0"/>
                <a:ea typeface="Source Serif 4" pitchFamily="34" charset="-122"/>
                <a:cs typeface="Arial" panose="020B0604020202020204" pitchFamily="34" charset="0"/>
              </a:rPr>
              <a:t>Per-Label Threshold vs. Global 0.5</a:t>
            </a:r>
            <a:endParaRPr lang="en-US" sz="25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48116"/>
            <a:ext cx="5175294" cy="688181"/>
          </a:xfrm>
          <a:prstGeom prst="roundRect">
            <a:avLst>
              <a:gd name="adj" fmla="val 12457"/>
            </a:avLst>
          </a:prstGeom>
          <a:solidFill>
            <a:srgbClr val="FFFFFF"/>
          </a:solidFill>
          <a:ln w="6350">
            <a:solidFill>
              <a:srgbClr val="E1DDD2"/>
            </a:solidFill>
            <a:prstDash val="solid"/>
          </a:ln>
        </p:spPr>
      </p:sp>
      <p:sp>
        <p:nvSpPr>
          <p:cNvPr id="5" name="Text 3"/>
          <p:cNvSpPr/>
          <p:nvPr/>
        </p:nvSpPr>
        <p:spPr>
          <a:xfrm>
            <a:off x="984801" y="1778992"/>
            <a:ext cx="498258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Question:</a:t>
            </a:r>
            <a:r>
              <a:rPr lang="en-US" sz="1200" dirty="0">
                <a:solidFill>
                  <a:srgbClr val="2B303A"/>
                </a:solidFill>
                <a:latin typeface="Arial" panose="020B0604020202020204" pitchFamily="34" charset="0"/>
                <a:ea typeface="Inter" pitchFamily="34" charset="-122"/>
                <a:cs typeface="Arial" panose="020B0604020202020204" pitchFamily="34" charset="0"/>
              </a:rPr>
              <a:t> Does per-label threshold tuning improve F1-macro vs. a global threshold of 0.5?</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831850" y="2338070"/>
            <a:ext cx="5168265" cy="819150"/>
          </a:xfrm>
          <a:prstGeom prst="roundRect">
            <a:avLst>
              <a:gd name="adj" fmla="val 12457"/>
            </a:avLst>
          </a:prstGeom>
          <a:solidFill>
            <a:srgbClr val="FFFFFF"/>
          </a:solidFill>
          <a:ln w="6350">
            <a:solidFill>
              <a:srgbClr val="E1DDD2"/>
            </a:solidFill>
            <a:prstDash val="solid"/>
          </a:ln>
        </p:spPr>
      </p:sp>
      <p:sp>
        <p:nvSpPr>
          <p:cNvPr id="7" name="Text 5"/>
          <p:cNvSpPr/>
          <p:nvPr/>
        </p:nvSpPr>
        <p:spPr>
          <a:xfrm>
            <a:off x="984885" y="2411095"/>
            <a:ext cx="5147310" cy="589915"/>
          </a:xfrm>
          <a:prstGeom prst="rect">
            <a:avLst/>
          </a:prstGeom>
          <a:noFill/>
        </p:spPr>
        <p:txBody>
          <a:bodyPr wrap="square" lIns="0" tIns="0" rIns="0" bIns="0" rtlCol="0" anchor="t">
            <a:no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Finding:</a:t>
            </a:r>
            <a:r>
              <a:rPr lang="en-US" sz="1200" dirty="0">
                <a:solidFill>
                  <a:srgbClr val="2B303A"/>
                </a:solidFill>
                <a:latin typeface="Arial" panose="020B0604020202020204" pitchFamily="34" charset="0"/>
                <a:ea typeface="Inter" pitchFamily="34" charset="-122"/>
                <a:cs typeface="Arial" panose="020B0604020202020204" pitchFamily="34" charset="0"/>
              </a:rPr>
              <a:t> </a:t>
            </a:r>
            <a:r>
              <a:rPr lang="en-US" altLang="en-US" sz="1200" dirty="0">
                <a:solidFill>
                  <a:srgbClr val="2B303A"/>
                </a:solidFill>
                <a:latin typeface="Arial" panose="020B0604020202020204" pitchFamily="34" charset="0"/>
                <a:ea typeface="Inter" pitchFamily="34" charset="-122"/>
                <a:cs typeface="Arial" panose="020B0604020202020204" pitchFamily="34" charset="0"/>
              </a:rPr>
              <a:t>“Các nghiên cứu multi-label cho thấy threshold theo từng label có thể thay </a:t>
            </a:r>
            <a:r>
              <a:rPr lang="en-US" altLang="en-US" sz="1200" dirty="0">
                <a:solidFill>
                  <a:srgbClr val="2B303A"/>
                </a:solidFill>
                <a:latin typeface="Arial" panose="020B0604020202020204" pitchFamily="34" charset="0"/>
                <a:ea typeface="Inter" pitchFamily="34" charset="-122"/>
                <a:cs typeface="Arial" panose="020B0604020202020204" pitchFamily="34" charset="0"/>
              </a:rPr>
              <a:t>đ</a:t>
            </a:r>
            <a:r>
              <a:rPr lang="en-US" altLang="en-US" sz="1200" dirty="0">
                <a:solidFill>
                  <a:srgbClr val="2B303A"/>
                </a:solidFill>
                <a:latin typeface="Arial" panose="020B0604020202020204" pitchFamily="34" charset="0"/>
                <a:ea typeface="Inter" pitchFamily="34" charset="-122"/>
                <a:cs typeface="Arial" panose="020B0604020202020204" pitchFamily="34" charset="0"/>
              </a:rPr>
              <a:t>ổi trade-off precision–recall. Nhóm sẽ kiểm tra lại </a:t>
            </a:r>
            <a:r>
              <a:rPr lang="en-US" altLang="en-US" sz="1200" dirty="0">
                <a:solidFill>
                  <a:srgbClr val="2B303A"/>
                </a:solidFill>
                <a:latin typeface="Arial" panose="020B0604020202020204" pitchFamily="34" charset="0"/>
                <a:ea typeface="Inter" pitchFamily="34" charset="-122"/>
                <a:cs typeface="Arial" panose="020B0604020202020204" pitchFamily="34" charset="0"/>
              </a:rPr>
              <a:t>đ</a:t>
            </a:r>
            <a:r>
              <a:rPr lang="en-US" altLang="en-US" sz="1200" dirty="0">
                <a:solidFill>
                  <a:srgbClr val="2B303A"/>
                </a:solidFill>
                <a:latin typeface="Arial" panose="020B0604020202020204" pitchFamily="34" charset="0"/>
                <a:ea typeface="Inter" pitchFamily="34" charset="-122"/>
                <a:cs typeface="Arial" panose="020B0604020202020204" pitchFamily="34" charset="0"/>
              </a:rPr>
              <a:t>iều này trên ViGoEmotions bằng validation-only tuning.”</a:t>
            </a:r>
            <a:endParaRPr lang="en-US" altLang="en-US" sz="12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8" name="Shape 6"/>
          <p:cNvSpPr/>
          <p:nvPr/>
        </p:nvSpPr>
        <p:spPr>
          <a:xfrm>
            <a:off x="815887" y="3240243"/>
            <a:ext cx="5175294" cy="688181"/>
          </a:xfrm>
          <a:prstGeom prst="roundRect">
            <a:avLst>
              <a:gd name="adj" fmla="val 12457"/>
            </a:avLst>
          </a:prstGeom>
          <a:solidFill>
            <a:srgbClr val="FFFFFF"/>
          </a:solidFill>
          <a:ln w="6350">
            <a:solidFill>
              <a:srgbClr val="E1DDD2"/>
            </a:solidFill>
            <a:prstDash val="solid"/>
          </a:ln>
        </p:spPr>
      </p:sp>
      <p:sp>
        <p:nvSpPr>
          <p:cNvPr id="9" name="Text 7"/>
          <p:cNvSpPr/>
          <p:nvPr/>
        </p:nvSpPr>
        <p:spPr>
          <a:xfrm>
            <a:off x="984801" y="3371124"/>
            <a:ext cx="498258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Limitation:</a:t>
            </a:r>
            <a:r>
              <a:rPr lang="en-US" sz="1200" dirty="0">
                <a:solidFill>
                  <a:srgbClr val="2B303A"/>
                </a:solidFill>
                <a:latin typeface="Arial" panose="020B0604020202020204" pitchFamily="34" charset="0"/>
                <a:ea typeface="Inter" pitchFamily="34" charset="-122"/>
                <a:cs typeface="Arial" panose="020B0604020202020204" pitchFamily="34" charset="0"/>
              </a:rPr>
              <a:t> Threshold phải chọn trên val set. Tune trên test = data leakage. Grid: 17×28=476 đánh giá.</a:t>
            </a:r>
            <a:endParaRPr lang="en-US" sz="1200" dirty="0">
              <a:latin typeface="Arial" panose="020B0604020202020204" pitchFamily="34" charset="0"/>
              <a:cs typeface="Arial" panose="020B0604020202020204" pitchFamily="34" charset="0"/>
            </a:endParaRPr>
          </a:p>
        </p:txBody>
      </p:sp>
      <p:sp>
        <p:nvSpPr>
          <p:cNvPr id="10" name="Shape 8"/>
          <p:cNvSpPr/>
          <p:nvPr/>
        </p:nvSpPr>
        <p:spPr>
          <a:xfrm>
            <a:off x="815887" y="4036312"/>
            <a:ext cx="5175294" cy="688181"/>
          </a:xfrm>
          <a:prstGeom prst="roundRect">
            <a:avLst>
              <a:gd name="adj" fmla="val 12457"/>
            </a:avLst>
          </a:prstGeom>
          <a:solidFill>
            <a:srgbClr val="FFFFFF"/>
          </a:solidFill>
          <a:ln w="6350">
            <a:solidFill>
              <a:srgbClr val="E1DDD2"/>
            </a:solidFill>
            <a:prstDash val="solid"/>
          </a:ln>
        </p:spPr>
      </p:sp>
      <p:sp>
        <p:nvSpPr>
          <p:cNvPr id="11" name="Text 9"/>
          <p:cNvSpPr/>
          <p:nvPr/>
        </p:nvSpPr>
        <p:spPr>
          <a:xfrm>
            <a:off x="984801" y="4167188"/>
            <a:ext cx="4982589" cy="4518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2B303A"/>
                </a:solidFill>
                <a:latin typeface="Arial" panose="020B0604020202020204" pitchFamily="34" charset="0"/>
                <a:ea typeface="Inter" pitchFamily="34" charset="-122"/>
                <a:cs typeface="Arial" panose="020B0604020202020204" pitchFamily="34" charset="0"/>
              </a:rPr>
              <a:t>Implication:</a:t>
            </a:r>
            <a:r>
              <a:rPr lang="en-US" sz="1200" dirty="0">
                <a:solidFill>
                  <a:srgbClr val="2B303A"/>
                </a:solidFill>
                <a:latin typeface="Arial" panose="020B0604020202020204" pitchFamily="34" charset="0"/>
                <a:ea typeface="Inter" pitchFamily="34" charset="-122"/>
                <a:cs typeface="Arial" panose="020B0604020202020204" pitchFamily="34" charset="0"/>
              </a:rPr>
              <a:t> Config B, D dùng per-label threshold. Khoá thresholds.json trước khi đánh giá trên test.</a:t>
            </a:r>
            <a:endParaRPr lang="en-US" sz="1200" dirty="0">
              <a:latin typeface="Arial" panose="020B0604020202020204" pitchFamily="34" charset="0"/>
              <a:cs typeface="Arial" panose="020B0604020202020204" pitchFamily="34" charset="0"/>
            </a:endParaRPr>
          </a:p>
        </p:txBody>
      </p:sp>
      <p:sp>
        <p:nvSpPr>
          <p:cNvPr id="12" name="Shape 10"/>
          <p:cNvSpPr/>
          <p:nvPr/>
        </p:nvSpPr>
        <p:spPr>
          <a:xfrm>
            <a:off x="6200708" y="1648116"/>
            <a:ext cx="5175404" cy="978782"/>
          </a:xfrm>
          <a:prstGeom prst="roundRect">
            <a:avLst>
              <a:gd name="adj" fmla="val 8758"/>
            </a:avLst>
          </a:prstGeom>
          <a:solidFill>
            <a:srgbClr val="F8ECE0"/>
          </a:solidFill>
          <a:ln w="6350">
            <a:solidFill>
              <a:srgbClr val="EEDDCD"/>
            </a:solidFill>
            <a:prstDash val="solid"/>
          </a:ln>
        </p:spPr>
      </p:sp>
      <p:sp>
        <p:nvSpPr>
          <p:cNvPr id="13" name="Text 11"/>
          <p:cNvSpPr/>
          <p:nvPr/>
        </p:nvSpPr>
        <p:spPr>
          <a:xfrm>
            <a:off x="6369623" y="1791674"/>
            <a:ext cx="498270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9C4A17"/>
                </a:solidFill>
                <a:latin typeface="Arial" panose="020B0604020202020204" pitchFamily="34" charset="0"/>
                <a:ea typeface="Inter" pitchFamily="34" charset="-122"/>
                <a:cs typeface="Arial" panose="020B0604020202020204" pitchFamily="34" charset="0"/>
              </a:rPr>
              <a:t>Global threshold 0.5</a:t>
            </a:r>
            <a:endParaRPr lang="en-US" sz="1200" b="1" dirty="0">
              <a:solidFill>
                <a:srgbClr val="9C4A17"/>
              </a:solidFill>
              <a:latin typeface="Arial" panose="020B0604020202020204" pitchFamily="34" charset="0"/>
              <a:ea typeface="Inter" pitchFamily="34" charset="-122"/>
              <a:cs typeface="Arial" panose="020B0604020202020204" pitchFamily="34" charset="0"/>
            </a:endParaRPr>
          </a:p>
        </p:txBody>
      </p:sp>
      <p:sp>
        <p:nvSpPr>
          <p:cNvPr id="14" name="Text 12"/>
          <p:cNvSpPr/>
          <p:nvPr/>
        </p:nvSpPr>
        <p:spPr>
          <a:xfrm>
            <a:off x="6369623" y="2055595"/>
            <a:ext cx="4982703" cy="213916"/>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5C5650"/>
                </a:solidFill>
                <a:latin typeface="Arial" panose="020B0604020202020204" pitchFamily="34" charset="0"/>
                <a:ea typeface="Inter" pitchFamily="34" charset="-122"/>
                <a:cs typeface="Arial" panose="020B0604020202020204" pitchFamily="34" charset="0"/>
              </a:rPr>
              <a:t>label_i = 1 nếu p_i &gt; 0.5 với MỌI i</a:t>
            </a:r>
            <a:endParaRPr lang="en-US" sz="1100" dirty="0">
              <a:solidFill>
                <a:srgbClr val="5C5650"/>
              </a:solidFill>
              <a:latin typeface="Arial" panose="020B0604020202020204" pitchFamily="34" charset="0"/>
              <a:ea typeface="Inter" pitchFamily="34" charset="-122"/>
              <a:cs typeface="Arial" panose="020B0604020202020204" pitchFamily="34" charset="0"/>
            </a:endParaRPr>
          </a:p>
        </p:txBody>
      </p:sp>
      <p:sp>
        <p:nvSpPr>
          <p:cNvPr id="15" name="Text 13"/>
          <p:cNvSpPr/>
          <p:nvPr/>
        </p:nvSpPr>
        <p:spPr>
          <a:xfrm>
            <a:off x="6369623" y="2294824"/>
            <a:ext cx="4982703" cy="213916"/>
          </a:xfrm>
          <a:prstGeom prst="rect">
            <a:avLst/>
          </a:prstGeom>
          <a:noFill/>
        </p:spPr>
        <p:txBody>
          <a:bodyPr wrap="square" lIns="0" tIns="0" rIns="0" bIns="0" rtlCol="0" anchor="t">
            <a:normAutofit fontScale="90000"/>
          </a:bodyPr>
          <a:lstStyle/>
          <a:p>
            <a:pPr marL="0" indent="0" algn="l">
              <a:lnSpc>
                <a:spcPts val="1485"/>
              </a:lnSpc>
              <a:buNone/>
            </a:pPr>
            <a:r>
              <a:rPr lang="en-US" sz="1100" dirty="0">
                <a:solidFill>
                  <a:srgbClr val="9C4A17"/>
                </a:solidFill>
                <a:latin typeface="Arial" panose="020B0604020202020204" pitchFamily="34" charset="0"/>
                <a:ea typeface="Inter" pitchFamily="34" charset="-122"/>
                <a:cs typeface="Arial" panose="020B0604020202020204" pitchFamily="34" charset="0"/>
              </a:rPr>
              <a:t>Nhãn hiếm: </a:t>
            </a:r>
            <a:r>
              <a:rPr lang="en-US" altLang="en-US" sz="1100" dirty="0">
                <a:solidFill>
                  <a:srgbClr val="9C4A17"/>
                </a:solidFill>
                <a:latin typeface="Arial" panose="020B0604020202020204" pitchFamily="34" charset="0"/>
                <a:ea typeface="Inter" pitchFamily="34" charset="-122"/>
                <a:cs typeface="Arial" panose="020B0604020202020204" pitchFamily="34" charset="0"/>
              </a:rPr>
              <a:t>Với một số nhãn hiếm, threshold 0,5 có thể quá cao và làm giảm recall.</a:t>
            </a:r>
            <a:endParaRPr lang="en-US" altLang="en-US" sz="1100" dirty="0">
              <a:solidFill>
                <a:srgbClr val="9C4A17"/>
              </a:solidFill>
              <a:latin typeface="Arial" panose="020B0604020202020204" pitchFamily="34" charset="0"/>
              <a:ea typeface="Inter" pitchFamily="34" charset="-122"/>
              <a:cs typeface="Arial" panose="020B0604020202020204" pitchFamily="34" charset="0"/>
            </a:endParaRPr>
          </a:p>
        </p:txBody>
      </p:sp>
      <p:sp>
        <p:nvSpPr>
          <p:cNvPr id="16" name="Shape 14"/>
          <p:cNvSpPr/>
          <p:nvPr/>
        </p:nvSpPr>
        <p:spPr>
          <a:xfrm>
            <a:off x="6200708" y="2734779"/>
            <a:ext cx="5175404" cy="1218009"/>
          </a:xfrm>
          <a:prstGeom prst="roundRect">
            <a:avLst>
              <a:gd name="adj" fmla="val 7038"/>
            </a:avLst>
          </a:prstGeom>
          <a:solidFill>
            <a:srgbClr val="E3EFEC"/>
          </a:solidFill>
          <a:ln w="6350">
            <a:solidFill>
              <a:srgbClr val="CFE6DF"/>
            </a:solidFill>
            <a:prstDash val="solid"/>
          </a:ln>
        </p:spPr>
      </p:sp>
      <p:sp>
        <p:nvSpPr>
          <p:cNvPr id="17" name="Text 15"/>
          <p:cNvSpPr/>
          <p:nvPr/>
        </p:nvSpPr>
        <p:spPr>
          <a:xfrm>
            <a:off x="6369623" y="2878336"/>
            <a:ext cx="498270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Per-label threshold</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8" name="Text 16"/>
          <p:cNvSpPr/>
          <p:nvPr/>
        </p:nvSpPr>
        <p:spPr>
          <a:xfrm>
            <a:off x="6369623" y="3142258"/>
            <a:ext cx="4982703" cy="213916"/>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1A2E2A"/>
                </a:solidFill>
                <a:latin typeface="Arial" panose="020B0604020202020204" pitchFamily="34" charset="0"/>
                <a:ea typeface="Inter" pitchFamily="34" charset="-122"/>
                <a:cs typeface="Arial" panose="020B0604020202020204" pitchFamily="34" charset="0"/>
              </a:rPr>
              <a:t>label_i = 1 nếu p_i &gt; t_i (t_i tune trên val, grid [0.1,0.9], bước 0.05)</a:t>
            </a:r>
            <a:endParaRPr lang="en-US" sz="11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9" name="Text 17"/>
          <p:cNvSpPr/>
          <p:nvPr/>
        </p:nvSpPr>
        <p:spPr>
          <a:xfrm>
            <a:off x="6369623" y="3381487"/>
            <a:ext cx="4982703" cy="213916"/>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0B5C53"/>
                </a:solidFill>
                <a:latin typeface="Arial" panose="020B0604020202020204" pitchFamily="34" charset="0"/>
                <a:ea typeface="Inter" pitchFamily="34" charset="-122"/>
                <a:cs typeface="Arial" panose="020B0604020202020204" pitchFamily="34" charset="0"/>
              </a:rPr>
              <a:t>Nhãn hiếm: t_i thấp hơn → recall tốt hơn</a:t>
            </a:r>
            <a:endParaRPr lang="en-US" sz="1100"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0" name="Text 18"/>
          <p:cNvSpPr/>
          <p:nvPr/>
        </p:nvSpPr>
        <p:spPr>
          <a:xfrm>
            <a:off x="6369623" y="3620715"/>
            <a:ext cx="4982703" cy="213916"/>
          </a:xfrm>
          <a:prstGeom prst="rect">
            <a:avLst/>
          </a:prstGeom>
          <a:noFill/>
        </p:spPr>
        <p:txBody>
          <a:bodyPr wrap="square" lIns="0" tIns="0" rIns="0" bIns="0" rtlCol="0" anchor="t">
            <a:normAutofit/>
          </a:bodyPr>
          <a:lstStyle/>
          <a:p>
            <a:pPr marL="0" indent="0" algn="l">
              <a:lnSpc>
                <a:spcPts val="1485"/>
              </a:lnSpc>
              <a:buNone/>
            </a:pPr>
            <a:r>
              <a:rPr lang="en-US" sz="1100" dirty="0">
                <a:solidFill>
                  <a:srgbClr val="0B5C53"/>
                </a:solidFill>
                <a:latin typeface="Arial" panose="020B0604020202020204" pitchFamily="34" charset="0"/>
                <a:ea typeface="Inter" pitchFamily="34" charset="-122"/>
                <a:cs typeface="Arial" panose="020B0604020202020204" pitchFamily="34" charset="0"/>
              </a:rPr>
              <a:t>Nhãn phổ biến: giữ t_i cao → precision được bảo toàn</a:t>
            </a:r>
            <a:endParaRPr lang="en-US" sz="1100"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1" name="Shape 19"/>
          <p:cNvSpPr/>
          <p:nvPr/>
        </p:nvSpPr>
        <p:spPr>
          <a:xfrm>
            <a:off x="812712" y="5130056"/>
            <a:ext cx="10566576" cy="711950"/>
          </a:xfrm>
          <a:prstGeom prst="roundRect">
            <a:avLst>
              <a:gd name="adj" fmla="val 7135"/>
            </a:avLst>
          </a:prstGeom>
          <a:solidFill>
            <a:srgbClr val="E3EFEC"/>
          </a:solidFill>
        </p:spPr>
      </p:sp>
      <p:sp>
        <p:nvSpPr>
          <p:cNvPr id="22" name="Shape 20"/>
          <p:cNvSpPr/>
          <p:nvPr/>
        </p:nvSpPr>
        <p:spPr>
          <a:xfrm>
            <a:off x="831762" y="5130056"/>
            <a:ext cx="0" cy="711950"/>
          </a:xfrm>
          <a:prstGeom prst="line">
            <a:avLst/>
          </a:prstGeom>
          <a:noFill/>
          <a:ln w="38100">
            <a:solidFill>
              <a:srgbClr val="0E6F64"/>
            </a:solidFill>
            <a:prstDash val="solid"/>
          </a:ln>
        </p:spPr>
      </p:sp>
      <p:sp>
        <p:nvSpPr>
          <p:cNvPr id="23" name="Text 21"/>
          <p:cNvSpPr/>
          <p:nvPr/>
        </p:nvSpPr>
        <p:spPr>
          <a:xfrm>
            <a:off x="1025701" y="5269731"/>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Per-label threshold là can thiệp decision-layer: không cần train lại. Config B, D dùng nó. QUAN TRỌNG: chỉ tune trên val set; khoá thresholds.json trước khi chạy test.</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4" name="Text 22"/>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5" name="Text 23"/>
          <p:cNvSpPr/>
          <p:nvPr/>
        </p:nvSpPr>
        <p:spPr>
          <a:xfrm>
            <a:off x="10887273" y="6238435"/>
            <a:ext cx="542594"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09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LITERATURE SYNTHESIS</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3"/>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What We Know — and What We Don't</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77219"/>
            <a:ext cx="5188082" cy="3271948"/>
          </a:xfrm>
          <a:prstGeom prst="roundRect">
            <a:avLst>
              <a:gd name="adj" fmla="val 3008"/>
            </a:avLst>
          </a:prstGeom>
          <a:solidFill>
            <a:srgbClr val="FFFFFF"/>
          </a:solidFill>
          <a:ln w="6350">
            <a:solidFill>
              <a:srgbClr val="CFE6DF"/>
            </a:solidFill>
            <a:prstDash val="solid"/>
          </a:ln>
        </p:spPr>
      </p:sp>
      <p:sp>
        <p:nvSpPr>
          <p:cNvPr id="5" name="Text 3"/>
          <p:cNvSpPr/>
          <p:nvPr/>
        </p:nvSpPr>
        <p:spPr>
          <a:xfrm>
            <a:off x="1022945" y="1858807"/>
            <a:ext cx="4917184"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0B5C53"/>
                </a:solidFill>
                <a:latin typeface="Arial" panose="020B0604020202020204" pitchFamily="34" charset="0"/>
                <a:ea typeface="Inter" pitchFamily="34" charset="-122"/>
                <a:cs typeface="Arial" panose="020B0604020202020204" pitchFamily="34" charset="0"/>
              </a:rPr>
              <a:t>ESTABLISHED</a:t>
            </a:r>
            <a:endParaRPr lang="en-US" sz="14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1022945" y="2148309"/>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1. Giữ emoji là tiền xử lý tốt nhất cho fine-grained emotion trên MXH (ViGoEmotions Scenario 1).</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7" name="Text 5"/>
          <p:cNvSpPr/>
          <p:nvPr/>
        </p:nvSpPr>
        <p:spPr>
          <a:xfrm>
            <a:off x="1022945" y="2627536"/>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2. ViSoBERT vượt trội PhoBERT trên NLP MXH tiếng Việt nhờ domain alignment.</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1022945" y="3106762"/>
            <a:ext cx="4917184" cy="226924"/>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3. Per-label threshold cải thiện đáng kể F1-macro so với global 0.5.</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1022945" y="3384463"/>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4. ASL loss cải thiện F1-macro so với BCE trên fine-grained emotion tiếng Anh (GoEmotions +0.08).</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0" name="Text 8"/>
          <p:cNvSpPr/>
          <p:nvPr/>
        </p:nvSpPr>
        <p:spPr>
          <a:xfrm>
            <a:off x="1022945" y="3863690"/>
            <a:ext cx="4917184" cy="428449"/>
          </a:xfrm>
          <a:prstGeom prst="rect">
            <a:avLst/>
          </a:prstGeom>
          <a:noFill/>
        </p:spPr>
        <p:txBody>
          <a:bodyPr wrap="square" lIns="0" tIns="0" rIns="0" bIns="0" rtlCol="0" anchor="t">
            <a:normAutofit/>
          </a:bodyPr>
          <a:lstStyle/>
          <a:p>
            <a:pPr marL="0" indent="0" algn="l">
              <a:lnSpc>
                <a:spcPts val="1585"/>
              </a:lnSpc>
              <a:buNone/>
            </a:pP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1" name="Shape 9"/>
          <p:cNvSpPr/>
          <p:nvPr/>
        </p:nvSpPr>
        <p:spPr>
          <a:xfrm>
            <a:off x="6188030" y="1677219"/>
            <a:ext cx="5188082" cy="3271948"/>
          </a:xfrm>
          <a:prstGeom prst="roundRect">
            <a:avLst>
              <a:gd name="adj" fmla="val 3008"/>
            </a:avLst>
          </a:prstGeom>
          <a:solidFill>
            <a:srgbClr val="FFFFFF"/>
          </a:solidFill>
          <a:ln w="6350">
            <a:solidFill>
              <a:srgbClr val="EEDDCD"/>
            </a:solidFill>
            <a:prstDash val="solid"/>
          </a:ln>
        </p:spPr>
      </p:sp>
      <p:sp>
        <p:nvSpPr>
          <p:cNvPr id="12" name="Text 10"/>
          <p:cNvSpPr/>
          <p:nvPr/>
        </p:nvSpPr>
        <p:spPr>
          <a:xfrm>
            <a:off x="6395089" y="1858807"/>
            <a:ext cx="4917184" cy="23872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9C4A17"/>
                </a:solidFill>
                <a:latin typeface="Arial" panose="020B0604020202020204" pitchFamily="34" charset="0"/>
                <a:ea typeface="Inter" pitchFamily="34" charset="-122"/>
                <a:cs typeface="Arial" panose="020B0604020202020204" pitchFamily="34" charset="0"/>
              </a:rPr>
              <a:t>NOT YET ESTABLISHED</a:t>
            </a:r>
            <a:endParaRPr lang="en-US" sz="1400" b="1" dirty="0">
              <a:solidFill>
                <a:srgbClr val="9C4A17"/>
              </a:solidFill>
              <a:latin typeface="Arial" panose="020B0604020202020204" pitchFamily="34" charset="0"/>
              <a:ea typeface="Inter" pitchFamily="34" charset="-122"/>
              <a:cs typeface="Arial" panose="020B0604020202020204" pitchFamily="34" charset="0"/>
            </a:endParaRPr>
          </a:p>
        </p:txBody>
      </p:sp>
      <p:sp>
        <p:nvSpPr>
          <p:cNvPr id="13" name="Text 11"/>
          <p:cNvSpPr/>
          <p:nvPr/>
        </p:nvSpPr>
        <p:spPr>
          <a:xfrm>
            <a:off x="6395089" y="2148309"/>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1. ASL có cải thiện emotion detection tiếng Việt trên ViGoEmotions không?</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4" name="Text 12"/>
          <p:cNvSpPr/>
          <p:nvPr/>
        </p:nvSpPr>
        <p:spPr>
          <a:xfrm>
            <a:off x="6395089" y="2627536"/>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2. ASL + per-label threshold (kết hợp) có vượt trội từng cái riêng lẻ không?</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5" name="Text 13"/>
          <p:cNvSpPr/>
          <p:nvPr/>
        </p:nvSpPr>
        <p:spPr>
          <a:xfrm>
            <a:off x="6395089" y="3106762"/>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3. Trade-off precision-recall có ổn định qua 3+ random seeds không?</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6" name="Text 14"/>
          <p:cNvSpPr/>
          <p:nvPr/>
        </p:nvSpPr>
        <p:spPr>
          <a:xfrm>
            <a:off x="6395089" y="3585989"/>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4. Nhãn hiếm/khó/mơ hồ có hưởng lợi khác nhau từ ASL vs threshold tuning không?</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7" name="Text 15"/>
          <p:cNvSpPr/>
          <p:nvPr/>
        </p:nvSpPr>
        <p:spPr>
          <a:xfrm>
            <a:off x="6395089" y="4065215"/>
            <a:ext cx="4917184" cy="428449"/>
          </a:xfrm>
          <a:prstGeom prst="rect">
            <a:avLst/>
          </a:prstGeom>
          <a:noFill/>
        </p:spPr>
        <p:txBody>
          <a:bodyPr wrap="square" lIns="0" tIns="0" rIns="0" bIns="0" rtlCol="0" anchor="t">
            <a:normAutofit/>
          </a:bodyPr>
          <a:lstStyle/>
          <a:p>
            <a:pPr marL="0" indent="0" algn="l">
              <a:lnSpc>
                <a:spcPts val="1585"/>
              </a:lnSpc>
              <a:buNone/>
            </a:pPr>
            <a:r>
              <a:rPr lang="en-US" sz="1150" dirty="0">
                <a:solidFill>
                  <a:srgbClr val="2B303A"/>
                </a:solidFill>
                <a:latin typeface="Arial" panose="020B0604020202020204" pitchFamily="34" charset="0"/>
                <a:ea typeface="Inter" pitchFamily="34" charset="-122"/>
                <a:cs typeface="Arial" panose="020B0604020202020204" pitchFamily="34" charset="0"/>
              </a:rPr>
              <a:t>5. Kịch bản tiền xử lý nào tối ưu khi dùng ASL loss (không chỉ BCE + pos_weight)?</a:t>
            </a:r>
            <a:endParaRPr lang="en-US" sz="115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8" name="Shape 16"/>
          <p:cNvSpPr/>
          <p:nvPr/>
        </p:nvSpPr>
        <p:spPr>
          <a:xfrm>
            <a:off x="812712" y="5130050"/>
            <a:ext cx="10566576" cy="711950"/>
          </a:xfrm>
          <a:prstGeom prst="roundRect">
            <a:avLst>
              <a:gd name="adj" fmla="val 7135"/>
            </a:avLst>
          </a:prstGeom>
          <a:solidFill>
            <a:srgbClr val="E3EFEC"/>
          </a:solidFill>
        </p:spPr>
      </p:sp>
      <p:sp>
        <p:nvSpPr>
          <p:cNvPr id="19" name="Shape 17"/>
          <p:cNvSpPr/>
          <p:nvPr/>
        </p:nvSpPr>
        <p:spPr>
          <a:xfrm>
            <a:off x="831762" y="5130050"/>
            <a:ext cx="0" cy="711950"/>
          </a:xfrm>
          <a:prstGeom prst="line">
            <a:avLst/>
          </a:prstGeom>
          <a:noFill/>
          <a:ln w="38100">
            <a:solidFill>
              <a:srgbClr val="0E6F64"/>
            </a:solidFill>
            <a:prstDash val="solid"/>
          </a:ln>
        </p:spPr>
      </p:sp>
      <p:sp>
        <p:nvSpPr>
          <p:cNvPr id="20" name="Text 18"/>
          <p:cNvSpPr/>
          <p:nvPr/>
        </p:nvSpPr>
        <p:spPr>
          <a:xfrm>
            <a:off x="1025701" y="5269731"/>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Literature cung cấp động lực và tiền lệ mạnh. Hầu hết các điểm "chưa được thiết lập" đều có thể </a:t>
            </a:r>
            <a:r>
              <a:rPr lang="en-US" altLang="en-US" sz="1200" dirty="0">
                <a:solidFill>
                  <a:srgbClr val="1A2E2A"/>
                </a:solidFill>
                <a:latin typeface="Arial" panose="020B0604020202020204" pitchFamily="34" charset="0"/>
                <a:ea typeface="Inter" pitchFamily="34" charset="-122"/>
                <a:cs typeface="Arial" panose="020B0604020202020204" pitchFamily="34" charset="0"/>
              </a:rPr>
              <a:t>đư</a:t>
            </a:r>
            <a:r>
              <a:rPr lang="en-US" altLang="en-US" sz="1200" dirty="0">
                <a:solidFill>
                  <a:srgbClr val="1A2E2A"/>
                </a:solidFill>
                <a:latin typeface="Arial" panose="020B0604020202020204" pitchFamily="34" charset="0"/>
                <a:ea typeface="Inter" pitchFamily="34" charset="-122"/>
                <a:cs typeface="Arial" panose="020B0604020202020204" pitchFamily="34" charset="0"/>
              </a:rPr>
              <a:t>ợc kiểm tra b</a:t>
            </a:r>
            <a:r>
              <a:rPr lang="en-US" altLang="en-US" sz="1200" dirty="0">
                <a:solidFill>
                  <a:srgbClr val="1A2E2A"/>
                </a:solidFill>
                <a:latin typeface="Arial" panose="020B0604020202020204" pitchFamily="34" charset="0"/>
                <a:ea typeface="Inter" pitchFamily="34" charset="-122"/>
                <a:cs typeface="Arial" panose="020B0604020202020204" pitchFamily="34" charset="0"/>
              </a:rPr>
              <a:t>ư</a:t>
            </a:r>
            <a:r>
              <a:rPr lang="en-US" altLang="en-US" sz="1200" dirty="0">
                <a:solidFill>
                  <a:srgbClr val="1A2E2A"/>
                </a:solidFill>
                <a:latin typeface="Arial" panose="020B0604020202020204" pitchFamily="34" charset="0"/>
                <a:ea typeface="Inter" pitchFamily="34" charset="-122"/>
                <a:cs typeface="Arial" panose="020B0604020202020204" pitchFamily="34" charset="0"/>
              </a:rPr>
              <a:t>ớc </a:t>
            </a:r>
            <a:r>
              <a:rPr lang="en-US" altLang="en-US" sz="1200" dirty="0">
                <a:solidFill>
                  <a:srgbClr val="1A2E2A"/>
                </a:solidFill>
                <a:latin typeface="Arial" panose="020B0604020202020204" pitchFamily="34" charset="0"/>
                <a:ea typeface="Inter" pitchFamily="34" charset="-122"/>
                <a:cs typeface="Arial" panose="020B0604020202020204" pitchFamily="34" charset="0"/>
              </a:rPr>
              <a:t>đ</a:t>
            </a:r>
            <a:r>
              <a:rPr lang="en-US" altLang="en-US" sz="1200" dirty="0">
                <a:solidFill>
                  <a:srgbClr val="1A2E2A"/>
                </a:solidFill>
                <a:latin typeface="Arial" panose="020B0604020202020204" pitchFamily="34" charset="0"/>
                <a:ea typeface="Inter" pitchFamily="34" charset="-122"/>
                <a:cs typeface="Arial" panose="020B0604020202020204" pitchFamily="34" charset="0"/>
              </a:rPr>
              <a:t>ầu bằng ablation A0–D</a:t>
            </a:r>
            <a:r>
              <a:rPr lang="en-US" sz="1200" dirty="0">
                <a:solidFill>
                  <a:srgbClr val="1A2E2A"/>
                </a:solidFill>
                <a:latin typeface="Arial" panose="020B0604020202020204" pitchFamily="34" charset="0"/>
                <a:ea typeface="Inter" pitchFamily="34" charset="-122"/>
                <a:cs typeface="Arial" panose="020B0604020202020204" pitchFamily="34" charset="0"/>
              </a:rPr>
              <a:t> trên ViGoEmotions, đó là đóng góp cốt lõi của dự án.</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1" name="Text 19"/>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2" name="Text 20"/>
          <p:cNvSpPr/>
          <p:nvPr/>
        </p:nvSpPr>
        <p:spPr>
          <a:xfrm>
            <a:off x="10919795" y="6238435"/>
            <a:ext cx="510073"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10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7FD6C9"/>
                </a:solidFill>
                <a:latin typeface="Arial" panose="020B0604020202020204" pitchFamily="34" charset="0"/>
                <a:ea typeface="Inter" pitchFamily="34" charset="-122"/>
                <a:cs typeface="Arial" panose="020B0604020202020204" pitchFamily="34" charset="0"/>
              </a:rPr>
              <a:t>RESEARCH GAP</a:t>
            </a:r>
            <a:endParaRPr lang="en-US" sz="1200" b="1" dirty="0">
              <a:solidFill>
                <a:srgbClr val="7FD6C9"/>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203635"/>
            <a:ext cx="10137774" cy="1131358"/>
          </a:xfrm>
          <a:prstGeom prst="rect">
            <a:avLst/>
          </a:prstGeom>
          <a:noFill/>
        </p:spPr>
        <p:txBody>
          <a:bodyPr wrap="square" lIns="0" tIns="0" rIns="0" bIns="0" rtlCol="0" anchor="t">
            <a:normAutofit/>
          </a:bodyPr>
          <a:lstStyle/>
          <a:p>
            <a:pPr marL="0" indent="0" algn="l">
              <a:lnSpc>
                <a:spcPts val="2905"/>
              </a:lnSpc>
              <a:buNone/>
            </a:pPr>
            <a:r>
              <a:rPr lang="en-US" sz="2200" b="1" dirty="0">
                <a:solidFill>
                  <a:srgbClr val="F2F0EA"/>
                </a:solidFill>
                <a:latin typeface="Arial" panose="020B0604020202020204" pitchFamily="34" charset="0"/>
                <a:ea typeface="Source Serif 4" pitchFamily="34" charset="-122"/>
                <a:cs typeface="Arial" panose="020B0604020202020204" pitchFamily="34" charset="0"/>
              </a:rPr>
              <a:t>Training-level (ASL) và decision-level (per-label threshold) tạo ra các đánh đổi precision–recall khác nhau giữa các nhóm cảm xúc. Hiệu ứng kết hợp của chúng trên ViGoEmotions vẫn chưa được biết.</a:t>
            </a:r>
            <a:endParaRPr lang="en-US" sz="2200" b="1" dirty="0">
              <a:solidFill>
                <a:srgbClr val="F2F0EA"/>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2490484"/>
            <a:ext cx="4787238" cy="2507632"/>
          </a:xfrm>
          <a:prstGeom prst="roundRect">
            <a:avLst>
              <a:gd name="adj" fmla="val 3419"/>
            </a:avLst>
          </a:prstGeom>
          <a:solidFill>
            <a:srgbClr val="1F2734"/>
          </a:solidFill>
          <a:ln w="6350">
            <a:solidFill>
              <a:srgbClr val="303A4A"/>
            </a:solidFill>
            <a:prstDash val="solid"/>
          </a:ln>
        </p:spPr>
      </p:sp>
      <p:sp>
        <p:nvSpPr>
          <p:cNvPr id="5" name="Text 3"/>
          <p:cNvSpPr/>
          <p:nvPr/>
        </p:nvSpPr>
        <p:spPr>
          <a:xfrm>
            <a:off x="1010267" y="2659397"/>
            <a:ext cx="4530432"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F2F0EA"/>
                </a:solidFill>
                <a:latin typeface="Arial" panose="020B0604020202020204" pitchFamily="34" charset="0"/>
                <a:ea typeface="Inter" pitchFamily="34" charset="-122"/>
                <a:cs typeface="Arial" panose="020B0604020202020204" pitchFamily="34" charset="0"/>
              </a:rPr>
              <a:t>Still Unclear</a:t>
            </a:r>
            <a:endParaRPr lang="en-US" sz="1300" b="1" dirty="0">
              <a:solidFill>
                <a:srgbClr val="F2F0EA"/>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1010267" y="2933681"/>
            <a:ext cx="4530432" cy="405298"/>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CDD3D8"/>
                </a:solidFill>
                <a:latin typeface="Arial" panose="020B0604020202020204" pitchFamily="34" charset="0"/>
                <a:ea typeface="Inter" pitchFamily="34" charset="-122"/>
                <a:cs typeface="Arial" panose="020B0604020202020204" pitchFamily="34" charset="0"/>
              </a:rPr>
              <a:t>1. ASL có cải thiện F1-macro trên ViGoEmotions không? (paper chỉ test GoEmotions tiếng Anh)</a:t>
            </a:r>
            <a:endParaRPr lang="en-US" sz="1100" dirty="0">
              <a:solidFill>
                <a:srgbClr val="CDD3D8"/>
              </a:solidFill>
              <a:latin typeface="Arial" panose="020B0604020202020204" pitchFamily="34" charset="0"/>
              <a:ea typeface="Inter" pitchFamily="34" charset="-122"/>
              <a:cs typeface="Arial" panose="020B0604020202020204" pitchFamily="34" charset="0"/>
            </a:endParaRPr>
          </a:p>
        </p:txBody>
      </p:sp>
      <p:sp>
        <p:nvSpPr>
          <p:cNvPr id="7" name="Text 5"/>
          <p:cNvSpPr/>
          <p:nvPr/>
        </p:nvSpPr>
        <p:spPr>
          <a:xfrm>
            <a:off x="1010267" y="3389753"/>
            <a:ext cx="4530432" cy="405298"/>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CDD3D8"/>
                </a:solidFill>
                <a:latin typeface="Arial" panose="020B0604020202020204" pitchFamily="34" charset="0"/>
                <a:ea typeface="Inter" pitchFamily="34" charset="-122"/>
                <a:cs typeface="Arial" panose="020B0604020202020204" pitchFamily="34" charset="0"/>
              </a:rPr>
              <a:t>2. ASL + threshold vs từng cái riêng — cái nào thắng? (chưa có so sánh có kiểm soát)</a:t>
            </a:r>
            <a:endParaRPr lang="en-US" sz="1100" dirty="0">
              <a:solidFill>
                <a:srgbClr val="CDD3D8"/>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1010267" y="3845830"/>
            <a:ext cx="4530432" cy="405298"/>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CDD3D8"/>
                </a:solidFill>
                <a:latin typeface="Arial" panose="020B0604020202020204" pitchFamily="34" charset="0"/>
                <a:ea typeface="Inter" pitchFamily="34" charset="-122"/>
                <a:cs typeface="Arial" panose="020B0604020202020204" pitchFamily="34" charset="0"/>
              </a:rPr>
              <a:t>3. Lợi ích có ổn định qua 3 random seeds không? (seed variance chưa được báo cáo)</a:t>
            </a:r>
            <a:endParaRPr lang="en-US" sz="1100" dirty="0">
              <a:solidFill>
                <a:srgbClr val="CDD3D8"/>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1010267" y="4301908"/>
            <a:ext cx="4530432" cy="405298"/>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CDD3D8"/>
                </a:solidFill>
                <a:latin typeface="Arial" panose="020B0604020202020204" pitchFamily="34" charset="0"/>
                <a:ea typeface="Inter" pitchFamily="34" charset="-122"/>
                <a:cs typeface="Arial" panose="020B0604020202020204" pitchFamily="34" charset="0"/>
              </a:rPr>
              <a:t>4. </a:t>
            </a:r>
            <a:r>
              <a:rPr lang="en-US" altLang="en-US" sz="1100" dirty="0">
                <a:solidFill>
                  <a:srgbClr val="CDD3D8"/>
                </a:solidFill>
                <a:latin typeface="Arial" panose="020B0604020202020204" pitchFamily="34" charset="0"/>
                <a:ea typeface="Inter" pitchFamily="34" charset="-122"/>
                <a:cs typeface="Arial" panose="020B0604020202020204" pitchFamily="34" charset="0"/>
              </a:rPr>
              <a:t>Các nhãn </a:t>
            </a:r>
            <a:r>
              <a:rPr lang="en-US" altLang="en-US" sz="1100" dirty="0">
                <a:solidFill>
                  <a:srgbClr val="CDD3D8"/>
                </a:solidFill>
                <a:latin typeface="Arial" panose="020B0604020202020204" pitchFamily="34" charset="0"/>
                <a:ea typeface="Inter" pitchFamily="34" charset="-122"/>
                <a:cs typeface="Arial" panose="020B0604020202020204" pitchFamily="34" charset="0"/>
              </a:rPr>
              <a:t>đư</a:t>
            </a:r>
            <a:r>
              <a:rPr lang="en-US" altLang="en-US" sz="1100" dirty="0">
                <a:solidFill>
                  <a:srgbClr val="CDD3D8"/>
                </a:solidFill>
                <a:latin typeface="Arial" panose="020B0604020202020204" pitchFamily="34" charset="0"/>
                <a:ea typeface="Inter" pitchFamily="34" charset="-122"/>
                <a:cs typeface="Arial" panose="020B0604020202020204" pitchFamily="34" charset="0"/>
              </a:rPr>
              <a:t>ợc </a:t>
            </a:r>
            <a:r>
              <a:rPr lang="en-US" altLang="en-US" sz="1100" dirty="0">
                <a:solidFill>
                  <a:srgbClr val="CDD3D8"/>
                </a:solidFill>
                <a:latin typeface="Arial" panose="020B0604020202020204" pitchFamily="34" charset="0"/>
                <a:ea typeface="Inter" pitchFamily="34" charset="-122"/>
                <a:cs typeface="Arial" panose="020B0604020202020204" pitchFamily="34" charset="0"/>
              </a:rPr>
              <a:t>ư</a:t>
            </a:r>
            <a:r>
              <a:rPr lang="en-US" altLang="en-US" sz="1100" dirty="0">
                <a:solidFill>
                  <a:srgbClr val="CDD3D8"/>
                </a:solidFill>
                <a:latin typeface="Arial" panose="020B0604020202020204" pitchFamily="34" charset="0"/>
                <a:ea typeface="Inter" pitchFamily="34" charset="-122"/>
                <a:cs typeface="Arial" panose="020B0604020202020204" pitchFamily="34" charset="0"/>
              </a:rPr>
              <a:t>u tiên về mặt vận hành có h</a:t>
            </a:r>
            <a:r>
              <a:rPr lang="en-US" altLang="en-US" sz="1100" dirty="0">
                <a:solidFill>
                  <a:srgbClr val="CDD3D8"/>
                </a:solidFill>
                <a:latin typeface="Arial" panose="020B0604020202020204" pitchFamily="34" charset="0"/>
                <a:ea typeface="Inter" pitchFamily="34" charset="-122"/>
                <a:cs typeface="Arial" panose="020B0604020202020204" pitchFamily="34" charset="0"/>
              </a:rPr>
              <a:t>ư</a:t>
            </a:r>
            <a:r>
              <a:rPr lang="en-US" altLang="en-US" sz="1100" dirty="0">
                <a:solidFill>
                  <a:srgbClr val="CDD3D8"/>
                </a:solidFill>
                <a:latin typeface="Arial" panose="020B0604020202020204" pitchFamily="34" charset="0"/>
                <a:ea typeface="Inter" pitchFamily="34" charset="-122"/>
                <a:cs typeface="Arial" panose="020B0604020202020204" pitchFamily="34" charset="0"/>
              </a:rPr>
              <a:t>ởng lợi khác nhau từ ASL và threshold tuning không</a:t>
            </a:r>
            <a:r>
              <a:rPr lang="en-US" sz="1100" dirty="0">
                <a:solidFill>
                  <a:srgbClr val="CDD3D8"/>
                </a:solidFill>
                <a:latin typeface="Arial" panose="020B0604020202020204" pitchFamily="34" charset="0"/>
                <a:ea typeface="Inter" pitchFamily="34" charset="-122"/>
                <a:cs typeface="Arial" panose="020B0604020202020204" pitchFamily="34" charset="0"/>
              </a:rPr>
              <a:t>?</a:t>
            </a:r>
            <a:endParaRPr lang="en-US" sz="1100" dirty="0">
              <a:solidFill>
                <a:srgbClr val="CDD3D8"/>
              </a:solidFill>
              <a:latin typeface="Arial" panose="020B0604020202020204" pitchFamily="34" charset="0"/>
              <a:ea typeface="Inter" pitchFamily="34" charset="-122"/>
              <a:cs typeface="Arial" panose="020B0604020202020204" pitchFamily="34" charset="0"/>
            </a:endParaRPr>
          </a:p>
        </p:txBody>
      </p:sp>
      <p:sp>
        <p:nvSpPr>
          <p:cNvPr id="10" name="Shape 8"/>
          <p:cNvSpPr/>
          <p:nvPr/>
        </p:nvSpPr>
        <p:spPr>
          <a:xfrm>
            <a:off x="5812653" y="2490484"/>
            <a:ext cx="5563460" cy="2507632"/>
          </a:xfrm>
          <a:prstGeom prst="roundRect">
            <a:avLst>
              <a:gd name="adj" fmla="val 3419"/>
            </a:avLst>
          </a:prstGeom>
          <a:solidFill>
            <a:srgbClr val="1F2734"/>
          </a:solidFill>
          <a:ln w="6350">
            <a:solidFill>
              <a:srgbClr val="303A4A"/>
            </a:solidFill>
            <a:prstDash val="solid"/>
          </a:ln>
        </p:spPr>
      </p:sp>
      <p:sp>
        <p:nvSpPr>
          <p:cNvPr id="11" name="Text 9"/>
          <p:cNvSpPr/>
          <p:nvPr/>
        </p:nvSpPr>
        <p:spPr>
          <a:xfrm>
            <a:off x="6007033" y="2659397"/>
            <a:ext cx="5329939"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F2F0EA"/>
                </a:solidFill>
                <a:latin typeface="Arial" panose="020B0604020202020204" pitchFamily="34" charset="0"/>
                <a:ea typeface="Inter" pitchFamily="34" charset="-122"/>
                <a:cs typeface="Arial" panose="020B0604020202020204" pitchFamily="34" charset="0"/>
              </a:rPr>
              <a:t>This Project Addresses It By — Ablation Design</a:t>
            </a:r>
            <a:endParaRPr lang="en-US" sz="1300" b="1" dirty="0">
              <a:solidFill>
                <a:srgbClr val="F2F0EA"/>
              </a:solidFill>
              <a:latin typeface="Arial" panose="020B0604020202020204" pitchFamily="34" charset="0"/>
              <a:ea typeface="Inter" pitchFamily="34" charset="-122"/>
              <a:cs typeface="Arial" panose="020B0604020202020204" pitchFamily="34" charset="0"/>
            </a:endParaRPr>
          </a:p>
        </p:txBody>
      </p:sp>
      <p:sp>
        <p:nvSpPr>
          <p:cNvPr id="12" name="Text 10"/>
          <p:cNvSpPr/>
          <p:nvPr/>
        </p:nvSpPr>
        <p:spPr>
          <a:xfrm>
            <a:off x="6007033" y="2921000"/>
            <a:ext cx="5329939"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CDD3D8"/>
                </a:solidFill>
                <a:latin typeface="Arial" panose="020B0604020202020204" pitchFamily="34" charset="0"/>
                <a:ea typeface="Inter" pitchFamily="34" charset="-122"/>
                <a:cs typeface="Arial" panose="020B0604020202020204" pitchFamily="34" charset="0"/>
              </a:rPr>
              <a:t>A0</a:t>
            </a:r>
            <a:r>
              <a:rPr lang="en-US" sz="1100" dirty="0">
                <a:solidFill>
                  <a:srgbClr val="CDD3D8"/>
                </a:solidFill>
                <a:latin typeface="Arial" panose="020B0604020202020204" pitchFamily="34" charset="0"/>
                <a:ea typeface="Inter" pitchFamily="34" charset="-122"/>
                <a:cs typeface="Arial" panose="020B0604020202020204" pitchFamily="34" charset="0"/>
              </a:rPr>
              <a:t> — BCE plain (tách hiệu ứng pos_weight)</a:t>
            </a:r>
            <a:endParaRPr lang="en-US" sz="1100" dirty="0">
              <a:latin typeface="Arial" panose="020B0604020202020204" pitchFamily="34" charset="0"/>
              <a:cs typeface="Arial" panose="020B0604020202020204" pitchFamily="34" charset="0"/>
            </a:endParaRPr>
          </a:p>
        </p:txBody>
      </p:sp>
      <p:sp>
        <p:nvSpPr>
          <p:cNvPr id="13" name="Text 11"/>
          <p:cNvSpPr/>
          <p:nvPr/>
        </p:nvSpPr>
        <p:spPr>
          <a:xfrm>
            <a:off x="6007033" y="3166070"/>
            <a:ext cx="5329939"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CDD3D8"/>
                </a:solidFill>
                <a:latin typeface="Arial" panose="020B0604020202020204" pitchFamily="34" charset="0"/>
                <a:ea typeface="Inter" pitchFamily="34" charset="-122"/>
                <a:cs typeface="Arial" panose="020B0604020202020204" pitchFamily="34" charset="0"/>
              </a:rPr>
              <a:t>A</a:t>
            </a:r>
            <a:r>
              <a:rPr lang="en-US" sz="1100" dirty="0">
                <a:solidFill>
                  <a:srgbClr val="CDD3D8"/>
                </a:solidFill>
                <a:latin typeface="Arial" panose="020B0604020202020204" pitchFamily="34" charset="0"/>
                <a:ea typeface="Inter" pitchFamily="34" charset="-122"/>
                <a:cs typeface="Arial" panose="020B0604020202020204" pitchFamily="34" charset="0"/>
              </a:rPr>
              <a:t> — BCE + pos_weight (baseline theo paper)</a:t>
            </a:r>
            <a:endParaRPr lang="en-US" sz="1100" dirty="0">
              <a:latin typeface="Arial" panose="020B0604020202020204" pitchFamily="34" charset="0"/>
              <a:cs typeface="Arial" panose="020B0604020202020204" pitchFamily="34" charset="0"/>
            </a:endParaRPr>
          </a:p>
        </p:txBody>
      </p:sp>
      <p:sp>
        <p:nvSpPr>
          <p:cNvPr id="14" name="Text 12"/>
          <p:cNvSpPr/>
          <p:nvPr/>
        </p:nvSpPr>
        <p:spPr>
          <a:xfrm>
            <a:off x="6007033" y="3411141"/>
            <a:ext cx="5329939"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CDD3D8"/>
                </a:solidFill>
                <a:latin typeface="Arial" panose="020B0604020202020204" pitchFamily="34" charset="0"/>
                <a:ea typeface="Inter" pitchFamily="34" charset="-122"/>
                <a:cs typeface="Arial" panose="020B0604020202020204" pitchFamily="34" charset="0"/>
              </a:rPr>
              <a:t>B</a:t>
            </a:r>
            <a:r>
              <a:rPr lang="en-US" sz="1100" dirty="0">
                <a:solidFill>
                  <a:srgbClr val="CDD3D8"/>
                </a:solidFill>
                <a:latin typeface="Arial" panose="020B0604020202020204" pitchFamily="34" charset="0"/>
                <a:ea typeface="Inter" pitchFamily="34" charset="-122"/>
                <a:cs typeface="Arial" panose="020B0604020202020204" pitchFamily="34" charset="0"/>
              </a:rPr>
              <a:t> — BCE + pos_weight + per-label threshold</a:t>
            </a:r>
            <a:endParaRPr lang="en-US" sz="1100" dirty="0">
              <a:latin typeface="Arial" panose="020B0604020202020204" pitchFamily="34" charset="0"/>
              <a:cs typeface="Arial" panose="020B0604020202020204" pitchFamily="34" charset="0"/>
            </a:endParaRPr>
          </a:p>
        </p:txBody>
      </p:sp>
      <p:sp>
        <p:nvSpPr>
          <p:cNvPr id="15" name="Text 13"/>
          <p:cNvSpPr/>
          <p:nvPr/>
        </p:nvSpPr>
        <p:spPr>
          <a:xfrm>
            <a:off x="6007033" y="3656211"/>
            <a:ext cx="5329939"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CDD3D8"/>
                </a:solidFill>
                <a:latin typeface="Arial" panose="020B0604020202020204" pitchFamily="34" charset="0"/>
                <a:ea typeface="Inter" pitchFamily="34" charset="-122"/>
                <a:cs typeface="Arial" panose="020B0604020202020204" pitchFamily="34" charset="0"/>
              </a:rPr>
              <a:t>C</a:t>
            </a:r>
            <a:r>
              <a:rPr lang="en-US" sz="1100" dirty="0">
                <a:solidFill>
                  <a:srgbClr val="CDD3D8"/>
                </a:solidFill>
                <a:latin typeface="Arial" panose="020B0604020202020204" pitchFamily="34" charset="0"/>
                <a:ea typeface="Inter" pitchFamily="34" charset="-122"/>
                <a:cs typeface="Arial" panose="020B0604020202020204" pitchFamily="34" charset="0"/>
              </a:rPr>
              <a:t> — ASL only</a:t>
            </a:r>
            <a:endParaRPr lang="en-US" sz="1100" dirty="0">
              <a:latin typeface="Arial" panose="020B0604020202020204" pitchFamily="34" charset="0"/>
              <a:cs typeface="Arial" panose="020B0604020202020204" pitchFamily="34" charset="0"/>
            </a:endParaRPr>
          </a:p>
        </p:txBody>
      </p:sp>
      <p:sp>
        <p:nvSpPr>
          <p:cNvPr id="16" name="Text 14"/>
          <p:cNvSpPr/>
          <p:nvPr/>
        </p:nvSpPr>
        <p:spPr>
          <a:xfrm>
            <a:off x="6007033" y="3901281"/>
            <a:ext cx="5329939" cy="206970"/>
          </a:xfrm>
          <a:prstGeom prst="rect">
            <a:avLst/>
          </a:prstGeom>
          <a:noFill/>
        </p:spPr>
        <p:txBody>
          <a:bodyPr wrap="square" lIns="0" tIns="0" rIns="0" bIns="0" rtlCol="0" anchor="t">
            <a:normAutofit/>
          </a:bodyPr>
          <a:lstStyle/>
          <a:p>
            <a:pPr marL="0" indent="0" algn="l">
              <a:lnSpc>
                <a:spcPts val="1430"/>
              </a:lnSpc>
              <a:buNone/>
            </a:pPr>
            <a:r>
              <a:rPr lang="en-US" sz="1100" b="1" dirty="0">
                <a:solidFill>
                  <a:srgbClr val="CDD3D8"/>
                </a:solidFill>
                <a:latin typeface="Arial" panose="020B0604020202020204" pitchFamily="34" charset="0"/>
                <a:ea typeface="Inter" pitchFamily="34" charset="-122"/>
                <a:cs typeface="Arial" panose="020B0604020202020204" pitchFamily="34" charset="0"/>
              </a:rPr>
              <a:t>D</a:t>
            </a:r>
            <a:r>
              <a:rPr lang="en-US" sz="1100" dirty="0">
                <a:solidFill>
                  <a:srgbClr val="CDD3D8"/>
                </a:solidFill>
                <a:latin typeface="Arial" panose="020B0604020202020204" pitchFamily="34" charset="0"/>
                <a:ea typeface="Inter" pitchFamily="34" charset="-122"/>
                <a:cs typeface="Arial" panose="020B0604020202020204" pitchFamily="34" charset="0"/>
              </a:rPr>
              <a:t> — ASL + per-label threshold</a:t>
            </a:r>
            <a:endParaRPr lang="en-US" sz="1100" dirty="0">
              <a:latin typeface="Arial" panose="020B0604020202020204" pitchFamily="34" charset="0"/>
              <a:cs typeface="Arial" panose="020B0604020202020204" pitchFamily="34" charset="0"/>
            </a:endParaRPr>
          </a:p>
        </p:txBody>
      </p:sp>
      <p:sp>
        <p:nvSpPr>
          <p:cNvPr id="17" name="Shape 15"/>
          <p:cNvSpPr/>
          <p:nvPr/>
        </p:nvSpPr>
        <p:spPr>
          <a:xfrm>
            <a:off x="6007033" y="4146352"/>
            <a:ext cx="5174698" cy="473825"/>
          </a:xfrm>
          <a:prstGeom prst="roundRect">
            <a:avLst>
              <a:gd name="adj" fmla="val 10721"/>
            </a:avLst>
          </a:prstGeom>
          <a:solidFill>
            <a:srgbClr val="161B22"/>
          </a:solidFill>
        </p:spPr>
      </p:sp>
      <p:sp>
        <p:nvSpPr>
          <p:cNvPr id="18" name="Text 16"/>
          <p:cNvSpPr/>
          <p:nvPr/>
        </p:nvSpPr>
        <p:spPr>
          <a:xfrm>
            <a:off x="6108567" y="4209852"/>
            <a:ext cx="5120780" cy="372225"/>
          </a:xfrm>
          <a:prstGeom prst="rect">
            <a:avLst/>
          </a:prstGeom>
          <a:noFill/>
        </p:spPr>
        <p:txBody>
          <a:bodyPr wrap="square" lIns="0" tIns="0" rIns="0" bIns="0" rtlCol="0" anchor="t">
            <a:normAutofit/>
          </a:bodyPr>
          <a:lstStyle/>
          <a:p>
            <a:pPr marL="0" indent="0" algn="l">
              <a:lnSpc>
                <a:spcPts val="1365"/>
              </a:lnSpc>
              <a:buNone/>
            </a:pPr>
            <a:r>
              <a:rPr lang="en-US" sz="1050" dirty="0">
                <a:solidFill>
                  <a:srgbClr val="AAB3BD"/>
                </a:solidFill>
                <a:latin typeface="Arial" panose="020B0604020202020204" pitchFamily="34" charset="0"/>
                <a:ea typeface="Inter" pitchFamily="34" charset="-122"/>
                <a:cs typeface="Arial" panose="020B0604020202020204" pitchFamily="34" charset="0"/>
              </a:rPr>
              <a:t>Tất cả config: ViSoBERT, Scenario 1, 3+ seeds · Metrics: Macro F1, operational recall, per-label F1</a:t>
            </a:r>
            <a:endParaRPr lang="en-US" sz="1050" dirty="0">
              <a:solidFill>
                <a:srgbClr val="AAB3BD"/>
              </a:solidFill>
              <a:latin typeface="Arial" panose="020B0604020202020204" pitchFamily="34" charset="0"/>
              <a:ea typeface="Inter" pitchFamily="34" charset="-122"/>
              <a:cs typeface="Arial" panose="020B0604020202020204" pitchFamily="34" charset="0"/>
            </a:endParaRPr>
          </a:p>
        </p:txBody>
      </p:sp>
      <p:sp>
        <p:nvSpPr>
          <p:cNvPr id="19" name="Shape 17"/>
          <p:cNvSpPr/>
          <p:nvPr/>
        </p:nvSpPr>
        <p:spPr>
          <a:xfrm>
            <a:off x="812712" y="5179002"/>
            <a:ext cx="10566576" cy="663002"/>
          </a:xfrm>
          <a:prstGeom prst="roundRect">
            <a:avLst>
              <a:gd name="adj" fmla="val 7662"/>
            </a:avLst>
          </a:prstGeom>
          <a:solidFill>
            <a:srgbClr val="232C3D"/>
          </a:solidFill>
        </p:spPr>
      </p:sp>
      <p:sp>
        <p:nvSpPr>
          <p:cNvPr id="20" name="Shape 18"/>
          <p:cNvSpPr/>
          <p:nvPr/>
        </p:nvSpPr>
        <p:spPr>
          <a:xfrm>
            <a:off x="831762" y="5179002"/>
            <a:ext cx="0" cy="663002"/>
          </a:xfrm>
          <a:prstGeom prst="line">
            <a:avLst/>
          </a:prstGeom>
          <a:noFill/>
          <a:ln w="38100">
            <a:solidFill>
              <a:srgbClr val="7FD6C9"/>
            </a:solidFill>
            <a:prstDash val="solid"/>
          </a:ln>
        </p:spPr>
      </p:sp>
      <p:sp>
        <p:nvSpPr>
          <p:cNvPr id="21" name="Text 19"/>
          <p:cNvSpPr/>
          <p:nvPr/>
        </p:nvSpPr>
        <p:spPr>
          <a:xfrm>
            <a:off x="1013023" y="5306002"/>
            <a:ext cx="10507267" cy="434402"/>
          </a:xfrm>
          <a:prstGeom prst="rect">
            <a:avLst/>
          </a:prstGeom>
          <a:noFill/>
        </p:spPr>
        <p:txBody>
          <a:bodyPr wrap="square" lIns="0" tIns="0" rIns="0" bIns="0" rtlCol="0" anchor="t">
            <a:normAutofit/>
          </a:bodyPr>
          <a:lstStyle/>
          <a:p>
            <a:pPr marL="0" indent="0" algn="l">
              <a:lnSpc>
                <a:spcPts val="1610"/>
              </a:lnSpc>
              <a:buNone/>
            </a:pPr>
            <a:r>
              <a:rPr lang="en-US" sz="1150" dirty="0">
                <a:solidFill>
                  <a:srgbClr val="DDE3E6"/>
                </a:solidFill>
                <a:latin typeface="Arial" panose="020B0604020202020204" pitchFamily="34" charset="0"/>
                <a:ea typeface="Inter" pitchFamily="34" charset="-122"/>
                <a:cs typeface="Arial" panose="020B0604020202020204" pitchFamily="34" charset="0"/>
              </a:rPr>
              <a:t>Gap cụ thể và có thể kiểm định được. Không cần kiến trúc mới, với backbone là ViSoBERT xuyên suốt.</a:t>
            </a:r>
            <a:endParaRPr lang="en-US" sz="1150" dirty="0">
              <a:solidFill>
                <a:srgbClr val="DDE3E6"/>
              </a:solidFill>
              <a:latin typeface="Arial" panose="020B0604020202020204" pitchFamily="34" charset="0"/>
              <a:ea typeface="Inter" pitchFamily="34" charset="-122"/>
              <a:cs typeface="Arial" panose="020B0604020202020204" pitchFamily="34" charset="0"/>
            </a:endParaRPr>
          </a:p>
          <a:p>
            <a:pPr marL="0" indent="0" algn="l">
              <a:lnSpc>
                <a:spcPts val="1610"/>
              </a:lnSpc>
              <a:buNone/>
            </a:pPr>
            <a:r>
              <a:rPr lang="en-US" sz="1150" dirty="0">
                <a:solidFill>
                  <a:srgbClr val="DDE3E6"/>
                </a:solidFill>
                <a:latin typeface="Arial" panose="020B0604020202020204" pitchFamily="34" charset="0"/>
                <a:ea typeface="Inter" pitchFamily="34" charset="-122"/>
                <a:cs typeface="Arial" panose="020B0604020202020204" pitchFamily="34" charset="0"/>
              </a:rPr>
              <a:t>Applied Data Science framing: đánh giá hệ thống, không đề xuất phương pháp mới.</a:t>
            </a:r>
            <a:endParaRPr lang="en-US" sz="1150" dirty="0">
              <a:solidFill>
                <a:srgbClr val="DDE3E6"/>
              </a:solidFill>
              <a:latin typeface="Arial" panose="020B0604020202020204" pitchFamily="34" charset="0"/>
              <a:ea typeface="Inter" pitchFamily="34" charset="-122"/>
              <a:cs typeface="Arial" panose="020B0604020202020204" pitchFamily="34" charset="0"/>
            </a:endParaRPr>
          </a:p>
        </p:txBody>
      </p:sp>
      <p:sp>
        <p:nvSpPr>
          <p:cNvPr id="22" name="Text 20"/>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AAB3BD"/>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AAB3BD"/>
              </a:solidFill>
              <a:latin typeface="Arial" panose="020B0604020202020204" pitchFamily="34" charset="0"/>
              <a:ea typeface="Inter" pitchFamily="34" charset="-122"/>
              <a:cs typeface="Arial" panose="020B0604020202020204" pitchFamily="34" charset="0"/>
            </a:endParaRPr>
          </a:p>
        </p:txBody>
      </p:sp>
      <p:sp>
        <p:nvSpPr>
          <p:cNvPr id="23" name="Text 21"/>
          <p:cNvSpPr/>
          <p:nvPr/>
        </p:nvSpPr>
        <p:spPr>
          <a:xfrm>
            <a:off x="10953970" y="6238435"/>
            <a:ext cx="475897"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AAB3BD"/>
                </a:solidFill>
                <a:latin typeface="Arial" panose="020B0604020202020204" pitchFamily="34" charset="0"/>
                <a:ea typeface="Inter" pitchFamily="34" charset="-122"/>
                <a:cs typeface="Arial" panose="020B0604020202020204" pitchFamily="34" charset="0"/>
              </a:rPr>
              <a:t>11 / 14</a:t>
            </a:r>
            <a:endParaRPr lang="en-US" sz="1200" dirty="0">
              <a:solidFill>
                <a:srgbClr val="AAB3BD"/>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FEASIBILITY AND POSITIONING</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3"/>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Is This Project Achievable in 10 Weeks?</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64537"/>
            <a:ext cx="3414271" cy="3297303"/>
          </a:xfrm>
          <a:prstGeom prst="roundRect">
            <a:avLst>
              <a:gd name="adj" fmla="val 2985"/>
            </a:avLst>
          </a:prstGeom>
          <a:solidFill>
            <a:srgbClr val="FFFFFF"/>
          </a:solidFill>
          <a:ln w="6350">
            <a:solidFill>
              <a:srgbClr val="E1DDD2"/>
            </a:solidFill>
            <a:prstDash val="solid"/>
          </a:ln>
        </p:spPr>
      </p:sp>
      <p:sp>
        <p:nvSpPr>
          <p:cNvPr id="5" name="Text 3"/>
          <p:cNvSpPr/>
          <p:nvPr/>
        </p:nvSpPr>
        <p:spPr>
          <a:xfrm>
            <a:off x="997479" y="1833451"/>
            <a:ext cx="3142619"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161B22"/>
                </a:solidFill>
                <a:latin typeface="Arial" panose="020B0604020202020204" pitchFamily="34" charset="0"/>
                <a:ea typeface="Inter" pitchFamily="34" charset="-122"/>
                <a:cs typeface="Arial" panose="020B0604020202020204" pitchFamily="34" charset="0"/>
              </a:rPr>
              <a:t>Technical Feasibility</a:t>
            </a:r>
            <a:endParaRPr lang="en-US" sz="13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997479" y="2088666"/>
            <a:ext cx="3142619" cy="399565"/>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GPU: 6–8GB VRAM cho ViSoBERT fine-tune </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7" name="Text 5"/>
          <p:cNvSpPr/>
          <p:nvPr/>
        </p:nvSpPr>
        <p:spPr>
          <a:xfrm>
            <a:off x="998114" y="2368809"/>
            <a:ext cx="3142619" cy="212482"/>
          </a:xfrm>
          <a:prstGeom prst="rect">
            <a:avLst/>
          </a:prstGeom>
          <a:noFill/>
        </p:spPr>
        <p:txBody>
          <a:bodyPr wrap="square" lIns="0" tIns="0" rIns="0" bIns="0" rtlCol="0" anchor="t">
            <a:normAutofit fontScale="90000"/>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Runtime: </a:t>
            </a:r>
            <a:r>
              <a:rPr lang="en-US" altLang="en-US" sz="1100" dirty="0">
                <a:solidFill>
                  <a:srgbClr val="2B303A"/>
                </a:solidFill>
                <a:latin typeface="Arial" panose="020B0604020202020204" pitchFamily="34" charset="0"/>
                <a:ea typeface="Inter" pitchFamily="34" charset="-122"/>
                <a:cs typeface="Arial" panose="020B0604020202020204" pitchFamily="34" charset="0"/>
              </a:rPr>
              <a:t>“Runtime sẽ </a:t>
            </a:r>
            <a:r>
              <a:rPr lang="en-US" altLang="en-US" sz="1100" dirty="0">
                <a:solidFill>
                  <a:srgbClr val="2B303A"/>
                </a:solidFill>
                <a:latin typeface="Arial" panose="020B0604020202020204" pitchFamily="34" charset="0"/>
                <a:ea typeface="Inter" pitchFamily="34" charset="-122"/>
                <a:cs typeface="Arial" panose="020B0604020202020204" pitchFamily="34" charset="0"/>
              </a:rPr>
              <a:t>đư</a:t>
            </a:r>
            <a:r>
              <a:rPr lang="en-US" altLang="en-US" sz="1100" dirty="0">
                <a:solidFill>
                  <a:srgbClr val="2B303A"/>
                </a:solidFill>
                <a:latin typeface="Arial" panose="020B0604020202020204" pitchFamily="34" charset="0"/>
                <a:ea typeface="Inter" pitchFamily="34" charset="-122"/>
                <a:cs typeface="Arial" panose="020B0604020202020204" pitchFamily="34" charset="0"/>
              </a:rPr>
              <a:t>ợc </a:t>
            </a:r>
            <a:r>
              <a:rPr lang="en-US" altLang="en-US" sz="1100" dirty="0">
                <a:solidFill>
                  <a:srgbClr val="2B303A"/>
                </a:solidFill>
                <a:latin typeface="Arial" panose="020B0604020202020204" pitchFamily="34" charset="0"/>
                <a:ea typeface="Inter" pitchFamily="34" charset="-122"/>
                <a:cs typeface="Arial" panose="020B0604020202020204" pitchFamily="34" charset="0"/>
              </a:rPr>
              <a:t>đ</a:t>
            </a:r>
            <a:r>
              <a:rPr lang="en-US" altLang="en-US" sz="1100" dirty="0">
                <a:solidFill>
                  <a:srgbClr val="2B303A"/>
                </a:solidFill>
                <a:latin typeface="Arial" panose="020B0604020202020204" pitchFamily="34" charset="0"/>
                <a:ea typeface="Inter" pitchFamily="34" charset="-122"/>
                <a:cs typeface="Arial" panose="020B0604020202020204" pitchFamily="34" charset="0"/>
              </a:rPr>
              <a:t>o trong feasibility check.”</a:t>
            </a:r>
            <a:endParaRPr lang="en-US" alt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8" name="Text 6"/>
          <p:cNvSpPr/>
          <p:nvPr/>
        </p:nvSpPr>
        <p:spPr>
          <a:xfrm>
            <a:off x="998114" y="2642203"/>
            <a:ext cx="3142619" cy="212482"/>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5 config × 3 seed = ~15 lượt chạy</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998114" y="2892743"/>
            <a:ext cx="3142619" cy="212482"/>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Code: transformers + torch (stack chuẩn)</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0" name="Text 8"/>
          <p:cNvSpPr/>
          <p:nvPr/>
        </p:nvSpPr>
        <p:spPr>
          <a:xfrm>
            <a:off x="998114" y="3126137"/>
            <a:ext cx="3142619" cy="399565"/>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ASL: Threshold: grid search, không cần thư viện ngoài</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1" name="Shape 9"/>
          <p:cNvSpPr/>
          <p:nvPr/>
        </p:nvSpPr>
        <p:spPr>
          <a:xfrm>
            <a:off x="997479" y="4445112"/>
            <a:ext cx="3051087" cy="347817"/>
          </a:xfrm>
          <a:prstGeom prst="roundRect">
            <a:avLst>
              <a:gd name="adj" fmla="val 18257"/>
            </a:avLst>
          </a:prstGeom>
          <a:solidFill>
            <a:srgbClr val="E3EFEC"/>
          </a:solidFill>
        </p:spPr>
      </p:sp>
      <p:sp>
        <p:nvSpPr>
          <p:cNvPr id="12" name="Text 10"/>
          <p:cNvSpPr/>
          <p:nvPr/>
        </p:nvSpPr>
        <p:spPr>
          <a:xfrm>
            <a:off x="1111691" y="4521287"/>
            <a:ext cx="2907343" cy="220861"/>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5C53"/>
                </a:solidFill>
                <a:latin typeface="Arial" panose="020B0604020202020204" pitchFamily="34" charset="0"/>
                <a:ea typeface="Inter" pitchFamily="34" charset="-122"/>
                <a:cs typeface="Arial" panose="020B0604020202020204" pitchFamily="34" charset="0"/>
              </a:rPr>
              <a:t>VERDICT: Khả thi về kỹ thuật</a:t>
            </a:r>
            <a:endParaRPr lang="en-US" sz="11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3" name="Shape 11"/>
          <p:cNvSpPr/>
          <p:nvPr/>
        </p:nvSpPr>
        <p:spPr>
          <a:xfrm>
            <a:off x="4388864" y="1664537"/>
            <a:ext cx="3414271" cy="3297303"/>
          </a:xfrm>
          <a:prstGeom prst="roundRect">
            <a:avLst>
              <a:gd name="adj" fmla="val 2985"/>
            </a:avLst>
          </a:prstGeom>
          <a:solidFill>
            <a:srgbClr val="FFFFFF"/>
          </a:solidFill>
          <a:ln w="6350">
            <a:solidFill>
              <a:srgbClr val="E1DDD2"/>
            </a:solidFill>
            <a:prstDash val="solid"/>
          </a:ln>
        </p:spPr>
      </p:sp>
      <p:sp>
        <p:nvSpPr>
          <p:cNvPr id="14" name="Text 12"/>
          <p:cNvSpPr/>
          <p:nvPr/>
        </p:nvSpPr>
        <p:spPr>
          <a:xfrm>
            <a:off x="4570456" y="1833451"/>
            <a:ext cx="3142619"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161B22"/>
                </a:solidFill>
                <a:latin typeface="Arial" panose="020B0604020202020204" pitchFamily="34" charset="0"/>
                <a:ea typeface="Inter" pitchFamily="34" charset="-122"/>
                <a:cs typeface="Arial" panose="020B0604020202020204" pitchFamily="34" charset="0"/>
              </a:rPr>
              <a:t>Scope Feasibility</a:t>
            </a:r>
            <a:endParaRPr lang="en-US" sz="13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15" name="Text 13"/>
          <p:cNvSpPr/>
          <p:nvPr/>
        </p:nvSpPr>
        <p:spPr>
          <a:xfrm>
            <a:off x="4570456" y="2088666"/>
            <a:ext cx="3142619" cy="212482"/>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Dataset: ViGoEmotions có sẵn local</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6" name="Text 14"/>
          <p:cNvSpPr/>
          <p:nvPr/>
        </p:nvSpPr>
        <p:spPr>
          <a:xfrm>
            <a:off x="4570456" y="2332856"/>
            <a:ext cx="3142619" cy="212482"/>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Backbone: ViSoBERT trên HuggingFace</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7" name="Text 15"/>
          <p:cNvSpPr/>
          <p:nvPr/>
        </p:nvSpPr>
        <p:spPr>
          <a:xfrm>
            <a:off x="4570456" y="2577046"/>
            <a:ext cx="3142619" cy="212482"/>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Tiền xử lý: underthesea + ViLexNorm</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8" name="Text 16"/>
          <p:cNvSpPr/>
          <p:nvPr/>
        </p:nvSpPr>
        <p:spPr>
          <a:xfrm>
            <a:off x="4570456" y="2821229"/>
            <a:ext cx="3142619" cy="399565"/>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Timeline: 5×3 ở tuần 4–5, dự phòng 1 tuần cho rerun</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9" name="Text 17"/>
          <p:cNvSpPr/>
          <p:nvPr/>
        </p:nvSpPr>
        <p:spPr>
          <a:xfrm>
            <a:off x="4570456" y="3252502"/>
            <a:ext cx="3142619" cy="399565"/>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Fallback nếu GPU OOM: giảm batch size + gradient accumulation, fp16</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20" name="Shape 18"/>
          <p:cNvSpPr/>
          <p:nvPr/>
        </p:nvSpPr>
        <p:spPr>
          <a:xfrm>
            <a:off x="4570456" y="4445112"/>
            <a:ext cx="3051087" cy="347817"/>
          </a:xfrm>
          <a:prstGeom prst="roundRect">
            <a:avLst>
              <a:gd name="adj" fmla="val 18257"/>
            </a:avLst>
          </a:prstGeom>
          <a:solidFill>
            <a:srgbClr val="E3EFEC"/>
          </a:solidFill>
        </p:spPr>
      </p:sp>
      <p:sp>
        <p:nvSpPr>
          <p:cNvPr id="21" name="Text 19"/>
          <p:cNvSpPr/>
          <p:nvPr/>
        </p:nvSpPr>
        <p:spPr>
          <a:xfrm>
            <a:off x="4684668" y="4521287"/>
            <a:ext cx="2907343" cy="220861"/>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5C53"/>
                </a:solidFill>
                <a:latin typeface="Arial" panose="020B0604020202020204" pitchFamily="34" charset="0"/>
                <a:ea typeface="Inter" pitchFamily="34" charset="-122"/>
                <a:cs typeface="Arial" panose="020B0604020202020204" pitchFamily="34" charset="0"/>
              </a:rPr>
              <a:t>VERDICT: Khả thi trong timeline môn học</a:t>
            </a:r>
            <a:endParaRPr lang="en-US" sz="11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2" name="Shape 20"/>
          <p:cNvSpPr/>
          <p:nvPr/>
        </p:nvSpPr>
        <p:spPr>
          <a:xfrm>
            <a:off x="7961841" y="1664537"/>
            <a:ext cx="3414271" cy="3297303"/>
          </a:xfrm>
          <a:prstGeom prst="roundRect">
            <a:avLst>
              <a:gd name="adj" fmla="val 2985"/>
            </a:avLst>
          </a:prstGeom>
          <a:solidFill>
            <a:srgbClr val="FFFFFF"/>
          </a:solidFill>
          <a:ln w="6350">
            <a:solidFill>
              <a:srgbClr val="E1DDD2"/>
            </a:solidFill>
            <a:prstDash val="solid"/>
          </a:ln>
        </p:spPr>
      </p:sp>
      <p:sp>
        <p:nvSpPr>
          <p:cNvPr id="23" name="Text 21"/>
          <p:cNvSpPr/>
          <p:nvPr/>
        </p:nvSpPr>
        <p:spPr>
          <a:xfrm>
            <a:off x="8143433" y="1833451"/>
            <a:ext cx="3142619" cy="223507"/>
          </a:xfrm>
          <a:prstGeom prst="rect">
            <a:avLst/>
          </a:prstGeom>
          <a:noFill/>
        </p:spPr>
        <p:txBody>
          <a:bodyPr wrap="square" lIns="0" tIns="0" rIns="0" bIns="0" rtlCol="0" anchor="t">
            <a:normAutofit/>
          </a:bodyPr>
          <a:lstStyle/>
          <a:p>
            <a:pPr marL="0" indent="0" algn="l">
              <a:lnSpc>
                <a:spcPts val="1560"/>
              </a:lnSpc>
              <a:buNone/>
            </a:pPr>
            <a:r>
              <a:rPr lang="en-US" sz="1300" b="1" dirty="0">
                <a:solidFill>
                  <a:srgbClr val="161B22"/>
                </a:solidFill>
                <a:latin typeface="Arial" panose="020B0604020202020204" pitchFamily="34" charset="0"/>
                <a:ea typeface="Inter" pitchFamily="34" charset="-122"/>
                <a:cs typeface="Arial" panose="020B0604020202020204" pitchFamily="34" charset="0"/>
              </a:rPr>
              <a:t>Scope Boundaries</a:t>
            </a:r>
            <a:endParaRPr lang="en-US" sz="13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24" name="Text 22"/>
          <p:cNvSpPr/>
          <p:nvPr/>
        </p:nvSpPr>
        <p:spPr>
          <a:xfrm>
            <a:off x="8143433" y="2088666"/>
            <a:ext cx="3142619" cy="586647"/>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9C4A17"/>
                </a:solidFill>
                <a:latin typeface="Arial" panose="020B0604020202020204" pitchFamily="34" charset="0"/>
                <a:ea typeface="Inter" pitchFamily="34" charset="-122"/>
                <a:cs typeface="Arial" panose="020B0604020202020204" pitchFamily="34" charset="0"/>
              </a:rPr>
              <a:t>KHÔNG claim: kiến trúc mới / SOTA toàn benchmark / production / cross-platform study</a:t>
            </a:r>
            <a:endParaRPr lang="en-US" sz="1100" dirty="0">
              <a:solidFill>
                <a:srgbClr val="9C4A17"/>
              </a:solidFill>
              <a:latin typeface="Arial" panose="020B0604020202020204" pitchFamily="34" charset="0"/>
              <a:ea typeface="Inter" pitchFamily="34" charset="-122"/>
              <a:cs typeface="Arial" panose="020B0604020202020204" pitchFamily="34" charset="0"/>
            </a:endParaRPr>
          </a:p>
        </p:txBody>
      </p:sp>
      <p:sp>
        <p:nvSpPr>
          <p:cNvPr id="25" name="Text 23"/>
          <p:cNvSpPr/>
          <p:nvPr/>
        </p:nvSpPr>
        <p:spPr>
          <a:xfrm>
            <a:off x="8143433" y="2707022"/>
            <a:ext cx="3142619" cy="586647"/>
          </a:xfrm>
          <a:prstGeom prst="rect">
            <a:avLst/>
          </a:prstGeom>
          <a:noFill/>
        </p:spPr>
        <p:txBody>
          <a:bodyPr wrap="square" lIns="0" tIns="0" rIns="0" bIns="0" rtlCol="0" anchor="t">
            <a:normAutofit/>
          </a:bodyPr>
          <a:lstStyle/>
          <a:p>
            <a:pPr marL="0" indent="0" algn="l">
              <a:lnSpc>
                <a:spcPts val="1475"/>
              </a:lnSpc>
              <a:buNone/>
            </a:pPr>
            <a:r>
              <a:rPr lang="en-US" sz="1100" dirty="0">
                <a:solidFill>
                  <a:srgbClr val="0B5C53"/>
                </a:solidFill>
                <a:latin typeface="Arial" panose="020B0604020202020204" pitchFamily="34" charset="0"/>
                <a:ea typeface="Inter" pitchFamily="34" charset="-122"/>
                <a:cs typeface="Arial" panose="020B0604020202020204" pitchFamily="34" charset="0"/>
              </a:rPr>
              <a:t>CLAIM: ablation có kiểm soát / bằng chứng về trade-off / pipeline tái lập được / demo Streamlit</a:t>
            </a:r>
            <a:endParaRPr lang="en-US" sz="1100"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6" name="Shape 24"/>
          <p:cNvSpPr/>
          <p:nvPr/>
        </p:nvSpPr>
        <p:spPr>
          <a:xfrm>
            <a:off x="8143433" y="4249651"/>
            <a:ext cx="3051087" cy="543278"/>
          </a:xfrm>
          <a:prstGeom prst="roundRect">
            <a:avLst>
              <a:gd name="adj" fmla="val 11688"/>
            </a:avLst>
          </a:prstGeom>
          <a:solidFill>
            <a:srgbClr val="E3EFEC"/>
          </a:solidFill>
        </p:spPr>
      </p:sp>
      <p:sp>
        <p:nvSpPr>
          <p:cNvPr id="27" name="Text 25"/>
          <p:cNvSpPr/>
          <p:nvPr/>
        </p:nvSpPr>
        <p:spPr>
          <a:xfrm>
            <a:off x="8257646" y="4325826"/>
            <a:ext cx="2907343" cy="416322"/>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0B5C53"/>
                </a:solidFill>
                <a:latin typeface="Arial" panose="020B0604020202020204" pitchFamily="34" charset="0"/>
                <a:ea typeface="Inter" pitchFamily="34" charset="-122"/>
                <a:cs typeface="Arial" panose="020B0604020202020204" pitchFamily="34" charset="0"/>
              </a:rPr>
              <a:t>VERDICT: Applied DS framing để đánh giá trade-off</a:t>
            </a:r>
            <a:endParaRPr lang="en-US" sz="11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8" name="Shape 26"/>
          <p:cNvSpPr/>
          <p:nvPr/>
        </p:nvSpPr>
        <p:spPr>
          <a:xfrm>
            <a:off x="812712" y="5130050"/>
            <a:ext cx="10566576" cy="711950"/>
          </a:xfrm>
          <a:prstGeom prst="roundRect">
            <a:avLst>
              <a:gd name="adj" fmla="val 7135"/>
            </a:avLst>
          </a:prstGeom>
          <a:solidFill>
            <a:srgbClr val="E3EFEC"/>
          </a:solidFill>
        </p:spPr>
      </p:sp>
      <p:sp>
        <p:nvSpPr>
          <p:cNvPr id="29" name="Shape 27"/>
          <p:cNvSpPr/>
          <p:nvPr/>
        </p:nvSpPr>
        <p:spPr>
          <a:xfrm>
            <a:off x="831762" y="5130050"/>
            <a:ext cx="0" cy="711950"/>
          </a:xfrm>
          <a:prstGeom prst="line">
            <a:avLst/>
          </a:prstGeom>
          <a:noFill/>
          <a:ln w="38100">
            <a:solidFill>
              <a:srgbClr val="0E6F64"/>
            </a:solidFill>
            <a:prstDash val="solid"/>
          </a:ln>
        </p:spPr>
      </p:sp>
      <p:sp>
        <p:nvSpPr>
          <p:cNvPr id="30" name="Text 28"/>
          <p:cNvSpPr/>
          <p:nvPr/>
        </p:nvSpPr>
        <p:spPr>
          <a:xfrm>
            <a:off x="1025701" y="5269731"/>
            <a:ext cx="10481150" cy="457994"/>
          </a:xfrm>
          <a:prstGeom prst="rect">
            <a:avLst/>
          </a:prstGeom>
          <a:noFill/>
        </p:spPr>
        <p:txBody>
          <a:bodyPr wrap="square" lIns="0" tIns="0" rIns="0" bIns="0" rtlCol="0" anchor="t">
            <a:normAutofit/>
          </a:bodyPr>
          <a:lstStyle/>
          <a:p>
            <a:pPr marL="0" indent="0" algn="l">
              <a:lnSpc>
                <a:spcPts val="1705"/>
              </a:lnSpc>
              <a:buNone/>
            </a:pPr>
            <a:r>
              <a:rPr lang="en-US" sz="1200" dirty="0">
                <a:solidFill>
                  <a:srgbClr val="1A2E2A"/>
                </a:solidFill>
                <a:latin typeface="Arial" panose="020B0604020202020204" pitchFamily="34" charset="0"/>
                <a:ea typeface="Inter" pitchFamily="34" charset="-122"/>
                <a:cs typeface="Arial" panose="020B0604020202020204" pitchFamily="34" charset="0"/>
              </a:rPr>
              <a:t>Tính khả thi được xác nhận trên 3 khía cạnh: kỹ thuật, phạm vi, và framing. Rủi ro: VRAM OOM đã có kế hoạch giảm thiểu.</a:t>
            </a:r>
            <a:endParaRPr lang="en-US" sz="120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31" name="Text 29"/>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32" name="Text 30"/>
          <p:cNvSpPr/>
          <p:nvPr/>
        </p:nvSpPr>
        <p:spPr>
          <a:xfrm>
            <a:off x="10922991" y="6238435"/>
            <a:ext cx="50687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12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12" y="812713"/>
            <a:ext cx="10883573"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RESEARCH QUESTIONS AND NEXT STEPS</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3" name="Text 1"/>
          <p:cNvSpPr/>
          <p:nvPr/>
        </p:nvSpPr>
        <p:spPr>
          <a:xfrm>
            <a:off x="812712" y="1102103"/>
            <a:ext cx="10883573" cy="419629"/>
          </a:xfrm>
          <a:prstGeom prst="rect">
            <a:avLst/>
          </a:prstGeom>
          <a:noFill/>
        </p:spPr>
        <p:txBody>
          <a:bodyPr wrap="square" lIns="0" tIns="0" rIns="0" bIns="0" rtlCol="0" anchor="t">
            <a:normAutofit/>
          </a:bodyPr>
          <a:lstStyle/>
          <a:p>
            <a:pPr marL="0" indent="0" algn="l">
              <a:lnSpc>
                <a:spcPts val="3105"/>
              </a:lnSpc>
              <a:buNone/>
            </a:pPr>
            <a:r>
              <a:rPr lang="en-US" sz="2700" b="1" dirty="0">
                <a:solidFill>
                  <a:srgbClr val="161B22"/>
                </a:solidFill>
                <a:latin typeface="Arial" panose="020B0604020202020204" pitchFamily="34" charset="0"/>
                <a:ea typeface="Source Serif 4" pitchFamily="34" charset="-122"/>
                <a:cs typeface="Arial" panose="020B0604020202020204" pitchFamily="34" charset="0"/>
              </a:rPr>
              <a:t>From Survey to Experiment</a:t>
            </a:r>
            <a:endParaRPr lang="en-US" sz="2700" b="1" dirty="0">
              <a:solidFill>
                <a:srgbClr val="161B22"/>
              </a:solidFill>
              <a:latin typeface="Arial" panose="020B0604020202020204" pitchFamily="34" charset="0"/>
              <a:ea typeface="Source Serif 4" pitchFamily="34" charset="-122"/>
              <a:cs typeface="Arial" panose="020B0604020202020204" pitchFamily="34" charset="0"/>
            </a:endParaRPr>
          </a:p>
        </p:txBody>
      </p:sp>
      <p:sp>
        <p:nvSpPr>
          <p:cNvPr id="4" name="Shape 2"/>
          <p:cNvSpPr/>
          <p:nvPr/>
        </p:nvSpPr>
        <p:spPr>
          <a:xfrm>
            <a:off x="815887" y="1664537"/>
            <a:ext cx="3414271" cy="1120885"/>
          </a:xfrm>
          <a:prstGeom prst="roundRect">
            <a:avLst>
              <a:gd name="adj" fmla="val 7648"/>
            </a:avLst>
          </a:prstGeom>
          <a:solidFill>
            <a:srgbClr val="FFFFFF"/>
          </a:solidFill>
          <a:ln w="6350">
            <a:solidFill>
              <a:srgbClr val="E1DDD2"/>
            </a:solidFill>
            <a:prstDash val="solid"/>
          </a:ln>
        </p:spPr>
      </p:sp>
      <p:sp>
        <p:nvSpPr>
          <p:cNvPr id="5" name="Text 3"/>
          <p:cNvSpPr/>
          <p:nvPr/>
        </p:nvSpPr>
        <p:spPr>
          <a:xfrm>
            <a:off x="984801" y="1808100"/>
            <a:ext cx="3168736"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RQ1</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6" name="Text 4"/>
          <p:cNvSpPr/>
          <p:nvPr/>
        </p:nvSpPr>
        <p:spPr>
          <a:xfrm>
            <a:off x="984801" y="2072022"/>
            <a:ext cx="3168736" cy="595246"/>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Các nhãn cảm xúc (28 nhãn) phân bố thế nào theo trục hiếm / khó / mơ hồ / quan trọng vận hành?</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7" name="Shape 5"/>
          <p:cNvSpPr/>
          <p:nvPr/>
        </p:nvSpPr>
        <p:spPr>
          <a:xfrm>
            <a:off x="4388864" y="1664537"/>
            <a:ext cx="3414271" cy="1120885"/>
          </a:xfrm>
          <a:prstGeom prst="roundRect">
            <a:avLst>
              <a:gd name="adj" fmla="val 7648"/>
            </a:avLst>
          </a:prstGeom>
          <a:solidFill>
            <a:srgbClr val="FFFFFF"/>
          </a:solidFill>
          <a:ln w="6350">
            <a:solidFill>
              <a:srgbClr val="E1DDD2"/>
            </a:solidFill>
            <a:prstDash val="solid"/>
          </a:ln>
        </p:spPr>
      </p:sp>
      <p:sp>
        <p:nvSpPr>
          <p:cNvPr id="8" name="Text 6"/>
          <p:cNvSpPr/>
          <p:nvPr/>
        </p:nvSpPr>
        <p:spPr>
          <a:xfrm>
            <a:off x="4557778" y="1808100"/>
            <a:ext cx="3168736"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RQ2 </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9" name="Text 7"/>
          <p:cNvSpPr/>
          <p:nvPr/>
        </p:nvSpPr>
        <p:spPr>
          <a:xfrm>
            <a:off x="4557778" y="2072022"/>
            <a:ext cx="3168736" cy="595246"/>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ASL (training-level) và per-label threshold (decision-level) khác nhau thế nào về trade-off Macro F1 vs. operational recall?</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0" name="Shape 8"/>
          <p:cNvSpPr/>
          <p:nvPr/>
        </p:nvSpPr>
        <p:spPr>
          <a:xfrm>
            <a:off x="7961841" y="1664537"/>
            <a:ext cx="3414271" cy="1120885"/>
          </a:xfrm>
          <a:prstGeom prst="roundRect">
            <a:avLst>
              <a:gd name="adj" fmla="val 7648"/>
            </a:avLst>
          </a:prstGeom>
          <a:solidFill>
            <a:srgbClr val="FFFFFF"/>
          </a:solidFill>
          <a:ln w="6350">
            <a:solidFill>
              <a:srgbClr val="E1DDD2"/>
            </a:solidFill>
            <a:prstDash val="solid"/>
          </a:ln>
        </p:spPr>
      </p:sp>
      <p:sp>
        <p:nvSpPr>
          <p:cNvPr id="11" name="Text 9"/>
          <p:cNvSpPr/>
          <p:nvPr/>
        </p:nvSpPr>
        <p:spPr>
          <a:xfrm>
            <a:off x="8130756" y="1808100"/>
            <a:ext cx="3168736" cy="23861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0B5C53"/>
                </a:solidFill>
                <a:latin typeface="Arial" panose="020B0604020202020204" pitchFamily="34" charset="0"/>
                <a:ea typeface="Inter" pitchFamily="34" charset="-122"/>
                <a:cs typeface="Arial" panose="020B0604020202020204" pitchFamily="34" charset="0"/>
              </a:rPr>
              <a:t>RQ3 </a:t>
            </a:r>
            <a:endParaRPr lang="en-US" sz="120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2" name="Text 10"/>
          <p:cNvSpPr/>
          <p:nvPr/>
        </p:nvSpPr>
        <p:spPr>
          <a:xfrm>
            <a:off x="8130756" y="2072022"/>
            <a:ext cx="3168736" cy="405298"/>
          </a:xfrm>
          <a:prstGeom prst="rect">
            <a:avLst/>
          </a:prstGeom>
          <a:noFill/>
        </p:spPr>
        <p:txBody>
          <a:bodyPr wrap="square" lIns="0" tIns="0" rIns="0" bIns="0" rtlCol="0" anchor="t">
            <a:normAutofit/>
          </a:bodyPr>
          <a:lstStyle/>
          <a:p>
            <a:pPr marL="0" indent="0" algn="l">
              <a:lnSpc>
                <a:spcPts val="1495"/>
              </a:lnSpc>
              <a:buNone/>
            </a:pPr>
            <a:r>
              <a:rPr lang="en-US" sz="1100" dirty="0">
                <a:solidFill>
                  <a:srgbClr val="2B303A"/>
                </a:solidFill>
                <a:latin typeface="Arial" panose="020B0604020202020204" pitchFamily="34" charset="0"/>
                <a:ea typeface="Inter" pitchFamily="34" charset="-122"/>
                <a:cs typeface="Arial" panose="020B0604020202020204" pitchFamily="34" charset="0"/>
              </a:rPr>
              <a:t>Các đánh đổi này ổn định thế nào qua các kịch bản tiền xử lý và random seed?</a:t>
            </a:r>
            <a:endParaRPr lang="en-US" sz="1100" dirty="0">
              <a:solidFill>
                <a:srgbClr val="2B303A"/>
              </a:solidFill>
              <a:latin typeface="Arial" panose="020B0604020202020204" pitchFamily="34" charset="0"/>
              <a:ea typeface="Inter" pitchFamily="34" charset="-122"/>
              <a:cs typeface="Arial" panose="020B0604020202020204" pitchFamily="34" charset="0"/>
            </a:endParaRPr>
          </a:p>
        </p:txBody>
      </p:sp>
      <p:sp>
        <p:nvSpPr>
          <p:cNvPr id="13" name="Shape 11"/>
          <p:cNvSpPr/>
          <p:nvPr/>
        </p:nvSpPr>
        <p:spPr>
          <a:xfrm>
            <a:off x="812712" y="2953631"/>
            <a:ext cx="3420621" cy="848651"/>
          </a:xfrm>
          <a:prstGeom prst="roundRect">
            <a:avLst>
              <a:gd name="adj" fmla="val 10475"/>
            </a:avLst>
          </a:prstGeom>
          <a:solidFill>
            <a:srgbClr val="E3EFEC"/>
          </a:solidFill>
        </p:spPr>
      </p:sp>
      <p:sp>
        <p:nvSpPr>
          <p:cNvPr id="14" name="Text 12"/>
          <p:cNvSpPr/>
          <p:nvPr/>
        </p:nvSpPr>
        <p:spPr>
          <a:xfrm>
            <a:off x="977746" y="3080631"/>
            <a:ext cx="3183270" cy="22990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5C53"/>
                </a:solidFill>
                <a:latin typeface="Arial" panose="020B0604020202020204" pitchFamily="34" charset="0"/>
                <a:ea typeface="Inter" pitchFamily="34" charset="-122"/>
                <a:cs typeface="Arial" panose="020B0604020202020204" pitchFamily="34" charset="0"/>
              </a:rPr>
              <a:t>1. Data audit</a:t>
            </a:r>
            <a:endParaRPr lang="en-US" sz="115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5" name="Text 13"/>
          <p:cNvSpPr/>
          <p:nvPr/>
        </p:nvSpPr>
        <p:spPr>
          <a:xfrm>
            <a:off x="977746" y="3323171"/>
            <a:ext cx="3183270" cy="377516"/>
          </a:xfrm>
          <a:prstGeom prst="rect">
            <a:avLst/>
          </a:prstGeom>
          <a:noFill/>
        </p:spPr>
        <p:txBody>
          <a:bodyPr wrap="square" lIns="0" tIns="0" rIns="0" bIns="0" rtlCol="0" anchor="t">
            <a:normAutofit/>
          </a:bodyPr>
          <a:lstStyle/>
          <a:p>
            <a:pPr marL="0" indent="0" algn="l">
              <a:lnSpc>
                <a:spcPts val="1385"/>
              </a:lnSpc>
              <a:buNone/>
            </a:pPr>
            <a:r>
              <a:rPr lang="en-US" sz="1050" dirty="0">
                <a:solidFill>
                  <a:srgbClr val="1A2E2A"/>
                </a:solidFill>
                <a:latin typeface="Arial" panose="020B0604020202020204" pitchFamily="34" charset="0"/>
                <a:ea typeface="Inter" pitchFamily="34" charset="-122"/>
                <a:cs typeface="Arial" panose="020B0604020202020204" pitchFamily="34" charset="0"/>
              </a:rPr>
              <a:t>Kiểm tra schema, nhãn, kích thước split, trùng lặp, metadata platform</a:t>
            </a:r>
            <a:endParaRPr lang="en-US" sz="10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6" name="Shape 14"/>
          <p:cNvSpPr/>
          <p:nvPr/>
        </p:nvSpPr>
        <p:spPr>
          <a:xfrm>
            <a:off x="4385689" y="2953631"/>
            <a:ext cx="3420621" cy="848651"/>
          </a:xfrm>
          <a:prstGeom prst="roundRect">
            <a:avLst>
              <a:gd name="adj" fmla="val 10475"/>
            </a:avLst>
          </a:prstGeom>
          <a:solidFill>
            <a:srgbClr val="E3EFEC"/>
          </a:solidFill>
        </p:spPr>
      </p:sp>
      <p:sp>
        <p:nvSpPr>
          <p:cNvPr id="17" name="Text 15"/>
          <p:cNvSpPr/>
          <p:nvPr/>
        </p:nvSpPr>
        <p:spPr>
          <a:xfrm>
            <a:off x="4550723" y="3080631"/>
            <a:ext cx="3183270" cy="22990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5C53"/>
                </a:solidFill>
                <a:latin typeface="Arial" panose="020B0604020202020204" pitchFamily="34" charset="0"/>
                <a:ea typeface="Inter" pitchFamily="34" charset="-122"/>
                <a:cs typeface="Arial" panose="020B0604020202020204" pitchFamily="34" charset="0"/>
              </a:rPr>
              <a:t>2. Feasibility check</a:t>
            </a:r>
            <a:endParaRPr lang="en-US" sz="115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18" name="Text 16"/>
          <p:cNvSpPr/>
          <p:nvPr/>
        </p:nvSpPr>
        <p:spPr>
          <a:xfrm>
            <a:off x="4550723" y="3323171"/>
            <a:ext cx="3183270" cy="377516"/>
          </a:xfrm>
          <a:prstGeom prst="rect">
            <a:avLst/>
          </a:prstGeom>
          <a:noFill/>
        </p:spPr>
        <p:txBody>
          <a:bodyPr wrap="square" lIns="0" tIns="0" rIns="0" bIns="0" rtlCol="0" anchor="t">
            <a:normAutofit/>
          </a:bodyPr>
          <a:lstStyle/>
          <a:p>
            <a:pPr marL="0" indent="0" algn="l">
              <a:lnSpc>
                <a:spcPts val="1385"/>
              </a:lnSpc>
              <a:buNone/>
            </a:pPr>
            <a:r>
              <a:rPr lang="en-US" sz="1050" dirty="0">
                <a:solidFill>
                  <a:srgbClr val="1A2E2A"/>
                </a:solidFill>
                <a:latin typeface="Arial" panose="020B0604020202020204" pitchFamily="34" charset="0"/>
                <a:ea typeface="Inter" pitchFamily="34" charset="-122"/>
                <a:cs typeface="Arial" panose="020B0604020202020204" pitchFamily="34" charset="0"/>
              </a:rPr>
              <a:t>Forward + backward pass, VRAM, runtime / batch</a:t>
            </a:r>
            <a:endParaRPr lang="en-US" sz="10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19" name="Shape 17"/>
          <p:cNvSpPr/>
          <p:nvPr/>
        </p:nvSpPr>
        <p:spPr>
          <a:xfrm>
            <a:off x="7958666" y="2953631"/>
            <a:ext cx="3420621" cy="848651"/>
          </a:xfrm>
          <a:prstGeom prst="roundRect">
            <a:avLst>
              <a:gd name="adj" fmla="val 10475"/>
            </a:avLst>
          </a:prstGeom>
          <a:solidFill>
            <a:srgbClr val="E3EFEC"/>
          </a:solidFill>
        </p:spPr>
      </p:sp>
      <p:sp>
        <p:nvSpPr>
          <p:cNvPr id="20" name="Text 18"/>
          <p:cNvSpPr/>
          <p:nvPr/>
        </p:nvSpPr>
        <p:spPr>
          <a:xfrm>
            <a:off x="8123700" y="3080631"/>
            <a:ext cx="3183270" cy="229901"/>
          </a:xfrm>
          <a:prstGeom prst="rect">
            <a:avLst/>
          </a:prstGeom>
          <a:noFill/>
        </p:spPr>
        <p:txBody>
          <a:bodyPr wrap="square" lIns="0" tIns="0" rIns="0" bIns="0" rtlCol="0" anchor="t">
            <a:normAutofit/>
          </a:bodyPr>
          <a:lstStyle/>
          <a:p>
            <a:pPr marL="0" indent="0" algn="l">
              <a:lnSpc>
                <a:spcPts val="1610"/>
              </a:lnSpc>
              <a:buNone/>
            </a:pPr>
            <a:r>
              <a:rPr lang="en-US" sz="1150" b="1" dirty="0">
                <a:solidFill>
                  <a:srgbClr val="0B5C53"/>
                </a:solidFill>
                <a:latin typeface="Arial" panose="020B0604020202020204" pitchFamily="34" charset="0"/>
                <a:ea typeface="Inter" pitchFamily="34" charset="-122"/>
                <a:cs typeface="Arial" panose="020B0604020202020204" pitchFamily="34" charset="0"/>
              </a:rPr>
              <a:t>3. Paper-aligned baseline</a:t>
            </a:r>
            <a:endParaRPr lang="en-US" sz="1150" b="1" dirty="0">
              <a:solidFill>
                <a:srgbClr val="0B5C53"/>
              </a:solidFill>
              <a:latin typeface="Arial" panose="020B0604020202020204" pitchFamily="34" charset="0"/>
              <a:ea typeface="Inter" pitchFamily="34" charset="-122"/>
              <a:cs typeface="Arial" panose="020B0604020202020204" pitchFamily="34" charset="0"/>
            </a:endParaRPr>
          </a:p>
        </p:txBody>
      </p:sp>
      <p:sp>
        <p:nvSpPr>
          <p:cNvPr id="21" name="Text 19"/>
          <p:cNvSpPr/>
          <p:nvPr/>
        </p:nvSpPr>
        <p:spPr>
          <a:xfrm>
            <a:off x="8123700" y="3323171"/>
            <a:ext cx="3183270" cy="377516"/>
          </a:xfrm>
          <a:prstGeom prst="rect">
            <a:avLst/>
          </a:prstGeom>
          <a:noFill/>
        </p:spPr>
        <p:txBody>
          <a:bodyPr wrap="square" lIns="0" tIns="0" rIns="0" bIns="0" rtlCol="0" anchor="t">
            <a:normAutofit/>
          </a:bodyPr>
          <a:lstStyle/>
          <a:p>
            <a:pPr marL="0" indent="0" algn="l">
              <a:lnSpc>
                <a:spcPts val="1385"/>
              </a:lnSpc>
              <a:buNone/>
            </a:pPr>
            <a:r>
              <a:rPr lang="en-US" sz="1050" dirty="0">
                <a:solidFill>
                  <a:srgbClr val="1A2E2A"/>
                </a:solidFill>
                <a:latin typeface="Arial" panose="020B0604020202020204" pitchFamily="34" charset="0"/>
                <a:ea typeface="Inter" pitchFamily="34" charset="-122"/>
                <a:cs typeface="Arial" panose="020B0604020202020204" pitchFamily="34" charset="0"/>
              </a:rPr>
              <a:t>ViSoBERT Config A, seed 42, mục tiêu ~61.50% F1-macro</a:t>
            </a:r>
            <a:endParaRPr lang="en-US" sz="1050" dirty="0">
              <a:solidFill>
                <a:srgbClr val="1A2E2A"/>
              </a:solidFill>
              <a:latin typeface="Arial" panose="020B0604020202020204" pitchFamily="34" charset="0"/>
              <a:ea typeface="Inter" pitchFamily="34" charset="-122"/>
              <a:cs typeface="Arial" panose="020B0604020202020204" pitchFamily="34" charset="0"/>
            </a:endParaRPr>
          </a:p>
        </p:txBody>
      </p:sp>
      <p:sp>
        <p:nvSpPr>
          <p:cNvPr id="22" name="Shape 20"/>
          <p:cNvSpPr/>
          <p:nvPr/>
        </p:nvSpPr>
        <p:spPr>
          <a:xfrm>
            <a:off x="815887" y="3970493"/>
            <a:ext cx="10560226" cy="1136870"/>
          </a:xfrm>
          <a:prstGeom prst="roundRect">
            <a:avLst>
              <a:gd name="adj" fmla="val 7540"/>
            </a:avLst>
          </a:prstGeom>
          <a:solidFill>
            <a:srgbClr val="FFFFFF"/>
          </a:solidFill>
          <a:ln w="6350">
            <a:solidFill>
              <a:srgbClr val="E1DDD2"/>
            </a:solidFill>
            <a:prstDash val="solid"/>
          </a:ln>
        </p:spPr>
      </p:sp>
      <p:sp>
        <p:nvSpPr>
          <p:cNvPr id="23" name="Text 21"/>
          <p:cNvSpPr/>
          <p:nvPr/>
        </p:nvSpPr>
        <p:spPr>
          <a:xfrm>
            <a:off x="997479" y="4101374"/>
            <a:ext cx="10502952" cy="220861"/>
          </a:xfrm>
          <a:prstGeom prst="rect">
            <a:avLst/>
          </a:prstGeom>
          <a:noFill/>
        </p:spPr>
        <p:txBody>
          <a:bodyPr wrap="square" lIns="0" tIns="0" rIns="0" bIns="0" rtlCol="0" anchor="t">
            <a:normAutofit/>
          </a:bodyPr>
          <a:lstStyle/>
          <a:p>
            <a:pPr marL="0" indent="0" algn="l">
              <a:lnSpc>
                <a:spcPts val="1540"/>
              </a:lnSpc>
              <a:buNone/>
            </a:pPr>
            <a:r>
              <a:rPr lang="en-US" sz="1100" b="1" dirty="0">
                <a:solidFill>
                  <a:srgbClr val="161B22"/>
                </a:solidFill>
                <a:latin typeface="Arial" panose="020B0604020202020204" pitchFamily="34" charset="0"/>
                <a:ea typeface="Inter" pitchFamily="34" charset="-122"/>
                <a:cs typeface="Arial" panose="020B0604020202020204" pitchFamily="34" charset="0"/>
              </a:rPr>
              <a:t>Key References</a:t>
            </a:r>
            <a:endParaRPr lang="en-US" sz="1100" b="1" dirty="0">
              <a:solidFill>
                <a:srgbClr val="161B22"/>
              </a:solidFill>
              <a:latin typeface="Arial" panose="020B0604020202020204" pitchFamily="34" charset="0"/>
              <a:ea typeface="Inter" pitchFamily="34" charset="-122"/>
              <a:cs typeface="Arial" panose="020B0604020202020204" pitchFamily="34" charset="0"/>
            </a:endParaRPr>
          </a:p>
        </p:txBody>
      </p:sp>
      <p:sp>
        <p:nvSpPr>
          <p:cNvPr id="24" name="Text 22"/>
          <p:cNvSpPr/>
          <p:nvPr/>
        </p:nvSpPr>
        <p:spPr>
          <a:xfrm>
            <a:off x="997479" y="4360335"/>
            <a:ext cx="5120666" cy="205427"/>
          </a:xfrm>
          <a:prstGeom prst="rect">
            <a:avLst/>
          </a:prstGeom>
          <a:noFill/>
        </p:spPr>
        <p:txBody>
          <a:bodyPr wrap="square" lIns="0" tIns="0" rIns="0" bIns="0" rtlCol="0" anchor="t">
            <a:normAutofit/>
          </a:bodyPr>
          <a:lstStyle/>
          <a:p>
            <a:pPr marL="0" indent="0" algn="l">
              <a:lnSpc>
                <a:spcPts val="1420"/>
              </a:lnSpc>
              <a:buNone/>
            </a:pPr>
            <a:r>
              <a:rPr lang="en-US" sz="1050" dirty="0">
                <a:solidFill>
                  <a:srgbClr val="454B54"/>
                </a:solidFill>
                <a:latin typeface="Arial" panose="020B0604020202020204" pitchFamily="34" charset="0"/>
                <a:ea typeface="Inter" pitchFamily="34" charset="-122"/>
                <a:cs typeface="Arial" panose="020B0604020202020204" pitchFamily="34" charset="0"/>
              </a:rPr>
              <a:t>Nguyen et al. (2026), EACL — ViGoEmotions</a:t>
            </a: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5" name="Text 23"/>
          <p:cNvSpPr/>
          <p:nvPr/>
        </p:nvSpPr>
        <p:spPr>
          <a:xfrm>
            <a:off x="997479" y="4578393"/>
            <a:ext cx="5120666" cy="205427"/>
          </a:xfrm>
          <a:prstGeom prst="rect">
            <a:avLst/>
          </a:prstGeom>
          <a:noFill/>
        </p:spPr>
        <p:txBody>
          <a:bodyPr wrap="square" lIns="0" tIns="0" rIns="0" bIns="0" rtlCol="0" anchor="t">
            <a:normAutofit/>
          </a:bodyPr>
          <a:lstStyle/>
          <a:p>
            <a:pPr marL="0" indent="0" algn="l">
              <a:lnSpc>
                <a:spcPts val="1420"/>
              </a:lnSpc>
              <a:buNone/>
            </a:pPr>
            <a:r>
              <a:rPr lang="en-US" sz="1050" dirty="0">
                <a:solidFill>
                  <a:srgbClr val="454B54"/>
                </a:solidFill>
                <a:latin typeface="Arial" panose="020B0604020202020204" pitchFamily="34" charset="0"/>
                <a:ea typeface="Inter" pitchFamily="34" charset="-122"/>
                <a:cs typeface="Arial" panose="020B0604020202020204" pitchFamily="34" charset="0"/>
              </a:rPr>
              <a:t>Demszky et al. (2020), ACL — GoEmotions</a:t>
            </a: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6" name="Text 24"/>
          <p:cNvSpPr/>
          <p:nvPr/>
        </p:nvSpPr>
        <p:spPr>
          <a:xfrm>
            <a:off x="997479" y="4796458"/>
            <a:ext cx="5120666" cy="205427"/>
          </a:xfrm>
          <a:prstGeom prst="rect">
            <a:avLst/>
          </a:prstGeom>
          <a:noFill/>
        </p:spPr>
        <p:txBody>
          <a:bodyPr wrap="square" lIns="0" tIns="0" rIns="0" bIns="0" rtlCol="0" anchor="t">
            <a:normAutofit/>
          </a:bodyPr>
          <a:lstStyle/>
          <a:p>
            <a:pPr marL="0" indent="0" algn="l">
              <a:lnSpc>
                <a:spcPts val="1420"/>
              </a:lnSpc>
              <a:buNone/>
            </a:pPr>
            <a:r>
              <a:rPr lang="en-US" sz="1050" dirty="0">
                <a:solidFill>
                  <a:srgbClr val="454B54"/>
                </a:solidFill>
                <a:latin typeface="Arial" panose="020B0604020202020204" pitchFamily="34" charset="0"/>
                <a:ea typeface="Inter" pitchFamily="34" charset="-122"/>
                <a:cs typeface="Arial" panose="020B0604020202020204" pitchFamily="34" charset="0"/>
              </a:rPr>
              <a:t>Nguyen et al. (2023), EMNLP — ViSoBERT</a:t>
            </a: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7" name="Text 25"/>
          <p:cNvSpPr/>
          <p:nvPr/>
        </p:nvSpPr>
        <p:spPr>
          <a:xfrm>
            <a:off x="6223000" y="4360335"/>
            <a:ext cx="5120666" cy="205427"/>
          </a:xfrm>
          <a:prstGeom prst="rect">
            <a:avLst/>
          </a:prstGeom>
          <a:noFill/>
        </p:spPr>
        <p:txBody>
          <a:bodyPr wrap="square" lIns="0" tIns="0" rIns="0" bIns="0" rtlCol="0" anchor="t">
            <a:normAutofit/>
          </a:bodyPr>
          <a:lstStyle/>
          <a:p>
            <a:pPr marL="0" indent="0" algn="l">
              <a:lnSpc>
                <a:spcPts val="1420"/>
              </a:lnSpc>
              <a:buNone/>
            </a:pPr>
            <a:r>
              <a:rPr lang="en-US" sz="1050" dirty="0">
                <a:solidFill>
                  <a:srgbClr val="454B54"/>
                </a:solidFill>
                <a:latin typeface="Arial" panose="020B0604020202020204" pitchFamily="34" charset="0"/>
                <a:ea typeface="Inter" pitchFamily="34" charset="-122"/>
                <a:cs typeface="Arial" panose="020B0604020202020204" pitchFamily="34" charset="0"/>
              </a:rPr>
              <a:t>Nguyen &amp; Tuan (2020), EMNLP — PhoBERT</a:t>
            </a: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8" name="Text 26"/>
          <p:cNvSpPr/>
          <p:nvPr/>
        </p:nvSpPr>
        <p:spPr>
          <a:xfrm>
            <a:off x="6223000" y="4578393"/>
            <a:ext cx="5120666" cy="205427"/>
          </a:xfrm>
          <a:prstGeom prst="rect">
            <a:avLst/>
          </a:prstGeom>
          <a:noFill/>
        </p:spPr>
        <p:txBody>
          <a:bodyPr wrap="square" lIns="0" tIns="0" rIns="0" bIns="0" rtlCol="0" anchor="t">
            <a:normAutofit/>
          </a:bodyPr>
          <a:lstStyle/>
          <a:p>
            <a:pPr marL="0" indent="0" algn="l">
              <a:lnSpc>
                <a:spcPts val="1420"/>
              </a:lnSpc>
              <a:buNone/>
            </a:pPr>
            <a:r>
              <a:rPr lang="en-US" sz="1050" dirty="0">
                <a:solidFill>
                  <a:srgbClr val="454B54"/>
                </a:solidFill>
                <a:latin typeface="Arial" panose="020B0604020202020204" pitchFamily="34" charset="0"/>
                <a:ea typeface="Inter" pitchFamily="34" charset="-122"/>
                <a:cs typeface="Arial" panose="020B0604020202020204" pitchFamily="34" charset="0"/>
              </a:rPr>
              <a:t>Ramakrishnan &amp; Babu (2025) — BERT+ASL</a:t>
            </a: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29" name="Text 27"/>
          <p:cNvSpPr/>
          <p:nvPr/>
        </p:nvSpPr>
        <p:spPr>
          <a:xfrm>
            <a:off x="6223000" y="4796458"/>
            <a:ext cx="5120666" cy="205427"/>
          </a:xfrm>
          <a:prstGeom prst="rect">
            <a:avLst/>
          </a:prstGeom>
          <a:noFill/>
        </p:spPr>
        <p:txBody>
          <a:bodyPr wrap="square" lIns="0" tIns="0" rIns="0" bIns="0" rtlCol="0" anchor="t">
            <a:normAutofit/>
          </a:bodyPr>
          <a:lstStyle/>
          <a:p>
            <a:pPr marL="0" indent="0" algn="l">
              <a:lnSpc>
                <a:spcPts val="1420"/>
              </a:lnSpc>
              <a:buNone/>
            </a:pPr>
            <a:endParaRPr lang="en-US" sz="105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30" name="Text 28"/>
          <p:cNvSpPr/>
          <p:nvPr/>
        </p:nvSpPr>
        <p:spPr>
          <a:xfrm>
            <a:off x="812712" y="6238435"/>
            <a:ext cx="1853596"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Nhóm 8 · DAP391m FA26</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
        <p:nvSpPr>
          <p:cNvPr id="31" name="Text 29"/>
          <p:cNvSpPr/>
          <p:nvPr/>
        </p:nvSpPr>
        <p:spPr>
          <a:xfrm>
            <a:off x="10921779" y="6238435"/>
            <a:ext cx="508088" cy="23861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454B54"/>
                </a:solidFill>
                <a:latin typeface="Arial" panose="020B0604020202020204" pitchFamily="34" charset="0"/>
                <a:ea typeface="Inter" pitchFamily="34" charset="-122"/>
                <a:cs typeface="Arial" panose="020B0604020202020204" pitchFamily="34" charset="0"/>
              </a:rPr>
              <a:t>13 / 14</a:t>
            </a:r>
            <a:endParaRPr lang="en-US" sz="1200" dirty="0">
              <a:solidFill>
                <a:srgbClr val="454B54"/>
              </a:solidFill>
              <a:latin typeface="Arial" panose="020B0604020202020204" pitchFamily="34" charset="0"/>
              <a:ea typeface="Inter" pitchFamily="34" charset="-122"/>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B22"/>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1"/>
          <a:srcRect/>
          <a:stretch>
            <a:fillRect/>
          </a:stretch>
        </p:blipFill>
        <p:spPr>
          <a:xfrm>
            <a:off x="7746999" y="2413000"/>
            <a:ext cx="4445000" cy="4445000"/>
          </a:xfrm>
          <a:prstGeom prst="rect">
            <a:avLst/>
          </a:prstGeom>
        </p:spPr>
      </p:pic>
      <p:sp>
        <p:nvSpPr>
          <p:cNvPr id="3" name="Text 0"/>
          <p:cNvSpPr/>
          <p:nvPr/>
        </p:nvSpPr>
        <p:spPr>
          <a:xfrm>
            <a:off x="4512468" y="2548930"/>
            <a:ext cx="3261961" cy="256580"/>
          </a:xfrm>
          <a:prstGeom prst="rect">
            <a:avLst/>
          </a:prstGeom>
          <a:noFill/>
        </p:spPr>
        <p:txBody>
          <a:bodyPr wrap="square" lIns="0" tIns="0" rIns="0" bIns="0" rtlCol="0" anchor="t">
            <a:normAutofit/>
          </a:bodyPr>
          <a:lstStyle/>
          <a:p>
            <a:pPr marL="0" indent="0" algn="l">
              <a:lnSpc>
                <a:spcPts val="1820"/>
              </a:lnSpc>
              <a:buNone/>
            </a:pPr>
            <a:r>
              <a:rPr lang="en-US" sz="1300" b="1" dirty="0">
                <a:solidFill>
                  <a:srgbClr val="7FD6C9"/>
                </a:solidFill>
                <a:latin typeface="Arial" panose="020B0604020202020204" pitchFamily="34" charset="0"/>
                <a:ea typeface="Inter" pitchFamily="34" charset="-122"/>
                <a:cs typeface="Arial" panose="020B0604020202020204" pitchFamily="34" charset="0"/>
              </a:rPr>
              <a:t>DAP391M · FA26 · LITERATURE SURVEY</a:t>
            </a:r>
            <a:endParaRPr lang="en-US" sz="1300" b="1" dirty="0">
              <a:solidFill>
                <a:srgbClr val="7FD6C9"/>
              </a:solidFill>
              <a:latin typeface="Arial" panose="020B0604020202020204" pitchFamily="34" charset="0"/>
              <a:ea typeface="Inter" pitchFamily="34" charset="-122"/>
              <a:cs typeface="Arial" panose="020B0604020202020204" pitchFamily="34" charset="0"/>
            </a:endParaRPr>
          </a:p>
        </p:txBody>
      </p:sp>
      <p:sp>
        <p:nvSpPr>
          <p:cNvPr id="4" name="Text 1"/>
          <p:cNvSpPr/>
          <p:nvPr/>
        </p:nvSpPr>
        <p:spPr>
          <a:xfrm>
            <a:off x="5057775" y="2957830"/>
            <a:ext cx="3261360" cy="914400"/>
          </a:xfrm>
          <a:prstGeom prst="rect">
            <a:avLst/>
          </a:prstGeom>
          <a:noFill/>
        </p:spPr>
        <p:txBody>
          <a:bodyPr wrap="square" lIns="0" tIns="0" rIns="0" bIns="0" rtlCol="0" anchor="t">
            <a:normAutofit fontScale="80000"/>
          </a:bodyPr>
          <a:lstStyle/>
          <a:p>
            <a:pPr marL="0" indent="0" algn="l">
              <a:lnSpc>
                <a:spcPts val="7000"/>
              </a:lnSpc>
              <a:buNone/>
            </a:pPr>
            <a:r>
              <a:rPr lang="en-US" sz="7000" b="1" dirty="0">
                <a:solidFill>
                  <a:srgbClr val="F2F0EA"/>
                </a:solidFill>
                <a:latin typeface="Arial" panose="020B0604020202020204" pitchFamily="34" charset="0"/>
                <a:ea typeface="Source Serif 4" pitchFamily="34" charset="-122"/>
                <a:cs typeface="Arial" panose="020B0604020202020204" pitchFamily="34" charset="0"/>
              </a:rPr>
              <a:t>Q &amp; A</a:t>
            </a:r>
            <a:endParaRPr lang="en-US" sz="7000" b="1" dirty="0">
              <a:solidFill>
                <a:srgbClr val="F2F0EA"/>
              </a:solidFill>
              <a:latin typeface="Arial" panose="020B0604020202020204" pitchFamily="34" charset="0"/>
              <a:ea typeface="Source Serif 4" pitchFamily="34" charset="-122"/>
              <a:cs typeface="Arial" panose="020B0604020202020204" pitchFamily="34" charset="0"/>
            </a:endParaRPr>
          </a:p>
        </p:txBody>
      </p:sp>
      <p:sp>
        <p:nvSpPr>
          <p:cNvPr id="5" name="Text 2"/>
          <p:cNvSpPr/>
          <p:nvPr/>
        </p:nvSpPr>
        <p:spPr>
          <a:xfrm>
            <a:off x="3547110" y="4078605"/>
            <a:ext cx="5192395" cy="309880"/>
          </a:xfrm>
          <a:prstGeom prst="rect">
            <a:avLst/>
          </a:prstGeom>
          <a:noFill/>
        </p:spPr>
        <p:txBody>
          <a:bodyPr wrap="square" lIns="0" tIns="0" rIns="0" bIns="0" rtlCol="0" anchor="t">
            <a:normAutofit/>
          </a:bodyPr>
          <a:lstStyle/>
          <a:p>
            <a:pPr marL="0" indent="0" algn="ctr">
              <a:lnSpc>
                <a:spcPts val="2240"/>
              </a:lnSpc>
              <a:buNone/>
            </a:pPr>
            <a:r>
              <a:rPr lang="en-US" sz="1600" i="1" dirty="0">
                <a:solidFill>
                  <a:srgbClr val="CDD3D8"/>
                </a:solidFill>
                <a:latin typeface="Arial" panose="020B0604020202020204" pitchFamily="34" charset="0"/>
                <a:ea typeface="Source Serif 4" pitchFamily="34" charset="-122"/>
                <a:cs typeface="Arial" panose="020B0604020202020204" pitchFamily="34" charset="0"/>
              </a:rPr>
              <a:t>Thank you for listening - Nhóm 8: </a:t>
            </a:r>
            <a:endParaRPr lang="en-US" sz="1600" i="1" dirty="0">
              <a:solidFill>
                <a:srgbClr val="CDD3D8"/>
              </a:solidFill>
              <a:latin typeface="Arial" panose="020B0604020202020204" pitchFamily="34" charset="0"/>
              <a:ea typeface="Source Serif 4" pitchFamily="34" charset="-122"/>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11455</Words>
  <Application>WPS Presentation</Application>
  <PresentationFormat>On-screen Show (16:9)</PresentationFormat>
  <Paragraphs>502</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Inter</vt:lpstr>
      <vt:lpstr>Source Serif 4</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Survey and Project Feasibility Assessment — ViGoEmotions</dc:title>
  <dc:creator>PptxGenJS</dc:creator>
  <dc:subject>PptxGenJS Presentation</dc:subject>
  <cp:lastModifiedBy>Gia Phuc (Gia Phuc)</cp:lastModifiedBy>
  <cp:revision>17</cp:revision>
  <dcterms:created xsi:type="dcterms:W3CDTF">2026-09-24T07:57:00Z</dcterms:created>
  <dcterms:modified xsi:type="dcterms:W3CDTF">2026-09-28T11:00:36Z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13823539807E4EEFA8F90432DC9F1CF3_12</vt:lpwstr>
  </property>
  <property fmtid="{D5CDD505-2E9C-101B-9397-08002B2CF9AE}" pid="3" name="KSOProductBuildVer">
    <vt:lpwstr>1033-12.1.0.28485</vt:lpwstr>
  </property>
</Properties>
</file>